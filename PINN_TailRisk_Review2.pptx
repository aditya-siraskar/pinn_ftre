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charts/chart1.xml" ContentType="application/vnd.openxmlformats-officedocument.drawingml.chart+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1fd34517-2cc9-07fb-6890-c2b40e359413}">
          <p14:sldIdLst>
            <p14:sldId id="256"/>
          </p14:sldIdLst>
        </p14:section>
        <p14:section name="Problem" id="{af2100c5-e933-e165-aa52-12111348a5aa}">
          <p14:sldIdLst>
            <p14:sldId id="257"/>
            <p14:sldId id="258"/>
          </p14:sldIdLst>
        </p14:section>
        <p14:section name="Model" id="{24eadd68-bdb5-ad78-32a6-1a25548597c7}">
          <p14:sldIdLst>
            <p14:sldId id="259"/>
          </p14:sldIdLst>
        </p14:section>
        <p14:section name="Research" id="{5531a851-3943-0bfc-6843-fde1472c3284}">
          <p14:sldIdLst>
            <p14:sldId id="260"/>
            <p14:sldId id="261"/>
          </p14:sldIdLst>
        </p14:section>
        <p14:section name="Methodology" id="{74897683-2f92-b060-8d83-c8c2d070b249}">
          <p14:sldIdLst>
            <p14:sldId id="262"/>
            <p14:sldId id="263"/>
            <p14:sldId id="264"/>
            <p14:sldId id="265"/>
          </p14:sldIdLst>
        </p14:section>
        <p14:section name="Plan" id="{fce547d5-ca04-01e2-dcf6-b4f12f5e2eff}">
          <p14:sldIdLst>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areaChart>
        <c:varyColors val="0"/>
        <c:ser>
          <c:idx val="0"/>
          <c:order val="0"/>
          <c:tx>
            <c:strRef>
              <c:f>Sheet1!$B$1</c:f>
              <c:strCache>
                <c:ptCount val="1"/>
                <c:pt idx="0">
                  <c:v>Tail beyond VaR</c:v>
                </c:pt>
              </c:strCache>
            </c:strRef>
          </c:tx>
          <c:spPr>
            <a:solidFill>
              <a:srgbClr val="F0904F">
                <a:alpha val="85000"/>
              </a:srgbClr>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Sheet1!$A$2:$A$82</c:f>
              <c:multiLvlStrCache>
                <c:ptCount val="81"/>
                <c:lvl>
                  <c:pt idx="0">
                    <c:v>-6.00</c:v>
                  </c:pt>
                  <c:pt idx="1">
                    <c:v>-5.88</c:v>
                  </c:pt>
                  <c:pt idx="2">
                    <c:v>-5.75</c:v>
                  </c:pt>
                  <c:pt idx="3">
                    <c:v>-5.63</c:v>
                  </c:pt>
                  <c:pt idx="4">
                    <c:v>-5.50</c:v>
                  </c:pt>
                  <c:pt idx="5">
                    <c:v>-5.38</c:v>
                  </c:pt>
                  <c:pt idx="6">
                    <c:v>-5.25</c:v>
                  </c:pt>
                  <c:pt idx="7">
                    <c:v>-5.13</c:v>
                  </c:pt>
                  <c:pt idx="8">
                    <c:v>-5.00</c:v>
                  </c:pt>
                  <c:pt idx="9">
                    <c:v>-4.88</c:v>
                  </c:pt>
                  <c:pt idx="10">
                    <c:v>-4.75</c:v>
                  </c:pt>
                  <c:pt idx="11">
                    <c:v>-4.63</c:v>
                  </c:pt>
                  <c:pt idx="12">
                    <c:v>-4.50</c:v>
                  </c:pt>
                  <c:pt idx="13">
                    <c:v>-4.38</c:v>
                  </c:pt>
                  <c:pt idx="14">
                    <c:v>-4.25</c:v>
                  </c:pt>
                  <c:pt idx="15">
                    <c:v>-4.13</c:v>
                  </c:pt>
                  <c:pt idx="16">
                    <c:v>-4.00</c:v>
                  </c:pt>
                  <c:pt idx="17">
                    <c:v>-3.88</c:v>
                  </c:pt>
                  <c:pt idx="18">
                    <c:v>-3.75</c:v>
                  </c:pt>
                  <c:pt idx="19">
                    <c:v>-3.63</c:v>
                  </c:pt>
                  <c:pt idx="20">
                    <c:v>-3.50</c:v>
                  </c:pt>
                  <c:pt idx="21">
                    <c:v>-3.38</c:v>
                  </c:pt>
                  <c:pt idx="22">
                    <c:v>-3.25</c:v>
                  </c:pt>
                  <c:pt idx="23">
                    <c:v>-3.13</c:v>
                  </c:pt>
                  <c:pt idx="24">
                    <c:v>-3.00</c:v>
                  </c:pt>
                  <c:pt idx="25">
                    <c:v>-2.88</c:v>
                  </c:pt>
                  <c:pt idx="26">
                    <c:v>-2.75</c:v>
                  </c:pt>
                  <c:pt idx="27">
                    <c:v>-2.63</c:v>
                  </c:pt>
                  <c:pt idx="28">
                    <c:v>-2.50</c:v>
                  </c:pt>
                  <c:pt idx="29">
                    <c:v>-2.38</c:v>
                  </c:pt>
                  <c:pt idx="30">
                    <c:v>-2.25</c:v>
                  </c:pt>
                  <c:pt idx="31">
                    <c:v>-2.13</c:v>
                  </c:pt>
                  <c:pt idx="32">
                    <c:v>-2.00</c:v>
                  </c:pt>
                  <c:pt idx="33">
                    <c:v>-1.88</c:v>
                  </c:pt>
                  <c:pt idx="34">
                    <c:v>-1.75</c:v>
                  </c:pt>
                  <c:pt idx="35">
                    <c:v>-1.63</c:v>
                  </c:pt>
                  <c:pt idx="36">
                    <c:v>-1.50</c:v>
                  </c:pt>
                  <c:pt idx="37">
                    <c:v>-1.38</c:v>
                  </c:pt>
                  <c:pt idx="38">
                    <c:v>-1.25</c:v>
                  </c:pt>
                  <c:pt idx="39">
                    <c:v>-1.13</c:v>
                  </c:pt>
                  <c:pt idx="40">
                    <c:v>-1.00</c:v>
                  </c:pt>
                  <c:pt idx="41">
                    <c:v>-0.88</c:v>
                  </c:pt>
                  <c:pt idx="42">
                    <c:v>-0.75</c:v>
                  </c:pt>
                  <c:pt idx="43">
                    <c:v>-0.63</c:v>
                  </c:pt>
                  <c:pt idx="44">
                    <c:v>-0.50</c:v>
                  </c:pt>
                  <c:pt idx="45">
                    <c:v>-0.38</c:v>
                  </c:pt>
                  <c:pt idx="46">
                    <c:v>-0.25</c:v>
                  </c:pt>
                  <c:pt idx="47">
                    <c:v>-0.13</c:v>
                  </c:pt>
                  <c:pt idx="48">
                    <c:v>0.00</c:v>
                  </c:pt>
                  <c:pt idx="49">
                    <c:v>0.13</c:v>
                  </c:pt>
                  <c:pt idx="50">
                    <c:v>0.25</c:v>
                  </c:pt>
                  <c:pt idx="51">
                    <c:v>0.38</c:v>
                  </c:pt>
                  <c:pt idx="52">
                    <c:v>0.50</c:v>
                  </c:pt>
                  <c:pt idx="53">
                    <c:v>0.63</c:v>
                  </c:pt>
                  <c:pt idx="54">
                    <c:v>0.75</c:v>
                  </c:pt>
                  <c:pt idx="55">
                    <c:v>0.88</c:v>
                  </c:pt>
                  <c:pt idx="56">
                    <c:v>1.00</c:v>
                  </c:pt>
                  <c:pt idx="57">
                    <c:v>1.13</c:v>
                  </c:pt>
                  <c:pt idx="58">
                    <c:v>1.25</c:v>
                  </c:pt>
                  <c:pt idx="59">
                    <c:v>1.38</c:v>
                  </c:pt>
                  <c:pt idx="60">
                    <c:v>1.50</c:v>
                  </c:pt>
                  <c:pt idx="61">
                    <c:v>1.63</c:v>
                  </c:pt>
                  <c:pt idx="62">
                    <c:v>1.75</c:v>
                  </c:pt>
                  <c:pt idx="63">
                    <c:v>1.88</c:v>
                  </c:pt>
                  <c:pt idx="64">
                    <c:v>2.00</c:v>
                  </c:pt>
                  <c:pt idx="65">
                    <c:v>2.13</c:v>
                  </c:pt>
                  <c:pt idx="66">
                    <c:v>2.25</c:v>
                  </c:pt>
                  <c:pt idx="67">
                    <c:v>2.38</c:v>
                  </c:pt>
                  <c:pt idx="68">
                    <c:v>2.50</c:v>
                  </c:pt>
                  <c:pt idx="69">
                    <c:v>2.63</c:v>
                  </c:pt>
                  <c:pt idx="70">
                    <c:v>2.75</c:v>
                  </c:pt>
                  <c:pt idx="71">
                    <c:v>2.88</c:v>
                  </c:pt>
                  <c:pt idx="72">
                    <c:v>3.00</c:v>
                  </c:pt>
                  <c:pt idx="73">
                    <c:v>3.13</c:v>
                  </c:pt>
                  <c:pt idx="74">
                    <c:v>3.25</c:v>
                  </c:pt>
                  <c:pt idx="75">
                    <c:v>3.38</c:v>
                  </c:pt>
                  <c:pt idx="76">
                    <c:v>3.50</c:v>
                  </c:pt>
                  <c:pt idx="77">
                    <c:v>3.63</c:v>
                  </c:pt>
                  <c:pt idx="78">
                    <c:v>3.75</c:v>
                  </c:pt>
                  <c:pt idx="79">
                    <c:v>3.88</c:v>
                  </c:pt>
                  <c:pt idx="80">
                    <c:v>4.00</c:v>
                  </c:pt>
                </c:lvl>
              </c:multiLvlStrCache>
            </c:multiLvlStrRef>
          </c:cat>
          <c:val>
            <c:numRef>
              <c:f>Sheet1!$B$2:$B$82</c:f>
              <c:numCache>
                <c:formatCode>General</c:formatCode>
                <c:ptCount val="81"/>
                <c:pt idx="0">
                  <c:v>0.0027</c:v>
                </c:pt>
                <c:pt idx="1">
                  <c:v>0.0031</c:v>
                </c:pt>
                <c:pt idx="2">
                  <c:v>0.0034</c:v>
                </c:pt>
                <c:pt idx="3">
                  <c:v>0.0039</c:v>
                </c:pt>
                <c:pt idx="4">
                  <c:v>0.0043</c:v>
                </c:pt>
                <c:pt idx="5">
                  <c:v>0.0048</c:v>
                </c:pt>
                <c:pt idx="6">
                  <c:v>0.0053</c:v>
                </c:pt>
                <c:pt idx="7">
                  <c:v>0.0059</c:v>
                </c:pt>
                <c:pt idx="8">
                  <c:v>0.0065</c:v>
                </c:pt>
                <c:pt idx="9">
                  <c:v>0.0071</c:v>
                </c:pt>
                <c:pt idx="10">
                  <c:v>0.0078</c:v>
                </c:pt>
                <c:pt idx="11">
                  <c:v>0.0084</c:v>
                </c:pt>
                <c:pt idx="12">
                  <c:v>0.0091</c:v>
                </c:pt>
                <c:pt idx="13">
                  <c:v>0.0099</c:v>
                </c:pt>
                <c:pt idx="14">
                  <c:v>0.0106</c:v>
                </c:pt>
                <c:pt idx="15">
                  <c:v>0.0114</c:v>
                </c:pt>
                <c:pt idx="16">
                  <c:v>0.0122</c:v>
                </c:pt>
                <c:pt idx="17">
                  <c:v>0.013</c:v>
                </c:pt>
                <c:pt idx="18">
                  <c:v>0.0138</c:v>
                </c:pt>
                <c:pt idx="19">
                  <c:v>0.0147</c:v>
                </c:pt>
                <c:pt idx="20">
                  <c:v>0.0156</c:v>
                </c:pt>
                <c:pt idx="21">
                  <c:v>0.0166</c:v>
                </c:pt>
                <c:pt idx="22">
                  <c:v>0.0177</c:v>
                </c:pt>
                <c:pt idx="23">
                  <c:v>0.019</c:v>
                </c:pt>
                <c:pt idx="24">
                  <c:v>0.0205</c:v>
                </c:pt>
                <c:pt idx="25">
                  <c:v>0.0224</c:v>
                </c:pt>
                <c:pt idx="26">
                  <c:v>0.0248</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numCache>
            </c:numRef>
          </c:val>
        </c:ser>
        <c:ser>
          <c:idx val="1"/>
          <c:order val="1"/>
          <c:tx>
            <c:strRef>
              <c:f>Sheet1!$C$1</c:f>
              <c:strCache>
                <c:ptCount val="1"/>
                <c:pt idx="0">
                  <c:v>Loss density</c:v>
                </c:pt>
              </c:strCache>
            </c:strRef>
          </c:tx>
          <c:spPr>
            <a:solidFill>
              <a:srgbClr val="5B7AAE">
                <a:alpha val="85000"/>
              </a:srgbClr>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Sheet1!$A$2:$A$82</c:f>
              <c:multiLvlStrCache>
                <c:ptCount val="81"/>
                <c:lvl>
                  <c:pt idx="0">
                    <c:v>-6.00</c:v>
                  </c:pt>
                  <c:pt idx="1">
                    <c:v>-5.88</c:v>
                  </c:pt>
                  <c:pt idx="2">
                    <c:v>-5.75</c:v>
                  </c:pt>
                  <c:pt idx="3">
                    <c:v>-5.63</c:v>
                  </c:pt>
                  <c:pt idx="4">
                    <c:v>-5.50</c:v>
                  </c:pt>
                  <c:pt idx="5">
                    <c:v>-5.38</c:v>
                  </c:pt>
                  <c:pt idx="6">
                    <c:v>-5.25</c:v>
                  </c:pt>
                  <c:pt idx="7">
                    <c:v>-5.13</c:v>
                  </c:pt>
                  <c:pt idx="8">
                    <c:v>-5.00</c:v>
                  </c:pt>
                  <c:pt idx="9">
                    <c:v>-4.88</c:v>
                  </c:pt>
                  <c:pt idx="10">
                    <c:v>-4.75</c:v>
                  </c:pt>
                  <c:pt idx="11">
                    <c:v>-4.63</c:v>
                  </c:pt>
                  <c:pt idx="12">
                    <c:v>-4.50</c:v>
                  </c:pt>
                  <c:pt idx="13">
                    <c:v>-4.38</c:v>
                  </c:pt>
                  <c:pt idx="14">
                    <c:v>-4.25</c:v>
                  </c:pt>
                  <c:pt idx="15">
                    <c:v>-4.13</c:v>
                  </c:pt>
                  <c:pt idx="16">
                    <c:v>-4.00</c:v>
                  </c:pt>
                  <c:pt idx="17">
                    <c:v>-3.88</c:v>
                  </c:pt>
                  <c:pt idx="18">
                    <c:v>-3.75</c:v>
                  </c:pt>
                  <c:pt idx="19">
                    <c:v>-3.63</c:v>
                  </c:pt>
                  <c:pt idx="20">
                    <c:v>-3.50</c:v>
                  </c:pt>
                  <c:pt idx="21">
                    <c:v>-3.38</c:v>
                  </c:pt>
                  <c:pt idx="22">
                    <c:v>-3.25</c:v>
                  </c:pt>
                  <c:pt idx="23">
                    <c:v>-3.13</c:v>
                  </c:pt>
                  <c:pt idx="24">
                    <c:v>-3.00</c:v>
                  </c:pt>
                  <c:pt idx="25">
                    <c:v>-2.88</c:v>
                  </c:pt>
                  <c:pt idx="26">
                    <c:v>-2.75</c:v>
                  </c:pt>
                  <c:pt idx="27">
                    <c:v>-2.63</c:v>
                  </c:pt>
                  <c:pt idx="28">
                    <c:v>-2.50</c:v>
                  </c:pt>
                  <c:pt idx="29">
                    <c:v>-2.38</c:v>
                  </c:pt>
                  <c:pt idx="30">
                    <c:v>-2.25</c:v>
                  </c:pt>
                  <c:pt idx="31">
                    <c:v>-2.13</c:v>
                  </c:pt>
                  <c:pt idx="32">
                    <c:v>-2.00</c:v>
                  </c:pt>
                  <c:pt idx="33">
                    <c:v>-1.88</c:v>
                  </c:pt>
                  <c:pt idx="34">
                    <c:v>-1.75</c:v>
                  </c:pt>
                  <c:pt idx="35">
                    <c:v>-1.63</c:v>
                  </c:pt>
                  <c:pt idx="36">
                    <c:v>-1.50</c:v>
                  </c:pt>
                  <c:pt idx="37">
                    <c:v>-1.38</c:v>
                  </c:pt>
                  <c:pt idx="38">
                    <c:v>-1.25</c:v>
                  </c:pt>
                  <c:pt idx="39">
                    <c:v>-1.13</c:v>
                  </c:pt>
                  <c:pt idx="40">
                    <c:v>-1.00</c:v>
                  </c:pt>
                  <c:pt idx="41">
                    <c:v>-0.88</c:v>
                  </c:pt>
                  <c:pt idx="42">
                    <c:v>-0.75</c:v>
                  </c:pt>
                  <c:pt idx="43">
                    <c:v>-0.63</c:v>
                  </c:pt>
                  <c:pt idx="44">
                    <c:v>-0.50</c:v>
                  </c:pt>
                  <c:pt idx="45">
                    <c:v>-0.38</c:v>
                  </c:pt>
                  <c:pt idx="46">
                    <c:v>-0.25</c:v>
                  </c:pt>
                  <c:pt idx="47">
                    <c:v>-0.13</c:v>
                  </c:pt>
                  <c:pt idx="48">
                    <c:v>0.00</c:v>
                  </c:pt>
                  <c:pt idx="49">
                    <c:v>0.13</c:v>
                  </c:pt>
                  <c:pt idx="50">
                    <c:v>0.25</c:v>
                  </c:pt>
                  <c:pt idx="51">
                    <c:v>0.38</c:v>
                  </c:pt>
                  <c:pt idx="52">
                    <c:v>0.50</c:v>
                  </c:pt>
                  <c:pt idx="53">
                    <c:v>0.63</c:v>
                  </c:pt>
                  <c:pt idx="54">
                    <c:v>0.75</c:v>
                  </c:pt>
                  <c:pt idx="55">
                    <c:v>0.88</c:v>
                  </c:pt>
                  <c:pt idx="56">
                    <c:v>1.00</c:v>
                  </c:pt>
                  <c:pt idx="57">
                    <c:v>1.13</c:v>
                  </c:pt>
                  <c:pt idx="58">
                    <c:v>1.25</c:v>
                  </c:pt>
                  <c:pt idx="59">
                    <c:v>1.38</c:v>
                  </c:pt>
                  <c:pt idx="60">
                    <c:v>1.50</c:v>
                  </c:pt>
                  <c:pt idx="61">
                    <c:v>1.63</c:v>
                  </c:pt>
                  <c:pt idx="62">
                    <c:v>1.75</c:v>
                  </c:pt>
                  <c:pt idx="63">
                    <c:v>1.88</c:v>
                  </c:pt>
                  <c:pt idx="64">
                    <c:v>2.00</c:v>
                  </c:pt>
                  <c:pt idx="65">
                    <c:v>2.13</c:v>
                  </c:pt>
                  <c:pt idx="66">
                    <c:v>2.25</c:v>
                  </c:pt>
                  <c:pt idx="67">
                    <c:v>2.38</c:v>
                  </c:pt>
                  <c:pt idx="68">
                    <c:v>2.50</c:v>
                  </c:pt>
                  <c:pt idx="69">
                    <c:v>2.63</c:v>
                  </c:pt>
                  <c:pt idx="70">
                    <c:v>2.75</c:v>
                  </c:pt>
                  <c:pt idx="71">
                    <c:v>2.88</c:v>
                  </c:pt>
                  <c:pt idx="72">
                    <c:v>3.00</c:v>
                  </c:pt>
                  <c:pt idx="73">
                    <c:v>3.13</c:v>
                  </c:pt>
                  <c:pt idx="74">
                    <c:v>3.25</c:v>
                  </c:pt>
                  <c:pt idx="75">
                    <c:v>3.38</c:v>
                  </c:pt>
                  <c:pt idx="76">
                    <c:v>3.50</c:v>
                  </c:pt>
                  <c:pt idx="77">
                    <c:v>3.63</c:v>
                  </c:pt>
                  <c:pt idx="78">
                    <c:v>3.75</c:v>
                  </c:pt>
                  <c:pt idx="79">
                    <c:v>3.88</c:v>
                  </c:pt>
                  <c:pt idx="80">
                    <c:v>4.00</c:v>
                  </c:pt>
                </c:lvl>
              </c:multiLvlStrCache>
            </c:multiLvlStrRef>
          </c:cat>
          <c:val>
            <c:numRef>
              <c:f>Sheet1!$C$2:$C$82</c:f>
              <c:numCache>
                <c:formatCode>General</c:formatCode>
                <c:ptCount val="81"/>
                <c:pt idx="0">
                  <c:v>0.0027</c:v>
                </c:pt>
                <c:pt idx="1">
                  <c:v>0.0031</c:v>
                </c:pt>
                <c:pt idx="2">
                  <c:v>0.0034</c:v>
                </c:pt>
                <c:pt idx="3">
                  <c:v>0.0039</c:v>
                </c:pt>
                <c:pt idx="4">
                  <c:v>0.0043</c:v>
                </c:pt>
                <c:pt idx="5">
                  <c:v>0.0048</c:v>
                </c:pt>
                <c:pt idx="6">
                  <c:v>0.0053</c:v>
                </c:pt>
                <c:pt idx="7">
                  <c:v>0.0059</c:v>
                </c:pt>
                <c:pt idx="8">
                  <c:v>0.0065</c:v>
                </c:pt>
                <c:pt idx="9">
                  <c:v>0.0071</c:v>
                </c:pt>
                <c:pt idx="10">
                  <c:v>0.0078</c:v>
                </c:pt>
                <c:pt idx="11">
                  <c:v>0.0084</c:v>
                </c:pt>
                <c:pt idx="12">
                  <c:v>0.0091</c:v>
                </c:pt>
                <c:pt idx="13">
                  <c:v>0.0099</c:v>
                </c:pt>
                <c:pt idx="14">
                  <c:v>0.0106</c:v>
                </c:pt>
                <c:pt idx="15">
                  <c:v>0.0114</c:v>
                </c:pt>
                <c:pt idx="16">
                  <c:v>0.0122</c:v>
                </c:pt>
                <c:pt idx="17">
                  <c:v>0.013</c:v>
                </c:pt>
                <c:pt idx="18">
                  <c:v>0.0138</c:v>
                </c:pt>
                <c:pt idx="19">
                  <c:v>0.0147</c:v>
                </c:pt>
                <c:pt idx="20">
                  <c:v>0.0156</c:v>
                </c:pt>
                <c:pt idx="21">
                  <c:v>0.0166</c:v>
                </c:pt>
                <c:pt idx="22">
                  <c:v>0.0177</c:v>
                </c:pt>
                <c:pt idx="23">
                  <c:v>0.019</c:v>
                </c:pt>
                <c:pt idx="24">
                  <c:v>0.0205</c:v>
                </c:pt>
                <c:pt idx="25">
                  <c:v>0.0224</c:v>
                </c:pt>
                <c:pt idx="26">
                  <c:v>0.0248</c:v>
                </c:pt>
                <c:pt idx="27">
                  <c:v>0.0278</c:v>
                </c:pt>
                <c:pt idx="28">
                  <c:v>0.0316</c:v>
                </c:pt>
                <c:pt idx="29">
                  <c:v>0.0364</c:v>
                </c:pt>
                <c:pt idx="30">
                  <c:v>0.0425</c:v>
                </c:pt>
                <c:pt idx="31">
                  <c:v>0.0501</c:v>
                </c:pt>
                <c:pt idx="32">
                  <c:v>0.0595</c:v>
                </c:pt>
                <c:pt idx="33">
                  <c:v>0.071</c:v>
                </c:pt>
                <c:pt idx="34">
                  <c:v>0.0847</c:v>
                </c:pt>
                <c:pt idx="35">
                  <c:v>0.1007</c:v>
                </c:pt>
                <c:pt idx="36">
                  <c:v>0.1192</c:v>
                </c:pt>
                <c:pt idx="37">
                  <c:v>0.14</c:v>
                </c:pt>
                <c:pt idx="38">
                  <c:v>0.1629</c:v>
                </c:pt>
                <c:pt idx="39">
                  <c:v>0.1877</c:v>
                </c:pt>
                <c:pt idx="40">
                  <c:v>0.2137</c:v>
                </c:pt>
                <c:pt idx="41">
                  <c:v>0.2402</c:v>
                </c:pt>
                <c:pt idx="42">
                  <c:v>0.2666</c:v>
                </c:pt>
                <c:pt idx="43">
                  <c:v>0.2918</c:v>
                </c:pt>
                <c:pt idx="44">
                  <c:v>0.315</c:v>
                </c:pt>
                <c:pt idx="45">
                  <c:v>0.3351</c:v>
                </c:pt>
                <c:pt idx="46">
                  <c:v>0.3513</c:v>
                </c:pt>
                <c:pt idx="47">
                  <c:v>0.3629</c:v>
                </c:pt>
                <c:pt idx="48">
                  <c:v>0.3694</c:v>
                </c:pt>
                <c:pt idx="49">
                  <c:v>0.3703</c:v>
                </c:pt>
                <c:pt idx="50">
                  <c:v>0.3656</c:v>
                </c:pt>
                <c:pt idx="51">
                  <c:v>0.3556</c:v>
                </c:pt>
                <c:pt idx="52">
                  <c:v>0.3406</c:v>
                </c:pt>
                <c:pt idx="53">
                  <c:v>0.3213</c:v>
                </c:pt>
                <c:pt idx="54">
                  <c:v>0.2984</c:v>
                </c:pt>
                <c:pt idx="55">
                  <c:v>0.273</c:v>
                </c:pt>
                <c:pt idx="56">
                  <c:v>0.246</c:v>
                </c:pt>
                <c:pt idx="57">
                  <c:v>0.2182</c:v>
                </c:pt>
                <c:pt idx="58">
                  <c:v>0.1907</c:v>
                </c:pt>
                <c:pt idx="59">
                  <c:v>0.1641</c:v>
                </c:pt>
                <c:pt idx="60">
                  <c:v>0.1391</c:v>
                </c:pt>
                <c:pt idx="61">
                  <c:v>0.1161</c:v>
                </c:pt>
                <c:pt idx="62">
                  <c:v>0.0955</c:v>
                </c:pt>
                <c:pt idx="63">
                  <c:v>0.0774</c:v>
                </c:pt>
                <c:pt idx="64">
                  <c:v>0.0618</c:v>
                </c:pt>
                <c:pt idx="65">
                  <c:v>0.0486</c:v>
                </c:pt>
                <c:pt idx="66">
                  <c:v>0.0377</c:v>
                </c:pt>
                <c:pt idx="67">
                  <c:v>0.0288</c:v>
                </c:pt>
                <c:pt idx="68">
                  <c:v>0.0217</c:v>
                </c:pt>
                <c:pt idx="69">
                  <c:v>0.0162</c:v>
                </c:pt>
                <c:pt idx="70">
                  <c:v>0.0119</c:v>
                </c:pt>
                <c:pt idx="71">
                  <c:v>0.0087</c:v>
                </c:pt>
                <c:pt idx="72">
                  <c:v>0.0062</c:v>
                </c:pt>
                <c:pt idx="73">
                  <c:v>0.0044</c:v>
                </c:pt>
                <c:pt idx="74">
                  <c:v>0.0032</c:v>
                </c:pt>
                <c:pt idx="75">
                  <c:v>0.0022</c:v>
                </c:pt>
                <c:pt idx="76">
                  <c:v>0.0016</c:v>
                </c:pt>
                <c:pt idx="77">
                  <c:v>0.0011</c:v>
                </c:pt>
                <c:pt idx="78">
                  <c:v>0.0008</c:v>
                </c:pt>
                <c:pt idx="79">
                  <c:v>0.0006</c:v>
                </c:pt>
                <c:pt idx="80">
                  <c:v>0.0004</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axId val="2094734554"/>
        <c:axId val="2094734552"/>
        <c:axId val="2094734556"/>
      </c:area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and the topic in one line: we want to test whether physics-informed neural networks can estimate the extreme tail of a portfolio's loss distribution well enough to give better Value at Risk and Expected Shortfall numbers than standard methods, and at what computational cost. The chart shows the idea: a fat-tailed distribution, the VaR cut-off, and the shaded tail whose average is 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stylised facts of financial returns: heavy tails, volatility clustering and jumps. The Gaussian assumption fails on all three. The key point for the whole project is the last line: overall density accuracy and tail accuracy are two different things, and our evaluation treats them separately.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VaR answers 'how bad can it get at the 1% level'; ES answers 'if we are in that 1%, how bad on average'. The ₹30,000 figure is only an illustration, not a result. The link to the project: once we have the full density, both measures follow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of jumps, the governing equation is not a plain Fokker–Planck PDE but a partial integro-differential equation (PIDE): the last term is a convolution with the jump-size distribution. That nonlocal term is what makes this harder for a PINN than standard PDEs. The Merton closed form gives an exact benchmark, which is why we start here before moving to stochastic volatility.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simply applying a PINN to a financial equation is not novel any more. Option pricing with PINNs, including jump-diffusion, has been done, and density PINNs are being studied. Our contribution is the systematic, honest comparison focused on the tail. The review is still in progress, so the exact gap will be tightened.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aim is not to prove PINNs are better, but to find out whether and when they are. A negative result — for example, that GARCH-t or historical simulation remains preferable — is still a valid finding if the experiment is rigorous. RQ4 matters because for a single one-dimensional problem a classical solver will almost certainly be faster; the PINN's case rests on amortising training across many scenarios.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pipeline has two separate validations. The numerical one asks: does the PINN solve the equation correctly? The financial one asks: are the resulting risk forecasts actually useful? A PINN could pass the first and fail the second — that would be an important finding in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plain PINN minimises an average residual, which is dominated by the centre of the distribution where the density is large. At the 99% tail the density is tiny, so errors there barely show in the loss — yet they decide VaR and ES. These design choices target that problem. Each will be tested in ablations rather than assumed to help.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Synthetic data checks the implementation under known assumptions; real data checks usefulness. Neither implies the other. We have added the S&amp;P 500 alongside NIFTY 50 so conclusions are not specific to one emerging market. Strict chronological evaluation avoids look-ahead bias.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core models first, two more if time permits. Kupiec tests whether the number of VaR breaches matches the expected 1%; Christoffersen tests whether breaches cluster. ES cannot be backtested on its own in the usual way, so a joint VaR–ES scoring function is used. Cost metrics answer RQ4.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order is deliberate: verify the equation and a reliable numerical solution before touching neural-network architecture. Otherwise, if the PINN gives wrong risk numbers, we could not tell whether the error comes from the mathematics, the code or the training. Planned tools: Python, PyTorch, SciPy for the reference solver, and the arch package for GARCH baselines.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restating the objective: not to prove PINNs are better, but to determine whether they are better for a clearly defined risk problem, and why. Positive and negative outcomes are both useful if the design is rigorous. Ask the mentor for feedback on scope (two markets plus synthetic data) and on the choice of benchmarks.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1091672" cy="292608"/>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676656"/>
            <a:ext cx="11091672" cy="64008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4" name="Text 0"/>
          <p:cNvSpPr/>
          <p:nvPr/>
        </p:nvSpPr>
        <p:spPr>
          <a:xfrm>
            <a:off x="548640" y="6382512"/>
            <a:ext cx="8229600" cy="274320"/>
          </a:xfrm>
          <a:prstGeom prst="rect">
            <a:avLst/>
          </a:prstGeom>
          <a:noFill/>
          <a:ln/>
        </p:spPr>
        <p:txBody>
          <a:bodyPr wrap="square" lIns="0" tIns="0" rIns="0" bIns="0" rtlCol="0" anchor="ctr"/>
          <a:lstStyle/>
          <a:p>
            <a:pPr indent="0" marL="0">
              <a:buNone/>
            </a:pPr>
            <a:r>
              <a:rPr lang="en-US" sz="1000" dirty="0">
                <a:solidFill>
                  <a:schemeClr val="accent6"/>
                </a:solidFill>
              </a:rPr>
              <a:t>PINNs for Financial Tail-Risk Estimation  ·  Technical Seminar-II, Review 2</a:t>
            </a:r>
            <a:endParaRPr lang="en-US" sz="1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DARK">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1091672" cy="292608"/>
          </a:xfrm>
          <a:prstGeom prst="rect">
            <a:avLst/>
          </a:prstGeom>
          <a:noFill/>
          <a:ln/>
        </p:spPr>
        <p:txBody>
          <a:bodyPr wrap="square" rtlCol="0"/>
          <a:lstStyle>
            <a:lvl1pPr indent="0" marL="0">
              <a:buNone/>
              <a:defRPr lang="en-US" sz="1200" b="1" spc="200" kern="0" dirty="0">
                <a:solidFill>
                  <a:schemeClr val="accent4"/>
                </a:solidFill>
              </a:defRPr>
            </a:lvl1pPr>
          </a:lstStyle>
          <a:p>
            <a:pPr indent="0" marL="0">
              <a:buNone/>
            </a:pPr>
            <a:endParaRPr lang="en-US" sz="1200" dirty="0"/>
          </a:p>
        </p:txBody>
      </p:sp>
      <p:sp>
        <p:nvSpPr>
          <p:cNvPr id="3" name="Text 0"/>
          <p:cNvSpPr/>
          <p:nvPr>
            <p:ph idx="101" type="title" hasCustomPrompt="1"/>
          </p:nvPr>
        </p:nvSpPr>
        <p:spPr>
          <a:xfrm>
            <a:off x="548640" y="676656"/>
            <a:ext cx="11091672" cy="640080"/>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4" name="Text 0"/>
          <p:cNvSpPr/>
          <p:nvPr/>
        </p:nvSpPr>
        <p:spPr>
          <a:xfrm>
            <a:off x="548640" y="6382512"/>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PINNs for Financial Tail-Risk Estimation  ·  Technical Seminar-II, Review 2</a:t>
            </a:r>
            <a:endParaRPr lang="en-US" sz="1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8FA0C0"/>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143000"/>
            <a:ext cx="6675120" cy="210312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endParaRPr lang="en-US" sz="3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1"/>
          <p:cNvSpPr txBox="1"/>
          <p:nvPr/>
        </p:nvSpPr>
        <p:spPr>
          <a:xfrm>
            <a:off x="548640" y="685800"/>
            <a:ext cx="6400800" cy="320040"/>
          </a:xfrm>
          <a:prstGeom prst="rect">
            <a:avLst/>
          </a:prstGeom>
          <a:noFill/>
          <a:ln/>
        </p:spPr>
        <p:txBody>
          <a:bodyPr wrap="square" lIns="0" tIns="0" rIns="0" bIns="0" rtlCol="0" anchor="t"/>
          <a:lstStyle/>
          <a:p>
            <a:pPr indent="0" marL="0">
              <a:buNone/>
            </a:pPr>
            <a:r>
              <a:rPr lang="en-US" sz="1300" b="1" spc="200" kern="0" dirty="0">
                <a:solidFill>
                  <a:schemeClr val="accent4"/>
                </a:solidFill>
              </a:rPr>
              <a:t>TECHNICAL SEMINAR-II  ·  REVIEW 2</a:t>
            </a:r>
            <a:endParaRPr lang="en-US" sz="1300" dirty="0"/>
          </a:p>
        </p:txBody>
      </p:sp>
      <p:sp>
        <p:nvSpPr>
          <p:cNvPr id="3" name="Text 0"/>
          <p:cNvSpPr/>
          <p:nvPr>
            <p:ph idx="100" type="title" hasCustomPrompt="1"/>
          </p:nvPr>
        </p:nvSpPr>
        <p:spPr>
          <a:xfrm>
            <a:off x="548640" y="1143000"/>
            <a:ext cx="6675120" cy="2103120"/>
          </a:xfrm>
          <a:prstGeom prst="rect">
            <a:avLst/>
          </a:prstGeom>
          <a:noFill/>
          <a:ln/>
        </p:spPr>
        <p:txBody>
          <a:bodyPr wrap="square" lIns="0" tIns="0" rIns="0" bIns="0" rtlCol="0" anchor="t"/>
          <a:lstStyle/>
          <a:p>
            <a:pPr algn="l" indent="0" marL="0">
              <a:buNone/>
            </a:pPr>
            <a:r>
              <a:rPr lang="en-US" sz="3800" b="1" dirty="0">
                <a:solidFill>
                  <a:schemeClr val="bg1"/>
                </a:solidFill>
              </a:rPr>
              <a:t>Physics-Informed Neural Networks for Financial Tail-Risk Estimation</a:t>
            </a:r>
            <a:endParaRPr lang="en-US" sz="3800" dirty="0"/>
          </a:p>
        </p:txBody>
      </p:sp>
      <p:sp>
        <p:nvSpPr>
          <p:cNvPr id="4" name="text-2"/>
          <p:cNvSpPr txBox="1"/>
          <p:nvPr/>
        </p:nvSpPr>
        <p:spPr>
          <a:xfrm>
            <a:off x="548640" y="3337560"/>
            <a:ext cx="6675120" cy="731520"/>
          </a:xfrm>
          <a:prstGeom prst="rect">
            <a:avLst/>
          </a:prstGeom>
          <a:noFill/>
          <a:ln/>
        </p:spPr>
        <p:txBody>
          <a:bodyPr wrap="square" lIns="0" tIns="0" rIns="0" bIns="0" rtlCol="0" anchor="t"/>
          <a:lstStyle/>
          <a:p>
            <a:pPr indent="0" marL="0">
              <a:buNone/>
            </a:pPr>
            <a:r>
              <a:rPr lang="en-US" sz="1800" dirty="0">
                <a:solidFill>
                  <a:schemeClr val="accent5"/>
                </a:solidFill>
              </a:rPr>
              <a:t>A comparative study of Value at Risk and Expected Shortfall under jump-diffusion dynamics</a:t>
            </a:r>
            <a:endParaRPr lang="en-US" sz="1800" dirty="0"/>
          </a:p>
        </p:txBody>
      </p:sp>
      <p:graphicFrame>
        <p:nvGraphicFramePr>
          <p:cNvPr id="5" name="density-chart" descr="Illustrative fat-tailed return density with the worst 1% tail shaded"/>
          <p:cNvGraphicFramePr/>
          <p:nvPr/>
        </p:nvGraphicFramePr>
        <p:xfrm>
          <a:off x="7589520" y="1005840"/>
          <a:ext cx="4206240" cy="2651760"/>
        </p:xfrm>
        <a:graphic xmlns:a="http://schemas.openxmlformats.org/drawingml/2006/main">
          <a:graphicData uri="http://schemas.openxmlformats.org/drawingml/2006/chart">
            <c:chart xmlns:c="http://schemas.openxmlformats.org/drawingml/2006/chart" r:id="rId1"/>
          </a:graphicData>
        </a:graphic>
      </p:graphicFrame>
      <p:sp>
        <p:nvSpPr>
          <p:cNvPr id="6" name="text-3"/>
          <p:cNvSpPr txBox="1"/>
          <p:nvPr/>
        </p:nvSpPr>
        <p:spPr>
          <a:xfrm>
            <a:off x="7589520" y="3703320"/>
            <a:ext cx="4206240" cy="457200"/>
          </a:xfrm>
          <a:prstGeom prst="rect">
            <a:avLst/>
          </a:prstGeom>
          <a:noFill/>
          <a:ln/>
        </p:spPr>
        <p:txBody>
          <a:bodyPr wrap="square" lIns="0" tIns="0" rIns="0" bIns="0" rtlCol="0" anchor="t"/>
          <a:lstStyle/>
          <a:p>
            <a:pPr indent="0" marL="0">
              <a:buNone/>
            </a:pPr>
            <a:r>
              <a:rPr lang="en-US" sz="1100" i="1" dirty="0">
                <a:solidFill>
                  <a:schemeClr val="accent5"/>
                </a:solidFill>
              </a:rPr>
              <a:t>Illustrative density · shaded = tail beyond 99% VaR; ES is its average</a:t>
            </a:r>
            <a:endParaRPr lang="en-US" sz="1100" dirty="0"/>
          </a:p>
        </p:txBody>
      </p:sp>
      <p:sp>
        <p:nvSpPr>
          <p:cNvPr id="7" name="divider"/>
          <p:cNvSpPr/>
          <p:nvPr/>
        </p:nvSpPr>
        <p:spPr>
          <a:xfrm>
            <a:off x="548640" y="4572000"/>
            <a:ext cx="11091672" cy="0"/>
          </a:xfrm>
          <a:prstGeom prst="line">
            <a:avLst/>
          </a:prstGeom>
          <a:noFill/>
          <a:ln w="12700">
            <a:solidFill>
              <a:srgbClr val="34446A"/>
            </a:solidFill>
            <a:prstDash val="solid"/>
          </a:ln>
        </p:spPr>
      </p:sp>
      <p:sp>
        <p:nvSpPr>
          <p:cNvPr id="8" name="text-4"/>
          <p:cNvSpPr txBox="1"/>
          <p:nvPr/>
        </p:nvSpPr>
        <p:spPr>
          <a:xfrm>
            <a:off x="548640" y="4754880"/>
            <a:ext cx="3566160" cy="274320"/>
          </a:xfrm>
          <a:prstGeom prst="rect">
            <a:avLst/>
          </a:prstGeom>
          <a:noFill/>
          <a:ln/>
        </p:spPr>
        <p:txBody>
          <a:bodyPr wrap="square" lIns="0" tIns="0" rIns="0" bIns="0" rtlCol="0" anchor="t"/>
          <a:lstStyle/>
          <a:p>
            <a:pPr indent="0" marL="0">
              <a:buNone/>
            </a:pPr>
            <a:r>
              <a:rPr lang="en-US" sz="1200" dirty="0">
                <a:solidFill>
                  <a:srgbClr val="8FA0C0"/>
                </a:solidFill>
              </a:rPr>
              <a:t>Presented by</a:t>
            </a:r>
            <a:endParaRPr lang="en-US" sz="1200" dirty="0"/>
          </a:p>
        </p:txBody>
      </p:sp>
      <p:sp>
        <p:nvSpPr>
          <p:cNvPr id="9" name="text-5"/>
          <p:cNvSpPr txBox="1"/>
          <p:nvPr/>
        </p:nvSpPr>
        <p:spPr>
          <a:xfrm>
            <a:off x="548640" y="5047488"/>
            <a:ext cx="3566160" cy="1005840"/>
          </a:xfrm>
          <a:prstGeom prst="rect">
            <a:avLst/>
          </a:prstGeom>
          <a:noFill/>
          <a:ln/>
        </p:spPr>
        <p:txBody>
          <a:bodyPr wrap="square" lIns="0" tIns="0" rIns="0" bIns="0" rtlCol="0" anchor="t"/>
          <a:lstStyle/>
          <a:p>
            <a:pPr indent="0" marL="0">
              <a:buNone/>
            </a:pPr>
            <a:r>
              <a:rPr lang="en-US" sz="1500" b="1" dirty="0">
                <a:solidFill>
                  <a:schemeClr val="bg1"/>
                </a:solidFill>
              </a:rPr>
              <a:t>Aditya Siraskar (D004)</a:t>
            </a:r>
            <a:endParaRPr lang="en-US" sz="1500" dirty="0"/>
          </a:p>
          <a:p>
            <a:pPr indent="0" marL="0">
              <a:buNone/>
            </a:pPr>
            <a:r>
              <a:rPr lang="en-US" sz="1500" b="1" dirty="0">
                <a:solidFill>
                  <a:schemeClr val="bg1"/>
                </a:solidFill>
              </a:rPr>
              <a:t>Utkarsh Sinha (D019)</a:t>
            </a:r>
            <a:endParaRPr lang="en-US" sz="1500" dirty="0"/>
          </a:p>
          <a:p>
            <a:pPr indent="0" marL="0">
              <a:buNone/>
            </a:pPr>
            <a:r>
              <a:rPr lang="en-US" sz="1500" b="1" dirty="0">
                <a:solidFill>
                  <a:schemeClr val="bg1"/>
                </a:solidFill>
              </a:rPr>
              <a:t>Aditya Sharma (D005)</a:t>
            </a:r>
            <a:endParaRPr lang="en-US" sz="1500" dirty="0"/>
          </a:p>
        </p:txBody>
      </p:sp>
      <p:sp>
        <p:nvSpPr>
          <p:cNvPr id="10" name="text-6"/>
          <p:cNvSpPr txBox="1"/>
          <p:nvPr/>
        </p:nvSpPr>
        <p:spPr>
          <a:xfrm>
            <a:off x="4343400" y="4754880"/>
            <a:ext cx="3566160" cy="274320"/>
          </a:xfrm>
          <a:prstGeom prst="rect">
            <a:avLst/>
          </a:prstGeom>
          <a:noFill/>
          <a:ln/>
        </p:spPr>
        <p:txBody>
          <a:bodyPr wrap="square" lIns="0" tIns="0" rIns="0" bIns="0" rtlCol="0" anchor="t"/>
          <a:lstStyle/>
          <a:p>
            <a:pPr indent="0" marL="0">
              <a:buNone/>
            </a:pPr>
            <a:r>
              <a:rPr lang="en-US" sz="1200" dirty="0">
                <a:solidFill>
                  <a:srgbClr val="8FA0C0"/>
                </a:solidFill>
              </a:rPr>
              <a:t>Mentor</a:t>
            </a:r>
            <a:endParaRPr lang="en-US" sz="1200" dirty="0"/>
          </a:p>
        </p:txBody>
      </p:sp>
      <p:sp>
        <p:nvSpPr>
          <p:cNvPr id="11" name="text-7"/>
          <p:cNvSpPr txBox="1"/>
          <p:nvPr/>
        </p:nvSpPr>
        <p:spPr>
          <a:xfrm>
            <a:off x="4343400" y="5047488"/>
            <a:ext cx="3566160" cy="1005840"/>
          </a:xfrm>
          <a:prstGeom prst="rect">
            <a:avLst/>
          </a:prstGeom>
          <a:noFill/>
          <a:ln/>
        </p:spPr>
        <p:txBody>
          <a:bodyPr wrap="square" lIns="0" tIns="0" rIns="0" bIns="0" rtlCol="0" anchor="t"/>
          <a:lstStyle/>
          <a:p>
            <a:pPr indent="0" marL="0">
              <a:buNone/>
            </a:pPr>
            <a:r>
              <a:rPr lang="en-US" sz="1500" b="1" dirty="0">
                <a:solidFill>
                  <a:schemeClr val="bg1"/>
                </a:solidFill>
              </a:rPr>
              <a:t>Dr. Jaykrishna Joshi</a:t>
            </a:r>
            <a:endParaRPr lang="en-US" sz="1500" dirty="0"/>
          </a:p>
        </p:txBody>
      </p:sp>
      <p:sp>
        <p:nvSpPr>
          <p:cNvPr id="12" name="text-8"/>
          <p:cNvSpPr txBox="1"/>
          <p:nvPr/>
        </p:nvSpPr>
        <p:spPr>
          <a:xfrm>
            <a:off x="8138160" y="4754880"/>
            <a:ext cx="3566160" cy="274320"/>
          </a:xfrm>
          <a:prstGeom prst="rect">
            <a:avLst/>
          </a:prstGeom>
          <a:noFill/>
          <a:ln/>
        </p:spPr>
        <p:txBody>
          <a:bodyPr wrap="square" lIns="0" tIns="0" rIns="0" bIns="0" rtlCol="0" anchor="t"/>
          <a:lstStyle/>
          <a:p>
            <a:pPr indent="0" marL="0">
              <a:buNone/>
            </a:pPr>
            <a:r>
              <a:rPr lang="en-US" sz="1200" dirty="0">
                <a:solidFill>
                  <a:srgbClr val="8FA0C0"/>
                </a:solidFill>
              </a:rPr>
              <a:t>Programme</a:t>
            </a:r>
            <a:endParaRPr lang="en-US" sz="1200" dirty="0"/>
          </a:p>
        </p:txBody>
      </p:sp>
      <p:sp>
        <p:nvSpPr>
          <p:cNvPr id="13" name="text-9"/>
          <p:cNvSpPr txBox="1"/>
          <p:nvPr/>
        </p:nvSpPr>
        <p:spPr>
          <a:xfrm>
            <a:off x="8138160" y="5047488"/>
            <a:ext cx="3566160" cy="1005840"/>
          </a:xfrm>
          <a:prstGeom prst="rect">
            <a:avLst/>
          </a:prstGeom>
          <a:noFill/>
          <a:ln/>
        </p:spPr>
        <p:txBody>
          <a:bodyPr wrap="square" lIns="0" tIns="0" rIns="0" bIns="0" rtlCol="0" anchor="t"/>
          <a:lstStyle/>
          <a:p>
            <a:pPr indent="0" marL="0">
              <a:buNone/>
            </a:pPr>
            <a:r>
              <a:rPr lang="en-US" sz="1500" b="1" dirty="0">
                <a:solidFill>
                  <a:schemeClr val="bg1"/>
                </a:solidFill>
              </a:rPr>
              <a:t>M.Tech Data Science, Semester III</a:t>
            </a:r>
            <a:endParaRPr lang="en-US" sz="1500" dirty="0"/>
          </a:p>
          <a:p>
            <a:pPr indent="0" marL="0">
              <a:buNone/>
            </a:pPr>
            <a:r>
              <a:rPr lang="en-US" sz="1500" b="1" dirty="0">
                <a:solidFill>
                  <a:schemeClr val="bg1"/>
                </a:solidFill>
              </a:rPr>
              <a:t>NMIMS MPSTME · AY 2026-27</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1091672"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01 · MOTIVATION</a:t>
            </a:r>
            <a:endParaRPr lang="en-US" sz="1200" dirty="0"/>
          </a:p>
        </p:txBody>
      </p:sp>
      <p:sp>
        <p:nvSpPr>
          <p:cNvPr id="3" name="Text 0"/>
          <p:cNvSpPr/>
          <p:nvPr>
            <p:ph idx="101" type="title" hasCustomPrompt="1"/>
          </p:nvPr>
        </p:nvSpPr>
        <p:spPr>
          <a:xfrm>
            <a:off x="548640" y="676656"/>
            <a:ext cx="11091672" cy="640080"/>
          </a:xfrm>
          <a:prstGeom prst="rect">
            <a:avLst/>
          </a:prstGeom>
          <a:noFill/>
          <a:ln/>
        </p:spPr>
        <p:txBody>
          <a:bodyPr wrap="square" lIns="0" tIns="0" rIns="0" bIns="0" rtlCol="0" anchor="t"/>
          <a:lstStyle/>
          <a:p>
            <a:pPr algn="l" indent="0" marL="0">
              <a:buNone/>
            </a:pPr>
            <a:r>
              <a:rPr lang="en-US" sz="3000" b="1" dirty="0">
                <a:solidFill>
                  <a:schemeClr val="tx1"/>
                </a:solidFill>
              </a:rPr>
              <a:t>Risk managers care most about rare, large losses</a:t>
            </a:r>
            <a:endParaRPr lang="en-US" sz="3000" dirty="0"/>
          </a:p>
        </p:txBody>
      </p:sp>
      <p:sp>
        <p:nvSpPr>
          <p:cNvPr id="4" name="card-10"/>
          <p:cNvSpPr/>
          <p:nvPr/>
        </p:nvSpPr>
        <p:spPr>
          <a:xfrm>
            <a:off x="548640" y="1691640"/>
            <a:ext cx="3511296" cy="2240280"/>
          </a:xfrm>
          <a:prstGeom prst="roundRect">
            <a:avLst>
              <a:gd name="adj" fmla="val 4898"/>
            </a:avLst>
          </a:prstGeom>
          <a:solidFill>
            <a:schemeClr val="bg2"/>
          </a:solidFill>
          <a:ln/>
        </p:spPr>
      </p:sp>
      <p:sp>
        <p:nvSpPr>
          <p:cNvPr id="5" name="dot-11"/>
          <p:cNvSpPr txBox="1"/>
          <p:nvPr/>
        </p:nvSpPr>
        <p:spPr>
          <a:xfrm>
            <a:off x="822960" y="1938528"/>
            <a:ext cx="420624" cy="420624"/>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text-12"/>
          <p:cNvSpPr txBox="1"/>
          <p:nvPr/>
        </p:nvSpPr>
        <p:spPr>
          <a:xfrm>
            <a:off x="822960" y="2560320"/>
            <a:ext cx="2971800" cy="365760"/>
          </a:xfrm>
          <a:prstGeom prst="rect">
            <a:avLst/>
          </a:prstGeom>
          <a:noFill/>
          <a:ln/>
        </p:spPr>
        <p:txBody>
          <a:bodyPr wrap="square" lIns="0" tIns="0" rIns="0" bIns="0" rtlCol="0" anchor="t"/>
          <a:lstStyle/>
          <a:p>
            <a:pPr indent="0" marL="0">
              <a:buNone/>
            </a:pPr>
            <a:r>
              <a:rPr lang="en-US" sz="1800" b="1" dirty="0">
                <a:solidFill>
                  <a:schemeClr val="tx1"/>
                </a:solidFill>
              </a:rPr>
              <a:t>Fat tails</a:t>
            </a:r>
            <a:endParaRPr lang="en-US" sz="1800" dirty="0"/>
          </a:p>
        </p:txBody>
      </p:sp>
      <p:sp>
        <p:nvSpPr>
          <p:cNvPr id="7" name="text-13"/>
          <p:cNvSpPr txBox="1"/>
          <p:nvPr/>
        </p:nvSpPr>
        <p:spPr>
          <a:xfrm>
            <a:off x="822960" y="2971800"/>
            <a:ext cx="2971800" cy="868680"/>
          </a:xfrm>
          <a:prstGeom prst="rect">
            <a:avLst/>
          </a:prstGeom>
          <a:noFill/>
          <a:ln/>
        </p:spPr>
        <p:txBody>
          <a:bodyPr wrap="square" lIns="0" tIns="0" rIns="0" bIns="0" rtlCol="0" anchor="t"/>
          <a:lstStyle/>
          <a:p>
            <a:pPr indent="0" marL="0">
              <a:buNone/>
            </a:pPr>
            <a:r>
              <a:rPr lang="en-US" sz="1500" dirty="0">
                <a:solidFill>
                  <a:schemeClr val="tx2"/>
                </a:solidFill>
              </a:rPr>
              <a:t>Extreme daily moves happen far more often than a normal distribution predicts.</a:t>
            </a:r>
            <a:endParaRPr lang="en-US" sz="1500" dirty="0"/>
          </a:p>
        </p:txBody>
      </p:sp>
      <p:sp>
        <p:nvSpPr>
          <p:cNvPr id="8" name="card-14"/>
          <p:cNvSpPr/>
          <p:nvPr/>
        </p:nvSpPr>
        <p:spPr>
          <a:xfrm>
            <a:off x="4338828" y="1691640"/>
            <a:ext cx="3511296" cy="2240280"/>
          </a:xfrm>
          <a:prstGeom prst="roundRect">
            <a:avLst>
              <a:gd name="adj" fmla="val 4898"/>
            </a:avLst>
          </a:prstGeom>
          <a:solidFill>
            <a:schemeClr val="bg2"/>
          </a:solidFill>
          <a:ln/>
        </p:spPr>
      </p:sp>
      <p:sp>
        <p:nvSpPr>
          <p:cNvPr id="9" name="dot-15"/>
          <p:cNvSpPr txBox="1"/>
          <p:nvPr/>
        </p:nvSpPr>
        <p:spPr>
          <a:xfrm>
            <a:off x="4613148" y="1938528"/>
            <a:ext cx="420624" cy="420624"/>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0" name="text-16"/>
          <p:cNvSpPr txBox="1"/>
          <p:nvPr/>
        </p:nvSpPr>
        <p:spPr>
          <a:xfrm>
            <a:off x="4613148" y="2560320"/>
            <a:ext cx="2971800" cy="365760"/>
          </a:xfrm>
          <a:prstGeom prst="rect">
            <a:avLst/>
          </a:prstGeom>
          <a:noFill/>
          <a:ln/>
        </p:spPr>
        <p:txBody>
          <a:bodyPr wrap="square" lIns="0" tIns="0" rIns="0" bIns="0" rtlCol="0" anchor="t"/>
          <a:lstStyle/>
          <a:p>
            <a:pPr indent="0" marL="0">
              <a:buNone/>
            </a:pPr>
            <a:r>
              <a:rPr lang="en-US" sz="1800" b="1" dirty="0">
                <a:solidFill>
                  <a:schemeClr val="tx1"/>
                </a:solidFill>
              </a:rPr>
              <a:t>Volatility clusters</a:t>
            </a:r>
            <a:endParaRPr lang="en-US" sz="1800" dirty="0"/>
          </a:p>
        </p:txBody>
      </p:sp>
      <p:sp>
        <p:nvSpPr>
          <p:cNvPr id="11" name="text-17"/>
          <p:cNvSpPr txBox="1"/>
          <p:nvPr/>
        </p:nvSpPr>
        <p:spPr>
          <a:xfrm>
            <a:off x="4613148" y="2971800"/>
            <a:ext cx="2971800" cy="868680"/>
          </a:xfrm>
          <a:prstGeom prst="rect">
            <a:avLst/>
          </a:prstGeom>
          <a:noFill/>
          <a:ln/>
        </p:spPr>
        <p:txBody>
          <a:bodyPr wrap="square" lIns="0" tIns="0" rIns="0" bIns="0" rtlCol="0" anchor="t"/>
          <a:lstStyle/>
          <a:p>
            <a:pPr indent="0" marL="0">
              <a:buNone/>
            </a:pPr>
            <a:r>
              <a:rPr lang="en-US" sz="1500" dirty="0">
                <a:solidFill>
                  <a:schemeClr val="tx2"/>
                </a:solidFill>
              </a:rPr>
              <a:t>Calm and turbulent periods alternate, so risk is not constant over time.</a:t>
            </a:r>
            <a:endParaRPr lang="en-US" sz="1500" dirty="0"/>
          </a:p>
        </p:txBody>
      </p:sp>
      <p:sp>
        <p:nvSpPr>
          <p:cNvPr id="12" name="card-18"/>
          <p:cNvSpPr/>
          <p:nvPr/>
        </p:nvSpPr>
        <p:spPr>
          <a:xfrm>
            <a:off x="8129016" y="1691640"/>
            <a:ext cx="3511296" cy="2240280"/>
          </a:xfrm>
          <a:prstGeom prst="roundRect">
            <a:avLst>
              <a:gd name="adj" fmla="val 4898"/>
            </a:avLst>
          </a:prstGeom>
          <a:solidFill>
            <a:schemeClr val="bg2"/>
          </a:solidFill>
          <a:ln/>
        </p:spPr>
      </p:sp>
      <p:sp>
        <p:nvSpPr>
          <p:cNvPr id="13" name="dot-19"/>
          <p:cNvSpPr txBox="1"/>
          <p:nvPr/>
        </p:nvSpPr>
        <p:spPr>
          <a:xfrm>
            <a:off x="8403336" y="1938528"/>
            <a:ext cx="420624" cy="420624"/>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4" name="text-20"/>
          <p:cNvSpPr txBox="1"/>
          <p:nvPr/>
        </p:nvSpPr>
        <p:spPr>
          <a:xfrm>
            <a:off x="8403336" y="2560320"/>
            <a:ext cx="2971800" cy="365760"/>
          </a:xfrm>
          <a:prstGeom prst="rect">
            <a:avLst/>
          </a:prstGeom>
          <a:noFill/>
          <a:ln/>
        </p:spPr>
        <p:txBody>
          <a:bodyPr wrap="square" lIns="0" tIns="0" rIns="0" bIns="0" rtlCol="0" anchor="t"/>
          <a:lstStyle/>
          <a:p>
            <a:pPr indent="0" marL="0">
              <a:buNone/>
            </a:pPr>
            <a:r>
              <a:rPr lang="en-US" sz="1800" b="1" dirty="0">
                <a:solidFill>
                  <a:schemeClr val="tx1"/>
                </a:solidFill>
              </a:rPr>
              <a:t>Markets jump</a:t>
            </a:r>
            <a:endParaRPr lang="en-US" sz="1800" dirty="0"/>
          </a:p>
        </p:txBody>
      </p:sp>
      <p:sp>
        <p:nvSpPr>
          <p:cNvPr id="15" name="text-21"/>
          <p:cNvSpPr txBox="1"/>
          <p:nvPr/>
        </p:nvSpPr>
        <p:spPr>
          <a:xfrm>
            <a:off x="8403336" y="2971800"/>
            <a:ext cx="2971800" cy="868680"/>
          </a:xfrm>
          <a:prstGeom prst="rect">
            <a:avLst/>
          </a:prstGeom>
          <a:noFill/>
          <a:ln/>
        </p:spPr>
        <p:txBody>
          <a:bodyPr wrap="square" lIns="0" tIns="0" rIns="0" bIns="0" rtlCol="0" anchor="t"/>
          <a:lstStyle/>
          <a:p>
            <a:pPr indent="0" marL="0">
              <a:buNone/>
            </a:pPr>
            <a:r>
              <a:rPr lang="en-US" sz="1500" dirty="0">
                <a:solidFill>
                  <a:schemeClr val="tx2"/>
                </a:solidFill>
              </a:rPr>
              <a:t>Crashes such as March 2020 are sudden discontinuities, not smooth diffusion.</a:t>
            </a:r>
            <a:endParaRPr lang="en-US" sz="1500" dirty="0"/>
          </a:p>
        </p:txBody>
      </p:sp>
      <p:sp>
        <p:nvSpPr>
          <p:cNvPr id="16" name="card-22"/>
          <p:cNvSpPr/>
          <p:nvPr/>
        </p:nvSpPr>
        <p:spPr>
          <a:xfrm>
            <a:off x="548640" y="4251960"/>
            <a:ext cx="11091672" cy="1600200"/>
          </a:xfrm>
          <a:prstGeom prst="roundRect">
            <a:avLst>
              <a:gd name="adj" fmla="val 6857"/>
            </a:avLst>
          </a:prstGeom>
          <a:solidFill>
            <a:schemeClr val="tx1"/>
          </a:solidFill>
          <a:ln/>
        </p:spPr>
      </p:sp>
      <p:sp>
        <p:nvSpPr>
          <p:cNvPr id="17" name="text-23"/>
          <p:cNvSpPr txBox="1"/>
          <p:nvPr/>
        </p:nvSpPr>
        <p:spPr>
          <a:xfrm>
            <a:off x="914400" y="4251960"/>
            <a:ext cx="10360152" cy="1600200"/>
          </a:xfrm>
          <a:prstGeom prst="rect">
            <a:avLst/>
          </a:prstGeom>
          <a:noFill/>
          <a:ln/>
        </p:spPr>
        <p:txBody>
          <a:bodyPr wrap="square" lIns="0" tIns="0" rIns="0" bIns="0" rtlCol="0" anchor="ctr"/>
          <a:lstStyle/>
          <a:p>
            <a:pPr indent="0" marL="0">
              <a:buNone/>
            </a:pPr>
            <a:r>
              <a:rPr lang="en-US" sz="2100" i="1" dirty="0">
                <a:solidFill>
                  <a:schemeClr val="bg1"/>
                </a:solidFill>
                <a:latin typeface="+mj-lt" pitchFamily="34" charset="0"/>
                <a:ea typeface="+mj-lt" pitchFamily="34" charset="-122"/>
                <a:cs typeface="+mj-lt" pitchFamily="34" charset="-120"/>
              </a:rPr>
              <a:t>A model can fit the centre of the distribution well and still misjudge the worst 1% — and that tail is exactly what VaR and ES measure.</a:t>
            </a:r>
            <a:endParaRPr lang="en-US" sz="21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1091672"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02 · RISK MEASURES</a:t>
            </a:r>
            <a:endParaRPr lang="en-US" sz="1200" dirty="0"/>
          </a:p>
        </p:txBody>
      </p:sp>
      <p:sp>
        <p:nvSpPr>
          <p:cNvPr id="3" name="Text 0"/>
          <p:cNvSpPr/>
          <p:nvPr>
            <p:ph idx="101" type="title" hasCustomPrompt="1"/>
          </p:nvPr>
        </p:nvSpPr>
        <p:spPr>
          <a:xfrm>
            <a:off x="548640" y="676656"/>
            <a:ext cx="11091672" cy="640080"/>
          </a:xfrm>
          <a:prstGeom prst="rect">
            <a:avLst/>
          </a:prstGeom>
          <a:noFill/>
          <a:ln/>
        </p:spPr>
        <p:txBody>
          <a:bodyPr wrap="square" lIns="0" tIns="0" rIns="0" bIns="0" rtlCol="0" anchor="t"/>
          <a:lstStyle/>
          <a:p>
            <a:pPr algn="l" indent="0" marL="0">
              <a:buNone/>
            </a:pPr>
            <a:r>
              <a:rPr lang="en-US" sz="3000" b="1" dirty="0">
                <a:solidFill>
                  <a:schemeClr val="tx1"/>
                </a:solidFill>
              </a:rPr>
              <a:t>Value at Risk and Expected Shortfall</a:t>
            </a:r>
            <a:endParaRPr lang="en-US" sz="3000" dirty="0"/>
          </a:p>
        </p:txBody>
      </p:sp>
      <p:sp>
        <p:nvSpPr>
          <p:cNvPr id="4" name="card-24"/>
          <p:cNvSpPr/>
          <p:nvPr/>
        </p:nvSpPr>
        <p:spPr>
          <a:xfrm>
            <a:off x="548640" y="1691640"/>
            <a:ext cx="5394960" cy="3063240"/>
          </a:xfrm>
          <a:prstGeom prst="roundRect">
            <a:avLst>
              <a:gd name="adj" fmla="val 3582"/>
            </a:avLst>
          </a:prstGeom>
          <a:solidFill>
            <a:schemeClr val="bg2"/>
          </a:solidFill>
          <a:ln/>
        </p:spPr>
      </p:sp>
      <p:sp>
        <p:nvSpPr>
          <p:cNvPr id="5" name="tag-25"/>
          <p:cNvSpPr txBox="1"/>
          <p:nvPr/>
        </p:nvSpPr>
        <p:spPr>
          <a:xfrm>
            <a:off x="868680" y="1965960"/>
            <a:ext cx="685800" cy="365760"/>
          </a:xfrm>
          <a:prstGeom prst="roundRect">
            <a:avLst>
              <a:gd name="adj" fmla="val 25000"/>
            </a:avLst>
          </a:prstGeom>
          <a:solidFill>
            <a:schemeClr val="accent2"/>
          </a:solidFill>
          <a:ln/>
        </p:spPr>
        <p:txBody>
          <a:bodyPr wrap="square" lIns="0" tIns="0" rIns="0" bIns="0" rtlCol="0" anchor="ctr"/>
          <a:lstStyle/>
          <a:p>
            <a:pPr algn="ctr" indent="0" marL="0">
              <a:buNone/>
            </a:pPr>
            <a:r>
              <a:rPr lang="en-US" sz="1300" b="1" dirty="0">
                <a:solidFill>
                  <a:schemeClr val="bg1"/>
                </a:solidFill>
              </a:rPr>
              <a:t>VaR</a:t>
            </a:r>
            <a:endParaRPr lang="en-US" sz="1300" dirty="0"/>
          </a:p>
        </p:txBody>
      </p:sp>
      <p:sp>
        <p:nvSpPr>
          <p:cNvPr id="6" name="text-26"/>
          <p:cNvSpPr txBox="1"/>
          <p:nvPr/>
        </p:nvSpPr>
        <p:spPr>
          <a:xfrm>
            <a:off x="1691640" y="1965960"/>
            <a:ext cx="3931920" cy="365760"/>
          </a:xfrm>
          <a:prstGeom prst="rect">
            <a:avLst/>
          </a:prstGeom>
          <a:noFill/>
          <a:ln/>
        </p:spPr>
        <p:txBody>
          <a:bodyPr wrap="square" lIns="0" tIns="0" rIns="0" bIns="0" rtlCol="0" anchor="ctr"/>
          <a:lstStyle/>
          <a:p>
            <a:pPr indent="0" marL="0">
              <a:buNone/>
            </a:pPr>
            <a:r>
              <a:rPr lang="en-US" sz="2000" b="1" dirty="0">
                <a:solidFill>
                  <a:schemeClr val="tx1"/>
                </a:solidFill>
              </a:rPr>
              <a:t>Value at Risk</a:t>
            </a:r>
            <a:endParaRPr lang="en-US" sz="2000" dirty="0"/>
          </a:p>
        </p:txBody>
      </p:sp>
      <p:sp>
        <p:nvSpPr>
          <p:cNvPr id="7" name="text-27"/>
          <p:cNvSpPr txBox="1"/>
          <p:nvPr/>
        </p:nvSpPr>
        <p:spPr>
          <a:xfrm>
            <a:off x="868680" y="2606040"/>
            <a:ext cx="4754880" cy="457200"/>
          </a:xfrm>
          <a:prstGeom prst="rect">
            <a:avLst/>
          </a:prstGeom>
          <a:noFill/>
          <a:ln/>
        </p:spPr>
        <p:txBody>
          <a:bodyPr wrap="square" lIns="0" tIns="0" rIns="0" bIns="0" rtlCol="0" anchor="t"/>
          <a:lstStyle/>
          <a:p>
            <a:pPr indent="0" marL="0">
              <a:buNone/>
            </a:pPr>
            <a:r>
              <a:rPr lang="en-US" sz="2000" i="1" dirty="0">
                <a:solidFill>
                  <a:schemeClr val="tx1"/>
                </a:solidFill>
                <a:latin typeface="+mj-lt" pitchFamily="34" charset="0"/>
                <a:ea typeface="+mj-lt" pitchFamily="34" charset="-122"/>
                <a:cs typeface="+mj-lt" pitchFamily="34" charset="-120"/>
              </a:rPr>
              <a:t>VaRα = inf { ℓ : P(L &gt; ℓ) ≤ 1 − α }</a:t>
            </a:r>
            <a:endParaRPr lang="en-US" sz="2000" dirty="0"/>
          </a:p>
        </p:txBody>
      </p:sp>
      <p:sp>
        <p:nvSpPr>
          <p:cNvPr id="8" name="text-28"/>
          <p:cNvSpPr txBox="1"/>
          <p:nvPr/>
        </p:nvSpPr>
        <p:spPr>
          <a:xfrm>
            <a:off x="868680" y="3246120"/>
            <a:ext cx="4754880" cy="1920240"/>
          </a:xfrm>
          <a:prstGeom prst="rect">
            <a:avLst/>
          </a:prstGeom>
          <a:noFill/>
          <a:ln/>
        </p:spPr>
        <p:txBody>
          <a:bodyPr wrap="square" lIns="0" tIns="0" rIns="0" bIns="0" rtlCol="0" anchor="t"/>
          <a:lstStyle/>
          <a:p>
            <a:pPr indent="0" marL="0">
              <a:spcAft>
                <a:spcPts val="800"/>
              </a:spcAft>
              <a:buNone/>
            </a:pPr>
            <a:r>
              <a:rPr lang="en-US" sz="1500" dirty="0">
                <a:solidFill>
                  <a:schemeClr val="tx2"/>
                </a:solidFill>
              </a:rPr>
              <a:t>The loss threshold exceeded with probability 1 − α.</a:t>
            </a:r>
            <a:endParaRPr lang="en-US" sz="1500" dirty="0"/>
          </a:p>
          <a:p>
            <a:pPr indent="0" marL="0">
              <a:spcAft>
                <a:spcPts val="800"/>
              </a:spcAft>
              <a:buNone/>
            </a:pPr>
            <a:r>
              <a:rPr lang="en-US" sz="1500" dirty="0">
                <a:solidFill>
                  <a:schemeClr val="tx2"/>
                </a:solidFill>
              </a:rPr>
              <a:t>Example: a 99% one-day VaR of ₹30,000 on a ₹10 lakh portfolio means about a 1% chance of losing more in one day.</a:t>
            </a:r>
            <a:endParaRPr lang="en-US" sz="1500" dirty="0"/>
          </a:p>
        </p:txBody>
      </p:sp>
      <p:sp>
        <p:nvSpPr>
          <p:cNvPr id="9" name="card-29"/>
          <p:cNvSpPr/>
          <p:nvPr/>
        </p:nvSpPr>
        <p:spPr>
          <a:xfrm>
            <a:off x="6249924" y="1691640"/>
            <a:ext cx="5394960" cy="3063240"/>
          </a:xfrm>
          <a:prstGeom prst="roundRect">
            <a:avLst>
              <a:gd name="adj" fmla="val 3582"/>
            </a:avLst>
          </a:prstGeom>
          <a:solidFill>
            <a:schemeClr val="bg2"/>
          </a:solidFill>
          <a:ln/>
        </p:spPr>
      </p:sp>
      <p:sp>
        <p:nvSpPr>
          <p:cNvPr id="10" name="tag-30"/>
          <p:cNvSpPr txBox="1"/>
          <p:nvPr/>
        </p:nvSpPr>
        <p:spPr>
          <a:xfrm>
            <a:off x="6569964" y="1965960"/>
            <a:ext cx="685800" cy="365760"/>
          </a:xfrm>
          <a:prstGeom prst="roundRect">
            <a:avLst>
              <a:gd name="adj" fmla="val 25000"/>
            </a:avLst>
          </a:prstGeom>
          <a:solidFill>
            <a:schemeClr val="accent1"/>
          </a:solidFill>
          <a:ln/>
        </p:spPr>
        <p:txBody>
          <a:bodyPr wrap="square" lIns="0" tIns="0" rIns="0" bIns="0" rtlCol="0" anchor="ctr"/>
          <a:lstStyle/>
          <a:p>
            <a:pPr algn="ctr" indent="0" marL="0">
              <a:buNone/>
            </a:pPr>
            <a:r>
              <a:rPr lang="en-US" sz="1300" b="1" dirty="0">
                <a:solidFill>
                  <a:schemeClr val="bg1"/>
                </a:solidFill>
              </a:rPr>
              <a:t>ES</a:t>
            </a:r>
            <a:endParaRPr lang="en-US" sz="1300" dirty="0"/>
          </a:p>
        </p:txBody>
      </p:sp>
      <p:sp>
        <p:nvSpPr>
          <p:cNvPr id="11" name="text-31"/>
          <p:cNvSpPr txBox="1"/>
          <p:nvPr/>
        </p:nvSpPr>
        <p:spPr>
          <a:xfrm>
            <a:off x="7392924" y="1965960"/>
            <a:ext cx="3931920" cy="365760"/>
          </a:xfrm>
          <a:prstGeom prst="rect">
            <a:avLst/>
          </a:prstGeom>
          <a:noFill/>
          <a:ln/>
        </p:spPr>
        <p:txBody>
          <a:bodyPr wrap="square" lIns="0" tIns="0" rIns="0" bIns="0" rtlCol="0" anchor="ctr"/>
          <a:lstStyle/>
          <a:p>
            <a:pPr indent="0" marL="0">
              <a:buNone/>
            </a:pPr>
            <a:r>
              <a:rPr lang="en-US" sz="2000" b="1" dirty="0">
                <a:solidFill>
                  <a:schemeClr val="tx1"/>
                </a:solidFill>
              </a:rPr>
              <a:t>Expected Shortfall</a:t>
            </a:r>
            <a:endParaRPr lang="en-US" sz="2000" dirty="0"/>
          </a:p>
        </p:txBody>
      </p:sp>
      <p:sp>
        <p:nvSpPr>
          <p:cNvPr id="12" name="text-32"/>
          <p:cNvSpPr txBox="1"/>
          <p:nvPr/>
        </p:nvSpPr>
        <p:spPr>
          <a:xfrm>
            <a:off x="6569964" y="2606040"/>
            <a:ext cx="4754880" cy="457200"/>
          </a:xfrm>
          <a:prstGeom prst="rect">
            <a:avLst/>
          </a:prstGeom>
          <a:noFill/>
          <a:ln/>
        </p:spPr>
        <p:txBody>
          <a:bodyPr wrap="square" lIns="0" tIns="0" rIns="0" bIns="0" rtlCol="0" anchor="t"/>
          <a:lstStyle/>
          <a:p>
            <a:pPr indent="0" marL="0">
              <a:buNone/>
            </a:pPr>
            <a:r>
              <a:rPr lang="en-US" sz="2000" i="1" dirty="0">
                <a:solidFill>
                  <a:schemeClr val="tx1"/>
                </a:solidFill>
                <a:latin typeface="+mj-lt" pitchFamily="34" charset="0"/>
                <a:ea typeface="+mj-lt" pitchFamily="34" charset="-122"/>
                <a:cs typeface="+mj-lt" pitchFamily="34" charset="-120"/>
              </a:rPr>
              <a:t>ESα = E [ L | L ≥ VaRα ]</a:t>
            </a:r>
            <a:endParaRPr lang="en-US" sz="2000" dirty="0"/>
          </a:p>
        </p:txBody>
      </p:sp>
      <p:sp>
        <p:nvSpPr>
          <p:cNvPr id="13" name="text-33"/>
          <p:cNvSpPr txBox="1"/>
          <p:nvPr/>
        </p:nvSpPr>
        <p:spPr>
          <a:xfrm>
            <a:off x="6569964" y="3246120"/>
            <a:ext cx="4754880" cy="1920240"/>
          </a:xfrm>
          <a:prstGeom prst="rect">
            <a:avLst/>
          </a:prstGeom>
          <a:noFill/>
          <a:ln/>
        </p:spPr>
        <p:txBody>
          <a:bodyPr wrap="square" lIns="0" tIns="0" rIns="0" bIns="0" rtlCol="0" anchor="t"/>
          <a:lstStyle/>
          <a:p>
            <a:pPr indent="0" marL="0">
              <a:spcAft>
                <a:spcPts val="800"/>
              </a:spcAft>
              <a:buNone/>
            </a:pPr>
            <a:r>
              <a:rPr lang="en-US" sz="1500" dirty="0">
                <a:solidFill>
                  <a:schemeClr val="tx2"/>
                </a:solidFill>
              </a:rPr>
              <a:t>The average loss once VaR has been breached.</a:t>
            </a:r>
            <a:endParaRPr lang="en-US" sz="1500" dirty="0"/>
          </a:p>
          <a:p>
            <a:pPr indent="0" marL="0">
              <a:spcAft>
                <a:spcPts val="800"/>
              </a:spcAft>
              <a:buNone/>
            </a:pPr>
            <a:r>
              <a:rPr lang="en-US" sz="1500" dirty="0">
                <a:solidFill>
                  <a:schemeClr val="tx2"/>
                </a:solidFill>
              </a:rPr>
              <a:t>Captures how severe the tail is, not just where it starts. Basel FRTB uses 97.5% ES for market-risk capital.</a:t>
            </a:r>
            <a:endParaRPr lang="en-US" sz="1500" dirty="0"/>
          </a:p>
        </p:txBody>
      </p:sp>
      <p:sp>
        <p:nvSpPr>
          <p:cNvPr id="14" name="text-34"/>
          <p:cNvSpPr txBox="1"/>
          <p:nvPr/>
        </p:nvSpPr>
        <p:spPr>
          <a:xfrm>
            <a:off x="548640" y="5074920"/>
            <a:ext cx="11091672" cy="365760"/>
          </a:xfrm>
          <a:prstGeom prst="rect">
            <a:avLst/>
          </a:prstGeom>
          <a:noFill/>
          <a:ln/>
        </p:spPr>
        <p:txBody>
          <a:bodyPr wrap="square" lIns="0" tIns="0" rIns="0" bIns="0" rtlCol="0" anchor="t"/>
          <a:lstStyle/>
          <a:p>
            <a:pPr indent="0" marL="0">
              <a:buNone/>
            </a:pPr>
            <a:r>
              <a:rPr lang="en-US" sz="1500" i="1" dirty="0">
                <a:solidFill>
                  <a:schemeClr val="tx2"/>
                </a:solidFill>
              </a:rPr>
              <a:t>Both come straight from the loss density p(x, t): VaR is a quantile of it, ES is an integral over its tail.</a:t>
            </a:r>
            <a:endParaRPr lang="en-US" sz="15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1091672"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03 · MATHEMATICAL MODEL</a:t>
            </a:r>
            <a:endParaRPr lang="en-US" sz="1200" dirty="0"/>
          </a:p>
        </p:txBody>
      </p:sp>
      <p:sp>
        <p:nvSpPr>
          <p:cNvPr id="3" name="Text 0"/>
          <p:cNvSpPr/>
          <p:nvPr>
            <p:ph idx="101" type="title" hasCustomPrompt="1"/>
          </p:nvPr>
        </p:nvSpPr>
        <p:spPr>
          <a:xfrm>
            <a:off x="548640" y="676656"/>
            <a:ext cx="11091672" cy="640080"/>
          </a:xfrm>
          <a:prstGeom prst="rect">
            <a:avLst/>
          </a:prstGeom>
          <a:noFill/>
          <a:ln/>
        </p:spPr>
        <p:txBody>
          <a:bodyPr wrap="square" lIns="0" tIns="0" rIns="0" bIns="0" rtlCol="0" anchor="t"/>
          <a:lstStyle/>
          <a:p>
            <a:pPr algn="l" indent="0" marL="0">
              <a:buNone/>
            </a:pPr>
            <a:r>
              <a:rPr lang="en-US" sz="3000" b="1" dirty="0">
                <a:solidFill>
                  <a:schemeClr val="tx1"/>
                </a:solidFill>
              </a:rPr>
              <a:t>Jump-diffusion and its forward equation</a:t>
            </a:r>
            <a:endParaRPr lang="en-US" sz="3000" dirty="0"/>
          </a:p>
        </p:txBody>
      </p:sp>
      <p:sp>
        <p:nvSpPr>
          <p:cNvPr id="4" name="text-35"/>
          <p:cNvSpPr txBox="1"/>
          <p:nvPr/>
        </p:nvSpPr>
        <p:spPr>
          <a:xfrm>
            <a:off x="548640" y="1600200"/>
            <a:ext cx="11091672" cy="411480"/>
          </a:xfrm>
          <a:prstGeom prst="rect">
            <a:avLst/>
          </a:prstGeom>
          <a:noFill/>
          <a:ln/>
        </p:spPr>
        <p:txBody>
          <a:bodyPr wrap="square" lIns="0" tIns="0" rIns="0" bIns="0" rtlCol="0" anchor="t"/>
          <a:lstStyle/>
          <a:p>
            <a:pPr indent="0" marL="0">
              <a:buNone/>
            </a:pPr>
            <a:r>
              <a:rPr lang="en-US" sz="1700" i="1" dirty="0">
                <a:solidFill>
                  <a:schemeClr val="tx2"/>
                </a:solidFill>
                <a:latin typeface="+mj-lt" pitchFamily="34" charset="0"/>
                <a:ea typeface="+mj-lt" pitchFamily="34" charset="-122"/>
                <a:cs typeface="+mj-lt" pitchFamily="34" charset="-120"/>
              </a:rPr>
              <a:t>Log-return dynamics:   dXₜ = a dt + σ dWₜ + dJₜ ,   J = compound Poisson (intensity λ, jump sizes Y ~ f_Y)</a:t>
            </a:r>
            <a:endParaRPr lang="en-US" sz="1700" dirty="0"/>
          </a:p>
        </p:txBody>
      </p:sp>
      <p:sp>
        <p:nvSpPr>
          <p:cNvPr id="5" name="card-36"/>
          <p:cNvSpPr/>
          <p:nvPr/>
        </p:nvSpPr>
        <p:spPr>
          <a:xfrm>
            <a:off x="548640" y="2194560"/>
            <a:ext cx="11091672" cy="2148840"/>
          </a:xfrm>
          <a:prstGeom prst="roundRect">
            <a:avLst>
              <a:gd name="adj" fmla="val 5106"/>
            </a:avLst>
          </a:prstGeom>
          <a:solidFill>
            <a:schemeClr val="tx1"/>
          </a:solidFill>
          <a:ln/>
        </p:spPr>
      </p:sp>
      <p:sp>
        <p:nvSpPr>
          <p:cNvPr id="6" name="text-37"/>
          <p:cNvSpPr txBox="1"/>
          <p:nvPr/>
        </p:nvSpPr>
        <p:spPr>
          <a:xfrm>
            <a:off x="822960" y="2377440"/>
            <a:ext cx="10543032" cy="640080"/>
          </a:xfrm>
          <a:prstGeom prst="rect">
            <a:avLst/>
          </a:prstGeom>
          <a:noFill/>
          <a:ln/>
        </p:spPr>
        <p:txBody>
          <a:bodyPr wrap="square" lIns="0" tIns="0" rIns="0" bIns="0" rtlCol="0" anchor="ctr"/>
          <a:lstStyle/>
          <a:p>
            <a:pPr algn="ctr" indent="0" marL="0">
              <a:buNone/>
            </a:pPr>
            <a:r>
              <a:rPr lang="en-US" sz="2400" i="1" dirty="0">
                <a:solidFill>
                  <a:schemeClr val="bg1"/>
                </a:solidFill>
                <a:latin typeface="+mj-lt" pitchFamily="34" charset="0"/>
                <a:ea typeface="+mj-lt" pitchFamily="34" charset="-122"/>
                <a:cs typeface="+mj-lt" pitchFamily="34" charset="-120"/>
              </a:rPr>
              <a:t>∂p/∂t  =  − ∂ₓ[ a p ]  +  (σ²/2) ∂ₓₓ p  +  λ [ ∫ p(x − y, t) f_Y(y) dy  −  p ]</a:t>
            </a:r>
            <a:endParaRPr lang="en-US" sz="2400" dirty="0"/>
          </a:p>
        </p:txBody>
      </p:sp>
      <p:sp>
        <p:nvSpPr>
          <p:cNvPr id="7" name="marker-38"/>
          <p:cNvSpPr/>
          <p:nvPr/>
        </p:nvSpPr>
        <p:spPr>
          <a:xfrm>
            <a:off x="914400" y="3310128"/>
            <a:ext cx="201168" cy="201168"/>
          </a:xfrm>
          <a:prstGeom prst="ellipse">
            <a:avLst/>
          </a:prstGeom>
          <a:solidFill>
            <a:schemeClr val="accent5"/>
          </a:solidFill>
          <a:ln/>
        </p:spPr>
      </p:sp>
      <p:sp>
        <p:nvSpPr>
          <p:cNvPr id="8" name="text-39"/>
          <p:cNvSpPr txBox="1"/>
          <p:nvPr/>
        </p:nvSpPr>
        <p:spPr>
          <a:xfrm>
            <a:off x="1234440" y="3200400"/>
            <a:ext cx="3017520" cy="868680"/>
          </a:xfrm>
          <a:prstGeom prst="rect">
            <a:avLst/>
          </a:prstGeom>
          <a:noFill/>
          <a:ln/>
        </p:spPr>
        <p:txBody>
          <a:bodyPr wrap="square" lIns="0" tIns="0" rIns="0" bIns="0" rtlCol="0" anchor="t"/>
          <a:lstStyle/>
          <a:p>
            <a:pPr indent="0" marL="0">
              <a:buNone/>
            </a:pPr>
            <a:r>
              <a:rPr lang="en-US" sz="1500" b="1" dirty="0">
                <a:solidFill>
                  <a:schemeClr val="bg1"/>
                </a:solidFill>
              </a:rPr>
              <a:t>Drift  </a:t>
            </a:r>
            <a:pPr indent="0" marL="0">
              <a:buNone/>
            </a:pPr>
            <a:r>
              <a:rPr lang="en-US" sz="1500" dirty="0">
                <a:solidFill>
                  <a:schemeClr val="accent5"/>
                </a:solidFill>
              </a:rPr>
              <a:t>transports the density</a:t>
            </a:r>
            <a:endParaRPr lang="en-US" sz="1500" dirty="0"/>
          </a:p>
        </p:txBody>
      </p:sp>
      <p:sp>
        <p:nvSpPr>
          <p:cNvPr id="9" name="marker-40"/>
          <p:cNvSpPr/>
          <p:nvPr/>
        </p:nvSpPr>
        <p:spPr>
          <a:xfrm>
            <a:off x="4434840" y="3310128"/>
            <a:ext cx="201168" cy="201168"/>
          </a:xfrm>
          <a:prstGeom prst="ellipse">
            <a:avLst/>
          </a:prstGeom>
          <a:solidFill>
            <a:schemeClr val="accent5"/>
          </a:solidFill>
          <a:ln/>
        </p:spPr>
      </p:sp>
      <p:sp>
        <p:nvSpPr>
          <p:cNvPr id="10" name="text-41"/>
          <p:cNvSpPr txBox="1"/>
          <p:nvPr/>
        </p:nvSpPr>
        <p:spPr>
          <a:xfrm>
            <a:off x="4754880" y="3200400"/>
            <a:ext cx="3017520" cy="868680"/>
          </a:xfrm>
          <a:prstGeom prst="rect">
            <a:avLst/>
          </a:prstGeom>
          <a:noFill/>
          <a:ln/>
        </p:spPr>
        <p:txBody>
          <a:bodyPr wrap="square" lIns="0" tIns="0" rIns="0" bIns="0" rtlCol="0" anchor="t"/>
          <a:lstStyle/>
          <a:p>
            <a:pPr indent="0" marL="0">
              <a:buNone/>
            </a:pPr>
            <a:r>
              <a:rPr lang="en-US" sz="1500" b="1" dirty="0">
                <a:solidFill>
                  <a:schemeClr val="bg1"/>
                </a:solidFill>
              </a:rPr>
              <a:t>Diffusion  </a:t>
            </a:r>
            <a:pPr indent="0" marL="0">
              <a:buNone/>
            </a:pPr>
            <a:r>
              <a:rPr lang="en-US" sz="1500" dirty="0">
                <a:solidFill>
                  <a:schemeClr val="accent5"/>
                </a:solidFill>
              </a:rPr>
              <a:t>ordinary day-to-day moves</a:t>
            </a:r>
            <a:endParaRPr lang="en-US" sz="1500" dirty="0"/>
          </a:p>
        </p:txBody>
      </p:sp>
      <p:sp>
        <p:nvSpPr>
          <p:cNvPr id="11" name="marker-42"/>
          <p:cNvSpPr/>
          <p:nvPr/>
        </p:nvSpPr>
        <p:spPr>
          <a:xfrm>
            <a:off x="7955280" y="3310128"/>
            <a:ext cx="201168" cy="201168"/>
          </a:xfrm>
          <a:prstGeom prst="ellipse">
            <a:avLst/>
          </a:prstGeom>
          <a:solidFill>
            <a:schemeClr val="accent4"/>
          </a:solidFill>
          <a:ln/>
        </p:spPr>
      </p:sp>
      <p:sp>
        <p:nvSpPr>
          <p:cNvPr id="12" name="text-43"/>
          <p:cNvSpPr txBox="1"/>
          <p:nvPr/>
        </p:nvSpPr>
        <p:spPr>
          <a:xfrm>
            <a:off x="8275320" y="3200400"/>
            <a:ext cx="3017520" cy="868680"/>
          </a:xfrm>
          <a:prstGeom prst="rect">
            <a:avLst/>
          </a:prstGeom>
          <a:noFill/>
          <a:ln/>
        </p:spPr>
        <p:txBody>
          <a:bodyPr wrap="square" lIns="0" tIns="0" rIns="0" bIns="0" rtlCol="0" anchor="t"/>
          <a:lstStyle/>
          <a:p>
            <a:pPr indent="0" marL="0">
              <a:buNone/>
            </a:pPr>
            <a:r>
              <a:rPr lang="en-US" sz="1500" b="1" dirty="0">
                <a:solidFill>
                  <a:schemeClr val="bg1"/>
                </a:solidFill>
              </a:rPr>
              <a:t>Jump term  </a:t>
            </a:r>
            <a:pPr indent="0" marL="0">
              <a:buNone/>
            </a:pPr>
            <a:r>
              <a:rPr lang="en-US" sz="1500" dirty="0">
                <a:solidFill>
                  <a:schemeClr val="accent5"/>
                </a:solidFill>
              </a:rPr>
              <a:t>nonlocal integral that creates the heavy tail</a:t>
            </a:r>
            <a:endParaRPr lang="en-US" sz="1500" dirty="0"/>
          </a:p>
        </p:txBody>
      </p:sp>
      <p:sp>
        <p:nvSpPr>
          <p:cNvPr id="13" name="dot-44"/>
          <p:cNvSpPr txBox="1"/>
          <p:nvPr/>
        </p:nvSpPr>
        <p:spPr>
          <a:xfrm>
            <a:off x="548640" y="4617720"/>
            <a:ext cx="420624" cy="420624"/>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a:t>
            </a:r>
            <a:endParaRPr lang="en-US" sz="1400" dirty="0"/>
          </a:p>
        </p:txBody>
      </p:sp>
      <p:sp>
        <p:nvSpPr>
          <p:cNvPr id="14" name="text-45"/>
          <p:cNvSpPr txBox="1"/>
          <p:nvPr/>
        </p:nvSpPr>
        <p:spPr>
          <a:xfrm>
            <a:off x="1143000" y="4572000"/>
            <a:ext cx="4800600" cy="1371600"/>
          </a:xfrm>
          <a:prstGeom prst="rect">
            <a:avLst/>
          </a:prstGeom>
          <a:noFill/>
          <a:ln/>
        </p:spPr>
        <p:txBody>
          <a:bodyPr wrap="square" lIns="0" tIns="0" rIns="0" bIns="0" rtlCol="0" anchor="t"/>
          <a:lstStyle/>
          <a:p>
            <a:pPr indent="0" marL="0">
              <a:buNone/>
            </a:pPr>
            <a:r>
              <a:rPr lang="en-US" sz="1500" b="1" dirty="0">
                <a:solidFill>
                  <a:schemeClr val="tx1"/>
                </a:solidFill>
              </a:rPr>
              <a:t>Exact reference</a:t>
            </a:r>
            <a:endParaRPr lang="en-US" sz="1500" dirty="0"/>
          </a:p>
          <a:p>
            <a:pPr indent="0" marL="0">
              <a:buNone/>
            </a:pPr>
            <a:r>
              <a:rPr lang="en-US" sz="1500" dirty="0">
                <a:solidFill>
                  <a:schemeClr val="tx2"/>
                </a:solidFill>
              </a:rPr>
              <a:t>With Gaussian jumps (Merton, 1976) the density is a Poisson-weighted mixture of Gaussians, so the PINN can be checked against a known answer.</a:t>
            </a:r>
            <a:endParaRPr lang="en-US" sz="1500" dirty="0"/>
          </a:p>
        </p:txBody>
      </p:sp>
      <p:sp>
        <p:nvSpPr>
          <p:cNvPr id="15" name="dot-46"/>
          <p:cNvSpPr txBox="1"/>
          <p:nvPr/>
        </p:nvSpPr>
        <p:spPr>
          <a:xfrm>
            <a:off x="6249924" y="4617720"/>
            <a:ext cx="420624" cy="420624"/>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a:t>
            </a:r>
            <a:endParaRPr lang="en-US" sz="1400" dirty="0"/>
          </a:p>
        </p:txBody>
      </p:sp>
      <p:sp>
        <p:nvSpPr>
          <p:cNvPr id="16" name="text-47"/>
          <p:cNvSpPr txBox="1"/>
          <p:nvPr/>
        </p:nvSpPr>
        <p:spPr>
          <a:xfrm>
            <a:off x="6844284" y="4572000"/>
            <a:ext cx="4800600" cy="1371600"/>
          </a:xfrm>
          <a:prstGeom prst="rect">
            <a:avLst/>
          </a:prstGeom>
          <a:noFill/>
          <a:ln/>
        </p:spPr>
        <p:txBody>
          <a:bodyPr wrap="square" lIns="0" tIns="0" rIns="0" bIns="0" rtlCol="0" anchor="t"/>
          <a:lstStyle/>
          <a:p>
            <a:pPr indent="0" marL="0">
              <a:buNone/>
            </a:pPr>
            <a:r>
              <a:rPr lang="en-US" sz="1500" b="1" dirty="0">
                <a:solidFill>
                  <a:schemeClr val="tx1"/>
                </a:solidFill>
              </a:rPr>
              <a:t>Limitation</a:t>
            </a:r>
            <a:endParaRPr lang="en-US" sz="1500" dirty="0"/>
          </a:p>
          <a:p>
            <a:pPr indent="0" marL="0">
              <a:buNone/>
            </a:pPr>
            <a:r>
              <a:rPr lang="en-US" sz="1500" dirty="0">
                <a:solidFill>
                  <a:schemeClr val="tx2"/>
                </a:solidFill>
              </a:rPr>
              <a:t>a and σ are constant here; real markets need time-varying volatility, handled by rolling re-estimation and a later extension.</a:t>
            </a:r>
            <a:endParaRPr lang="en-US" sz="15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1091672"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04 · LITERATURE</a:t>
            </a:r>
            <a:endParaRPr lang="en-US" sz="1200" dirty="0"/>
          </a:p>
        </p:txBody>
      </p:sp>
      <p:sp>
        <p:nvSpPr>
          <p:cNvPr id="3" name="Text 0"/>
          <p:cNvSpPr/>
          <p:nvPr>
            <p:ph idx="101" type="title" hasCustomPrompt="1"/>
          </p:nvPr>
        </p:nvSpPr>
        <p:spPr>
          <a:xfrm>
            <a:off x="548640" y="676656"/>
            <a:ext cx="11091672" cy="640080"/>
          </a:xfrm>
          <a:prstGeom prst="rect">
            <a:avLst/>
          </a:prstGeom>
          <a:noFill/>
          <a:ln/>
        </p:spPr>
        <p:txBody>
          <a:bodyPr wrap="square" lIns="0" tIns="0" rIns="0" bIns="0" rtlCol="0" anchor="t"/>
          <a:lstStyle/>
          <a:p>
            <a:pPr algn="l" indent="0" marL="0">
              <a:buNone/>
            </a:pPr>
            <a:r>
              <a:rPr lang="en-US" sz="3000" b="1" dirty="0">
                <a:solidFill>
                  <a:schemeClr val="tx1"/>
                </a:solidFill>
              </a:rPr>
              <a:t>What already exists, and where the gap is</a:t>
            </a:r>
            <a:endParaRPr lang="en-US" sz="3000" dirty="0"/>
          </a:p>
        </p:txBody>
      </p:sp>
      <p:graphicFrame>
        <p:nvGraphicFramePr>
          <p:cNvPr id="6" name="lit-table"/>
          <p:cNvGraphicFramePr>
            <a:graphicFrameLocks noGrp="1"/>
          </p:cNvGraphicFramePr>
          <p:nvPr>
            <p:extLst>
              <p:ext uri="{D42A27DB-BD31-4B8C-83A1-F6EECF244321}">
                <p14:modId xmlns:p14="http://schemas.microsoft.com/office/powerpoint/2010/main" val="1579011935"/>
              </p:ext>
            </p:extLst>
          </p:nvPr>
        </p:nvGraphicFramePr>
        <p:xfrm>
          <a:off x="548640" y="1645920"/>
          <a:ext cx="11091672" cy="914400"/>
        </p:xfrm>
        <a:graphic>
          <a:graphicData uri="http://schemas.openxmlformats.org/drawingml/2006/table">
            <a:tbl>
              <a:tblPr/>
              <a:tblGrid>
                <a:gridCol w="3474720"/>
                <a:gridCol w="7616952"/>
              </a:tblGrid>
              <a:tr h="411480">
                <a:tc>
                  <a:txBody>
                    <a:bodyPr/>
                    <a:lstStyle/>
                    <a:p>
                      <a:pPr indent="0" marL="0">
                        <a:buNone/>
                      </a:pPr>
                      <a:r>
                        <a:rPr lang="en-US" sz="1400" b="1" dirty="0">
                          <a:solidFill>
                            <a:schemeClr val="bg1"/>
                          </a:solidFill>
                        </a:rPr>
                        <a:t>Area</a:t>
                      </a:r>
                      <a:endParaRPr lang="en-US" sz="1400" dirty="0"/>
                    </a:p>
                  </a:txBody>
                  <a:tcPr marL="127000" marR="127000" marT="63500" marB="63500">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Current state</a:t>
                      </a:r>
                      <a:endParaRPr lang="en-US" sz="1400" dirty="0"/>
                    </a:p>
                  </a:txBody>
                  <a:tcPr marL="127000" marR="127000" marT="63500" marB="63500">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tx1"/>
                    </a:solidFill>
                  </a:tcPr>
                </a:tc>
              </a:tr>
              <a:tr h="411480">
                <a:tc>
                  <a:txBody>
                    <a:bodyPr/>
                    <a:lstStyle/>
                    <a:p>
                      <a:pPr indent="0" marL="0">
                        <a:buNone/>
                      </a:pPr>
                      <a:r>
                        <a:rPr lang="en-US" sz="1400" dirty="0">
                          <a:solidFill>
                            <a:schemeClr val="tx2"/>
                          </a:solidFill>
                        </a:rPr>
                        <a:t>PINNs (Raissi et al., 2019)</a:t>
                      </a:r>
                      <a:endParaRPr lang="en-US" sz="1400" dirty="0"/>
                    </a:p>
                  </a:txBody>
                  <a:tcPr marL="127000" marR="127000" marT="63500" marB="63500">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1"/>
                    </a:solidFill>
                  </a:tcPr>
                </a:tc>
                <a:tc>
                  <a:txBody>
                    <a:bodyPr/>
                    <a:lstStyle/>
                    <a:p>
                      <a:pPr indent="0" marL="0">
                        <a:buNone/>
                      </a:pPr>
                      <a:r>
                        <a:rPr lang="en-US" sz="1400" dirty="0">
                          <a:solidFill>
                            <a:schemeClr val="tx2"/>
                          </a:solidFill>
                        </a:rPr>
                        <a:t>Established for forward and inverse PDE problems</a:t>
                      </a:r>
                      <a:endParaRPr lang="en-US" sz="1400" dirty="0"/>
                    </a:p>
                  </a:txBody>
                  <a:tcPr marL="127000" marR="127000" marT="63500" marB="63500">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1"/>
                    </a:solidFill>
                  </a:tcPr>
                </a:tc>
              </a:tr>
              <a:tr h="411480">
                <a:tc>
                  <a:txBody>
                    <a:bodyPr/>
                    <a:lstStyle/>
                    <a:p>
                      <a:pPr indent="0" marL="0">
                        <a:buNone/>
                      </a:pPr>
                      <a:r>
                        <a:rPr lang="en-US" sz="1400" dirty="0">
                          <a:solidFill>
                            <a:schemeClr val="tx2"/>
                          </a:solidFill>
                        </a:rPr>
                        <a:t>PINNs in finance</a:t>
                      </a:r>
                      <a:endParaRPr lang="en-US" sz="1400" dirty="0"/>
                    </a:p>
                  </a:txBody>
                  <a:tcPr marL="127000" marR="127000" marT="63500" marB="63500">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2"/>
                    </a:solidFill>
                  </a:tcPr>
                </a:tc>
                <a:tc>
                  <a:txBody>
                    <a:bodyPr/>
                    <a:lstStyle/>
                    <a:p>
                      <a:pPr indent="0" marL="0">
                        <a:buNone/>
                      </a:pPr>
                      <a:r>
                        <a:rPr lang="en-US" sz="1400" dirty="0">
                          <a:solidFill>
                            <a:schemeClr val="tx2"/>
                          </a:solidFill>
                        </a:rPr>
                        <a:t>Option pricing studied, including jump-diffusion models</a:t>
                      </a:r>
                      <a:endParaRPr lang="en-US" sz="1400" dirty="0"/>
                    </a:p>
                  </a:txBody>
                  <a:tcPr marL="127000" marR="127000" marT="63500" marB="63500">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2"/>
                    </a:solidFill>
                  </a:tcPr>
                </a:tc>
              </a:tr>
              <a:tr h="411480">
                <a:tc>
                  <a:txBody>
                    <a:bodyPr/>
                    <a:lstStyle/>
                    <a:p>
                      <a:pPr indent="0" marL="0">
                        <a:buNone/>
                      </a:pPr>
                      <a:r>
                        <a:rPr lang="en-US" sz="1400" dirty="0">
                          <a:solidFill>
                            <a:schemeClr val="tx2"/>
                          </a:solidFill>
                        </a:rPr>
                        <a:t>PINNs for densities</a:t>
                      </a:r>
                      <a:endParaRPr lang="en-US" sz="1400" dirty="0"/>
                    </a:p>
                  </a:txBody>
                  <a:tcPr marL="127000" marR="127000" marT="63500" marB="63500">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1"/>
                    </a:solidFill>
                  </a:tcPr>
                </a:tc>
                <a:tc>
                  <a:txBody>
                    <a:bodyPr/>
                    <a:lstStyle/>
                    <a:p>
                      <a:pPr indent="0" marL="0">
                        <a:buNone/>
                      </a:pPr>
                      <a:r>
                        <a:rPr lang="en-US" sz="1400" dirty="0">
                          <a:solidFill>
                            <a:schemeClr val="tx2"/>
                          </a:solidFill>
                        </a:rPr>
                        <a:t>Fokker–Planck / forward-density solvers are an active research area</a:t>
                      </a:r>
                      <a:endParaRPr lang="en-US" sz="1400" dirty="0"/>
                    </a:p>
                  </a:txBody>
                  <a:tcPr marL="127000" marR="127000" marT="63500" marB="63500">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1"/>
                    </a:solidFill>
                  </a:tcPr>
                </a:tc>
              </a:tr>
              <a:tr h="411480">
                <a:tc>
                  <a:txBody>
                    <a:bodyPr/>
                    <a:lstStyle/>
                    <a:p>
                      <a:pPr indent="0" marL="0">
                        <a:buNone/>
                      </a:pPr>
                      <a:r>
                        <a:rPr lang="en-US" sz="1400" dirty="0">
                          <a:solidFill>
                            <a:schemeClr val="tx2"/>
                          </a:solidFill>
                        </a:rPr>
                        <a:t>Tail-risk models</a:t>
                      </a:r>
                      <a:endParaRPr lang="en-US" sz="1400" dirty="0"/>
                    </a:p>
                  </a:txBody>
                  <a:tcPr marL="127000" marR="127000" marT="63500" marB="63500">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2"/>
                    </a:solidFill>
                  </a:tcPr>
                </a:tc>
                <a:tc>
                  <a:txBody>
                    <a:bodyPr/>
                    <a:lstStyle/>
                    <a:p>
                      <a:pPr indent="0" marL="0">
                        <a:buNone/>
                      </a:pPr>
                      <a:r>
                        <a:rPr lang="en-US" sz="1400" dirty="0">
                          <a:solidFill>
                            <a:schemeClr val="tx2"/>
                          </a:solidFill>
                        </a:rPr>
                        <a:t>Mature: historical simulation, GARCH, filtered HS, EVT (e.g. Bank of England study of FHS VaR)</a:t>
                      </a:r>
                      <a:endParaRPr lang="en-US" sz="1400" dirty="0"/>
                    </a:p>
                  </a:txBody>
                  <a:tcPr marL="127000" marR="127000" marT="63500" marB="63500">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2"/>
                    </a:solidFill>
                  </a:tcPr>
                </a:tc>
              </a:tr>
            </a:tbl>
          </a:graphicData>
        </a:graphic>
      </p:graphicFrame>
      <p:sp>
        <p:nvSpPr>
          <p:cNvPr id="5" name="card-48"/>
          <p:cNvSpPr/>
          <p:nvPr/>
        </p:nvSpPr>
        <p:spPr>
          <a:xfrm>
            <a:off x="548640" y="3977640"/>
            <a:ext cx="11091672" cy="1463040"/>
          </a:xfrm>
          <a:prstGeom prst="roundRect">
            <a:avLst>
              <a:gd name="adj" fmla="val 7500"/>
            </a:avLst>
          </a:prstGeom>
          <a:solidFill>
            <a:schemeClr val="bg2"/>
          </a:solidFill>
          <a:ln/>
        </p:spPr>
      </p:sp>
      <p:sp>
        <p:nvSpPr>
          <p:cNvPr id="6" name="dot-49"/>
          <p:cNvSpPr txBox="1"/>
          <p:nvPr/>
        </p:nvSpPr>
        <p:spPr>
          <a:xfrm>
            <a:off x="868680" y="4224528"/>
            <a:ext cx="420624" cy="420624"/>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a:t>
            </a:r>
            <a:endParaRPr lang="en-US" sz="1400" dirty="0"/>
          </a:p>
        </p:txBody>
      </p:sp>
      <p:sp>
        <p:nvSpPr>
          <p:cNvPr id="7" name="text-50"/>
          <p:cNvSpPr txBox="1"/>
          <p:nvPr/>
        </p:nvSpPr>
        <p:spPr>
          <a:xfrm>
            <a:off x="1463040" y="4160520"/>
            <a:ext cx="9875520" cy="1143000"/>
          </a:xfrm>
          <a:prstGeom prst="rect">
            <a:avLst/>
          </a:prstGeom>
          <a:noFill/>
          <a:ln/>
        </p:spPr>
        <p:txBody>
          <a:bodyPr wrap="square" lIns="0" tIns="0" rIns="0" bIns="0" rtlCol="0" anchor="t"/>
          <a:lstStyle/>
          <a:p>
            <a:pPr indent="0" marL="0">
              <a:buNone/>
            </a:pPr>
            <a:r>
              <a:rPr lang="en-US" sz="1800" b="1" dirty="0">
                <a:solidFill>
                  <a:schemeClr val="accent1"/>
                </a:solidFill>
                <a:latin typeface="+mj-lt" pitchFamily="34" charset="0"/>
                <a:ea typeface="+mj-lt" pitchFamily="34" charset="-122"/>
                <a:cs typeface="+mj-lt" pitchFamily="34" charset="-120"/>
              </a:rPr>
              <a:t>Gap: </a:t>
            </a:r>
            <a:pPr indent="0" marL="0">
              <a:buNone/>
            </a:pPr>
            <a:r>
              <a:rPr lang="en-US" sz="1800" dirty="0">
                <a:solidFill>
                  <a:schemeClr val="tx1"/>
                </a:solidFill>
                <a:latin typeface="+mj-lt" pitchFamily="34" charset="0"/>
                <a:ea typeface="+mj-lt" pitchFamily="34" charset="-122"/>
                <a:cs typeface="+mj-lt" pitchFamily="34" charset="-120"/>
              </a:rPr>
              <a:t>no systematic test of whether PINN-solved densities give better VaR and ES — tail accuracy, calibration and compute cost — against both numerical solvers and standard risk models.</a:t>
            </a:r>
            <a:endParaRPr lang="en-US" sz="1800" dirty="0"/>
          </a:p>
        </p:txBody>
      </p:sp>
      <p:sp>
        <p:nvSpPr>
          <p:cNvPr id="8" name="text-51"/>
          <p:cNvSpPr txBox="1"/>
          <p:nvPr/>
        </p:nvSpPr>
        <p:spPr>
          <a:xfrm>
            <a:off x="548640" y="5623560"/>
            <a:ext cx="11091672" cy="320040"/>
          </a:xfrm>
          <a:prstGeom prst="rect">
            <a:avLst/>
          </a:prstGeom>
          <a:noFill/>
          <a:ln/>
        </p:spPr>
        <p:txBody>
          <a:bodyPr wrap="square" lIns="0" tIns="0" rIns="0" bIns="0" rtlCol="0" anchor="t"/>
          <a:lstStyle/>
          <a:p>
            <a:pPr indent="0" marL="0">
              <a:buNone/>
            </a:pPr>
            <a:r>
              <a:rPr lang="en-US" sz="1300" i="1" dirty="0">
                <a:solidFill>
                  <a:schemeClr val="accent6"/>
                </a:solidFill>
              </a:rPr>
              <a:t>Literature review is ongoing; the novelty claim will be confirmed before Stage 2.</a:t>
            </a:r>
            <a:endParaRPr lang="en-US" sz="13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1091672" cy="292608"/>
          </a:xfrm>
          <a:prstGeom prst="rect">
            <a:avLst/>
          </a:prstGeom>
          <a:noFill/>
          <a:ln/>
        </p:spPr>
        <p:txBody>
          <a:bodyPr wrap="square" lIns="0" tIns="0" rIns="0" bIns="0" rtlCol="0" anchor="t"/>
          <a:lstStyle/>
          <a:p>
            <a:pPr indent="0" marL="0">
              <a:buNone/>
            </a:pPr>
            <a:r>
              <a:rPr lang="en-US" sz="1200" b="1" spc="200" kern="0" dirty="0">
                <a:solidFill>
                  <a:schemeClr val="accent4"/>
                </a:solidFill>
              </a:rPr>
              <a:t>05 · RESEARCH QUESTIONS</a:t>
            </a:r>
            <a:endParaRPr lang="en-US" sz="1200" dirty="0"/>
          </a:p>
        </p:txBody>
      </p:sp>
      <p:sp>
        <p:nvSpPr>
          <p:cNvPr id="3" name="Text 0"/>
          <p:cNvSpPr/>
          <p:nvPr>
            <p:ph idx="101" type="title" hasCustomPrompt="1"/>
          </p:nvPr>
        </p:nvSpPr>
        <p:spPr>
          <a:xfrm>
            <a:off x="548640" y="676656"/>
            <a:ext cx="11091672" cy="640080"/>
          </a:xfrm>
          <a:prstGeom prst="rect">
            <a:avLst/>
          </a:prstGeom>
          <a:noFill/>
          <a:ln/>
        </p:spPr>
        <p:txBody>
          <a:bodyPr wrap="square" lIns="0" tIns="0" rIns="0" bIns="0" rtlCol="0" anchor="t"/>
          <a:lstStyle/>
          <a:p>
            <a:pPr algn="l" indent="0" marL="0">
              <a:buNone/>
            </a:pPr>
            <a:r>
              <a:rPr lang="en-US" sz="3000" b="1" dirty="0">
                <a:solidFill>
                  <a:schemeClr val="bg1"/>
                </a:solidFill>
              </a:rPr>
              <a:t>One central question, four sub-questions</a:t>
            </a:r>
            <a:endParaRPr lang="en-US" sz="3000" dirty="0"/>
          </a:p>
        </p:txBody>
      </p:sp>
      <p:sp>
        <p:nvSpPr>
          <p:cNvPr id="4" name="text-52"/>
          <p:cNvSpPr txBox="1"/>
          <p:nvPr/>
        </p:nvSpPr>
        <p:spPr>
          <a:xfrm>
            <a:off x="548640" y="1508760"/>
            <a:ext cx="11091672" cy="914400"/>
          </a:xfrm>
          <a:prstGeom prst="rect">
            <a:avLst/>
          </a:prstGeom>
          <a:noFill/>
          <a:ln/>
        </p:spPr>
        <p:txBody>
          <a:bodyPr wrap="square" lIns="0" tIns="0" rIns="0" bIns="0" rtlCol="0" anchor="t"/>
          <a:lstStyle/>
          <a:p>
            <a:pPr indent="0" marL="0">
              <a:buNone/>
            </a:pPr>
            <a:r>
              <a:rPr lang="en-US" sz="2200" i="1" dirty="0">
                <a:solidFill>
                  <a:schemeClr val="bg1"/>
                </a:solidFill>
                <a:latin typeface="+mj-lt" pitchFamily="34" charset="0"/>
                <a:ea typeface="+mj-lt" pitchFamily="34" charset="-122"/>
                <a:cs typeface="+mj-lt" pitchFamily="34" charset="-120"/>
              </a:rPr>
              <a:t>When does a PINN beat conventional methods for tail-risk estimation — and when does its overhead outweigh the gain?</a:t>
            </a:r>
            <a:endParaRPr lang="en-US" sz="2200" dirty="0"/>
          </a:p>
        </p:txBody>
      </p:sp>
      <p:sp>
        <p:nvSpPr>
          <p:cNvPr id="5" name="card-53"/>
          <p:cNvSpPr/>
          <p:nvPr/>
        </p:nvSpPr>
        <p:spPr>
          <a:xfrm>
            <a:off x="548640" y="2651760"/>
            <a:ext cx="5394960" cy="1600200"/>
          </a:xfrm>
          <a:prstGeom prst="roundRect">
            <a:avLst>
              <a:gd name="adj" fmla="val 6857"/>
            </a:avLst>
          </a:prstGeom>
          <a:solidFill>
            <a:schemeClr val="accent3"/>
          </a:solidFill>
          <a:ln/>
        </p:spPr>
      </p:sp>
      <p:sp>
        <p:nvSpPr>
          <p:cNvPr id="6" name="dot-54"/>
          <p:cNvSpPr txBox="1"/>
          <p:nvPr/>
        </p:nvSpPr>
        <p:spPr>
          <a:xfrm>
            <a:off x="822960" y="2926080"/>
            <a:ext cx="420624" cy="420624"/>
          </a:xfrm>
          <a:prstGeom prst="ellipse">
            <a:avLst/>
          </a:prstGeom>
          <a:solidFill>
            <a:schemeClr val="accent4"/>
          </a:solid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7" name="text-55"/>
          <p:cNvSpPr txBox="1"/>
          <p:nvPr/>
        </p:nvSpPr>
        <p:spPr>
          <a:xfrm>
            <a:off x="1417320" y="2926080"/>
            <a:ext cx="4297680" cy="420624"/>
          </a:xfrm>
          <a:prstGeom prst="rect">
            <a:avLst/>
          </a:prstGeom>
          <a:noFill/>
          <a:ln/>
        </p:spPr>
        <p:txBody>
          <a:bodyPr wrap="square" lIns="0" tIns="0" rIns="0" bIns="0" rtlCol="0" anchor="ctr"/>
          <a:lstStyle/>
          <a:p>
            <a:pPr indent="0" marL="0">
              <a:buNone/>
            </a:pPr>
            <a:r>
              <a:rPr lang="en-US" sz="1700" b="1" dirty="0">
                <a:solidFill>
                  <a:schemeClr val="bg1"/>
                </a:solidFill>
              </a:rPr>
              <a:t>RQ1 · Density vs tail</a:t>
            </a:r>
            <a:endParaRPr lang="en-US" sz="1700" dirty="0"/>
          </a:p>
        </p:txBody>
      </p:sp>
      <p:sp>
        <p:nvSpPr>
          <p:cNvPr id="8" name="text-56"/>
          <p:cNvSpPr txBox="1"/>
          <p:nvPr/>
        </p:nvSpPr>
        <p:spPr>
          <a:xfrm>
            <a:off x="1417320" y="3429000"/>
            <a:ext cx="4297680" cy="731520"/>
          </a:xfrm>
          <a:prstGeom prst="rect">
            <a:avLst/>
          </a:prstGeom>
          <a:noFill/>
          <a:ln/>
        </p:spPr>
        <p:txBody>
          <a:bodyPr wrap="square" lIns="0" tIns="0" rIns="0" bIns="0" rtlCol="0" anchor="t"/>
          <a:lstStyle/>
          <a:p>
            <a:pPr indent="0" marL="0">
              <a:buNone/>
            </a:pPr>
            <a:r>
              <a:rPr lang="en-US" sz="1400" dirty="0">
                <a:solidFill>
                  <a:schemeClr val="accent5"/>
                </a:solidFill>
              </a:rPr>
              <a:t>How accurately does the PINN recover the density, and separately its extreme tail?</a:t>
            </a:r>
            <a:endParaRPr lang="en-US" sz="1400" dirty="0"/>
          </a:p>
        </p:txBody>
      </p:sp>
      <p:sp>
        <p:nvSpPr>
          <p:cNvPr id="9" name="card-57"/>
          <p:cNvSpPr/>
          <p:nvPr/>
        </p:nvSpPr>
        <p:spPr>
          <a:xfrm>
            <a:off x="6249924" y="2651760"/>
            <a:ext cx="5394960" cy="1600200"/>
          </a:xfrm>
          <a:prstGeom prst="roundRect">
            <a:avLst>
              <a:gd name="adj" fmla="val 6857"/>
            </a:avLst>
          </a:prstGeom>
          <a:solidFill>
            <a:schemeClr val="accent3"/>
          </a:solidFill>
          <a:ln/>
        </p:spPr>
      </p:sp>
      <p:sp>
        <p:nvSpPr>
          <p:cNvPr id="10" name="dot-58"/>
          <p:cNvSpPr txBox="1"/>
          <p:nvPr/>
        </p:nvSpPr>
        <p:spPr>
          <a:xfrm>
            <a:off x="6524244" y="2926080"/>
            <a:ext cx="420624" cy="420624"/>
          </a:xfrm>
          <a:prstGeom prst="ellipse">
            <a:avLst/>
          </a:prstGeom>
          <a:solidFill>
            <a:schemeClr val="accent4"/>
          </a:solid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11" name="text-59"/>
          <p:cNvSpPr txBox="1"/>
          <p:nvPr/>
        </p:nvSpPr>
        <p:spPr>
          <a:xfrm>
            <a:off x="7118604" y="2926080"/>
            <a:ext cx="4297680" cy="420624"/>
          </a:xfrm>
          <a:prstGeom prst="rect">
            <a:avLst/>
          </a:prstGeom>
          <a:noFill/>
          <a:ln/>
        </p:spPr>
        <p:txBody>
          <a:bodyPr wrap="square" lIns="0" tIns="0" rIns="0" bIns="0" rtlCol="0" anchor="ctr"/>
          <a:lstStyle/>
          <a:p>
            <a:pPr indent="0" marL="0">
              <a:buNone/>
            </a:pPr>
            <a:r>
              <a:rPr lang="en-US" sz="1700" b="1" dirty="0">
                <a:solidFill>
                  <a:schemeClr val="bg1"/>
                </a:solidFill>
              </a:rPr>
              <a:t>RQ2 · Risk accuracy</a:t>
            </a:r>
            <a:endParaRPr lang="en-US" sz="1700" dirty="0"/>
          </a:p>
        </p:txBody>
      </p:sp>
      <p:sp>
        <p:nvSpPr>
          <p:cNvPr id="12" name="text-60"/>
          <p:cNvSpPr txBox="1"/>
          <p:nvPr/>
        </p:nvSpPr>
        <p:spPr>
          <a:xfrm>
            <a:off x="7118604" y="3429000"/>
            <a:ext cx="4297680" cy="731520"/>
          </a:xfrm>
          <a:prstGeom prst="rect">
            <a:avLst/>
          </a:prstGeom>
          <a:noFill/>
          <a:ln/>
        </p:spPr>
        <p:txBody>
          <a:bodyPr wrap="square" lIns="0" tIns="0" rIns="0" bIns="0" rtlCol="0" anchor="t"/>
          <a:lstStyle/>
          <a:p>
            <a:pPr indent="0" marL="0">
              <a:buNone/>
            </a:pPr>
            <a:r>
              <a:rPr lang="en-US" sz="1400" dirty="0">
                <a:solidFill>
                  <a:schemeClr val="accent5"/>
                </a:solidFill>
              </a:rPr>
              <a:t>How accurate and well-calibrated are its 95% and 99% VaR and ES?</a:t>
            </a:r>
            <a:endParaRPr lang="en-US" sz="1400" dirty="0"/>
          </a:p>
        </p:txBody>
      </p:sp>
      <p:sp>
        <p:nvSpPr>
          <p:cNvPr id="13" name="card-61"/>
          <p:cNvSpPr/>
          <p:nvPr/>
        </p:nvSpPr>
        <p:spPr>
          <a:xfrm>
            <a:off x="548640" y="4434840"/>
            <a:ext cx="5394960" cy="1600200"/>
          </a:xfrm>
          <a:prstGeom prst="roundRect">
            <a:avLst>
              <a:gd name="adj" fmla="val 6857"/>
            </a:avLst>
          </a:prstGeom>
          <a:solidFill>
            <a:schemeClr val="accent3"/>
          </a:solidFill>
          <a:ln/>
        </p:spPr>
      </p:sp>
      <p:sp>
        <p:nvSpPr>
          <p:cNvPr id="14" name="dot-62"/>
          <p:cNvSpPr txBox="1"/>
          <p:nvPr/>
        </p:nvSpPr>
        <p:spPr>
          <a:xfrm>
            <a:off x="822960" y="4709160"/>
            <a:ext cx="420624" cy="420624"/>
          </a:xfrm>
          <a:prstGeom prst="ellipse">
            <a:avLst/>
          </a:prstGeom>
          <a:solidFill>
            <a:schemeClr val="accent4"/>
          </a:solid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15" name="text-63"/>
          <p:cNvSpPr txBox="1"/>
          <p:nvPr/>
        </p:nvSpPr>
        <p:spPr>
          <a:xfrm>
            <a:off x="1417320" y="4709160"/>
            <a:ext cx="4297680" cy="420624"/>
          </a:xfrm>
          <a:prstGeom prst="rect">
            <a:avLst/>
          </a:prstGeom>
          <a:noFill/>
          <a:ln/>
        </p:spPr>
        <p:txBody>
          <a:bodyPr wrap="square" lIns="0" tIns="0" rIns="0" bIns="0" rtlCol="0" anchor="ctr"/>
          <a:lstStyle/>
          <a:p>
            <a:pPr indent="0" marL="0">
              <a:buNone/>
            </a:pPr>
            <a:r>
              <a:rPr lang="en-US" sz="1700" b="1" dirty="0">
                <a:solidFill>
                  <a:schemeClr val="bg1"/>
                </a:solidFill>
              </a:rPr>
              <a:t>RQ3 · Does physics help?</a:t>
            </a:r>
            <a:endParaRPr lang="en-US" sz="1700" dirty="0"/>
          </a:p>
        </p:txBody>
      </p:sp>
      <p:sp>
        <p:nvSpPr>
          <p:cNvPr id="16" name="text-64"/>
          <p:cNvSpPr txBox="1"/>
          <p:nvPr/>
        </p:nvSpPr>
        <p:spPr>
          <a:xfrm>
            <a:off x="1417320" y="5212080"/>
            <a:ext cx="4297680" cy="731520"/>
          </a:xfrm>
          <a:prstGeom prst="rect">
            <a:avLst/>
          </a:prstGeom>
          <a:noFill/>
          <a:ln/>
        </p:spPr>
        <p:txBody>
          <a:bodyPr wrap="square" lIns="0" tIns="0" rIns="0" bIns="0" rtlCol="0" anchor="t"/>
          <a:lstStyle/>
          <a:p>
            <a:pPr indent="0" marL="0">
              <a:buNone/>
            </a:pPr>
            <a:r>
              <a:rPr lang="en-US" sz="1400" dirty="0">
                <a:solidFill>
                  <a:schemeClr val="accent5"/>
                </a:solidFill>
              </a:rPr>
              <a:t>PINN vs the same network trained on data alone, especially with scarce data.</a:t>
            </a:r>
            <a:endParaRPr lang="en-US" sz="1400" dirty="0"/>
          </a:p>
        </p:txBody>
      </p:sp>
      <p:sp>
        <p:nvSpPr>
          <p:cNvPr id="17" name="card-65"/>
          <p:cNvSpPr/>
          <p:nvPr/>
        </p:nvSpPr>
        <p:spPr>
          <a:xfrm>
            <a:off x="6249924" y="4434840"/>
            <a:ext cx="5394960" cy="1600200"/>
          </a:xfrm>
          <a:prstGeom prst="roundRect">
            <a:avLst>
              <a:gd name="adj" fmla="val 6857"/>
            </a:avLst>
          </a:prstGeom>
          <a:solidFill>
            <a:schemeClr val="accent3"/>
          </a:solidFill>
          <a:ln/>
        </p:spPr>
      </p:sp>
      <p:sp>
        <p:nvSpPr>
          <p:cNvPr id="18" name="dot-66"/>
          <p:cNvSpPr txBox="1"/>
          <p:nvPr/>
        </p:nvSpPr>
        <p:spPr>
          <a:xfrm>
            <a:off x="6524244" y="4709160"/>
            <a:ext cx="420624" cy="420624"/>
          </a:xfrm>
          <a:prstGeom prst="ellipse">
            <a:avLst/>
          </a:prstGeom>
          <a:solidFill>
            <a:schemeClr val="accent4"/>
          </a:solidFill>
          <a:ln/>
        </p:spPr>
        <p:txBody>
          <a:bodyPr wrap="square" lIns="0" tIns="0" rIns="0" bIns="0" rtlCol="0" anchor="ctr"/>
          <a:lstStyle/>
          <a:p>
            <a:pPr algn="ctr" indent="0" marL="0">
              <a:buNone/>
            </a:pPr>
            <a:r>
              <a:rPr lang="en-US" sz="1400" b="1" dirty="0">
                <a:solidFill>
                  <a:schemeClr val="tx1"/>
                </a:solidFill>
              </a:rPr>
              <a:t>4</a:t>
            </a:r>
            <a:endParaRPr lang="en-US" sz="1400" dirty="0"/>
          </a:p>
        </p:txBody>
      </p:sp>
      <p:sp>
        <p:nvSpPr>
          <p:cNvPr id="19" name="text-67"/>
          <p:cNvSpPr txBox="1"/>
          <p:nvPr/>
        </p:nvSpPr>
        <p:spPr>
          <a:xfrm>
            <a:off x="7118604" y="4709160"/>
            <a:ext cx="4297680" cy="420624"/>
          </a:xfrm>
          <a:prstGeom prst="rect">
            <a:avLst/>
          </a:prstGeom>
          <a:noFill/>
          <a:ln/>
        </p:spPr>
        <p:txBody>
          <a:bodyPr wrap="square" lIns="0" tIns="0" rIns="0" bIns="0" rtlCol="0" anchor="ctr"/>
          <a:lstStyle/>
          <a:p>
            <a:pPr indent="0" marL="0">
              <a:buNone/>
            </a:pPr>
            <a:r>
              <a:rPr lang="en-US" sz="1700" b="1" dirty="0">
                <a:solidFill>
                  <a:schemeClr val="bg1"/>
                </a:solidFill>
              </a:rPr>
              <a:t>RQ4 · Compute break-even</a:t>
            </a:r>
            <a:endParaRPr lang="en-US" sz="1700" dirty="0"/>
          </a:p>
        </p:txBody>
      </p:sp>
      <p:sp>
        <p:nvSpPr>
          <p:cNvPr id="20" name="text-68"/>
          <p:cNvSpPr txBox="1"/>
          <p:nvPr/>
        </p:nvSpPr>
        <p:spPr>
          <a:xfrm>
            <a:off x="7118604" y="5212080"/>
            <a:ext cx="4297680" cy="731520"/>
          </a:xfrm>
          <a:prstGeom prst="rect">
            <a:avLst/>
          </a:prstGeom>
          <a:noFill/>
          <a:ln/>
        </p:spPr>
        <p:txBody>
          <a:bodyPr wrap="square" lIns="0" tIns="0" rIns="0" bIns="0" rtlCol="0" anchor="t"/>
          <a:lstStyle/>
          <a:p>
            <a:pPr indent="0" marL="0">
              <a:buNone/>
            </a:pPr>
            <a:r>
              <a:rPr lang="en-US" sz="1400" dirty="0">
                <a:solidFill>
                  <a:schemeClr val="accent5"/>
                </a:solidFill>
              </a:rPr>
              <a:t>Does one parameterised PINN pay off when solving many risk scenarios?</a:t>
            </a:r>
            <a:endParaRPr lang="en-US" sz="14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8FA0C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1091672"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06 · METHODOLOGY</a:t>
            </a:r>
            <a:endParaRPr lang="en-US" sz="1200" dirty="0"/>
          </a:p>
        </p:txBody>
      </p:sp>
      <p:sp>
        <p:nvSpPr>
          <p:cNvPr id="3" name="Text 0"/>
          <p:cNvSpPr/>
          <p:nvPr>
            <p:ph idx="101" type="title" hasCustomPrompt="1"/>
          </p:nvPr>
        </p:nvSpPr>
        <p:spPr>
          <a:xfrm>
            <a:off x="548640" y="676656"/>
            <a:ext cx="11091672" cy="640080"/>
          </a:xfrm>
          <a:prstGeom prst="rect">
            <a:avLst/>
          </a:prstGeom>
          <a:noFill/>
          <a:ln/>
        </p:spPr>
        <p:txBody>
          <a:bodyPr wrap="square" lIns="0" tIns="0" rIns="0" bIns="0" rtlCol="0" anchor="t"/>
          <a:lstStyle/>
          <a:p>
            <a:pPr algn="l" indent="0" marL="0">
              <a:buNone/>
            </a:pPr>
            <a:r>
              <a:rPr lang="en-US" sz="3000" b="1" dirty="0">
                <a:solidFill>
                  <a:schemeClr val="tx1"/>
                </a:solidFill>
              </a:rPr>
              <a:t>From returns to a risk forecast</a:t>
            </a:r>
            <a:endParaRPr lang="en-US" sz="3000" dirty="0"/>
          </a:p>
        </p:txBody>
      </p:sp>
      <p:sp>
        <p:nvSpPr>
          <p:cNvPr id="4" name="card-69"/>
          <p:cNvSpPr/>
          <p:nvPr/>
        </p:nvSpPr>
        <p:spPr>
          <a:xfrm>
            <a:off x="548640" y="1737360"/>
            <a:ext cx="1463040" cy="1554480"/>
          </a:xfrm>
          <a:prstGeom prst="roundRect">
            <a:avLst>
              <a:gd name="adj" fmla="val 7500"/>
            </a:avLst>
          </a:prstGeom>
          <a:solidFill>
            <a:schemeClr val="bg2"/>
          </a:solidFill>
          <a:ln/>
        </p:spPr>
      </p:sp>
      <p:sp>
        <p:nvSpPr>
          <p:cNvPr id="5" name="text-70"/>
          <p:cNvSpPr txBox="1"/>
          <p:nvPr/>
        </p:nvSpPr>
        <p:spPr>
          <a:xfrm>
            <a:off x="731520" y="1874520"/>
            <a:ext cx="1097280" cy="274320"/>
          </a:xfrm>
          <a:prstGeom prst="rect">
            <a:avLst/>
          </a:prstGeom>
          <a:noFill/>
          <a:ln/>
        </p:spPr>
        <p:txBody>
          <a:bodyPr wrap="square" lIns="0" tIns="0" rIns="0" bIns="0" rtlCol="0" anchor="t"/>
          <a:lstStyle/>
          <a:p>
            <a:pPr indent="0" marL="0">
              <a:buNone/>
            </a:pPr>
            <a:r>
              <a:rPr lang="en-US" sz="1300" b="1" dirty="0">
                <a:solidFill>
                  <a:schemeClr val="accent1"/>
                </a:solidFill>
              </a:rPr>
              <a:t>1</a:t>
            </a:r>
            <a:endParaRPr lang="en-US" sz="1300" dirty="0"/>
          </a:p>
        </p:txBody>
      </p:sp>
      <p:sp>
        <p:nvSpPr>
          <p:cNvPr id="6" name="text-71"/>
          <p:cNvSpPr txBox="1"/>
          <p:nvPr/>
        </p:nvSpPr>
        <p:spPr>
          <a:xfrm>
            <a:off x="731520" y="2176272"/>
            <a:ext cx="1188720" cy="365760"/>
          </a:xfrm>
          <a:prstGeom prst="rect">
            <a:avLst/>
          </a:prstGeom>
          <a:noFill/>
          <a:ln/>
        </p:spPr>
        <p:txBody>
          <a:bodyPr wrap="square" lIns="0" tIns="0" rIns="0" bIns="0" rtlCol="0" anchor="t"/>
          <a:lstStyle/>
          <a:p>
            <a:pPr indent="0" marL="0">
              <a:buNone/>
            </a:pPr>
            <a:r>
              <a:rPr lang="en-US" sz="1600" b="1" dirty="0">
                <a:solidFill>
                  <a:schemeClr val="tx1"/>
                </a:solidFill>
              </a:rPr>
              <a:t>Data</a:t>
            </a:r>
            <a:endParaRPr lang="en-US" sz="1600" dirty="0"/>
          </a:p>
        </p:txBody>
      </p:sp>
      <p:sp>
        <p:nvSpPr>
          <p:cNvPr id="7" name="text-72"/>
          <p:cNvSpPr txBox="1"/>
          <p:nvPr/>
        </p:nvSpPr>
        <p:spPr>
          <a:xfrm>
            <a:off x="731520" y="2560320"/>
            <a:ext cx="1143000" cy="640080"/>
          </a:xfrm>
          <a:prstGeom prst="rect">
            <a:avLst/>
          </a:prstGeom>
          <a:noFill/>
          <a:ln/>
        </p:spPr>
        <p:txBody>
          <a:bodyPr wrap="square" lIns="0" tIns="0" rIns="0" bIns="0" rtlCol="0" anchor="t"/>
          <a:lstStyle/>
          <a:p>
            <a:pPr indent="0" marL="0">
              <a:buNone/>
            </a:pPr>
            <a:r>
              <a:rPr lang="en-US" sz="1200" dirty="0">
                <a:solidFill>
                  <a:schemeClr val="tx2"/>
                </a:solidFill>
              </a:rPr>
              <a:t>Daily log returns</a:t>
            </a:r>
            <a:endParaRPr lang="en-US" sz="1200" dirty="0"/>
          </a:p>
        </p:txBody>
      </p:sp>
      <p:sp>
        <p:nvSpPr>
          <p:cNvPr id="8" name="arrow-73"/>
          <p:cNvSpPr/>
          <p:nvPr/>
        </p:nvSpPr>
        <p:spPr>
          <a:xfrm>
            <a:off x="2105863" y="2395728"/>
            <a:ext cx="274320" cy="237744"/>
          </a:xfrm>
          <a:prstGeom prst="rightArrow">
            <a:avLst/>
          </a:prstGeom>
          <a:solidFill>
            <a:schemeClr val="accent2"/>
          </a:solidFill>
          <a:ln/>
        </p:spPr>
      </p:sp>
      <p:sp>
        <p:nvSpPr>
          <p:cNvPr id="9" name="card-74"/>
          <p:cNvSpPr/>
          <p:nvPr/>
        </p:nvSpPr>
        <p:spPr>
          <a:xfrm>
            <a:off x="2474366" y="1737360"/>
            <a:ext cx="1463040" cy="1554480"/>
          </a:xfrm>
          <a:prstGeom prst="roundRect">
            <a:avLst>
              <a:gd name="adj" fmla="val 7500"/>
            </a:avLst>
          </a:prstGeom>
          <a:solidFill>
            <a:schemeClr val="bg2"/>
          </a:solidFill>
          <a:ln/>
        </p:spPr>
      </p:sp>
      <p:sp>
        <p:nvSpPr>
          <p:cNvPr id="10" name="text-75"/>
          <p:cNvSpPr txBox="1"/>
          <p:nvPr/>
        </p:nvSpPr>
        <p:spPr>
          <a:xfrm>
            <a:off x="2657246" y="1874520"/>
            <a:ext cx="1097280" cy="274320"/>
          </a:xfrm>
          <a:prstGeom prst="rect">
            <a:avLst/>
          </a:prstGeom>
          <a:noFill/>
          <a:ln/>
        </p:spPr>
        <p:txBody>
          <a:bodyPr wrap="square" lIns="0" tIns="0" rIns="0" bIns="0" rtlCol="0" anchor="t"/>
          <a:lstStyle/>
          <a:p>
            <a:pPr indent="0" marL="0">
              <a:buNone/>
            </a:pPr>
            <a:r>
              <a:rPr lang="en-US" sz="1300" b="1" dirty="0">
                <a:solidFill>
                  <a:schemeClr val="accent1"/>
                </a:solidFill>
              </a:rPr>
              <a:t>2</a:t>
            </a:r>
            <a:endParaRPr lang="en-US" sz="1300" dirty="0"/>
          </a:p>
        </p:txBody>
      </p:sp>
      <p:sp>
        <p:nvSpPr>
          <p:cNvPr id="11" name="text-76"/>
          <p:cNvSpPr txBox="1"/>
          <p:nvPr/>
        </p:nvSpPr>
        <p:spPr>
          <a:xfrm>
            <a:off x="2657246" y="2176272"/>
            <a:ext cx="1188720" cy="365760"/>
          </a:xfrm>
          <a:prstGeom prst="rect">
            <a:avLst/>
          </a:prstGeom>
          <a:noFill/>
          <a:ln/>
        </p:spPr>
        <p:txBody>
          <a:bodyPr wrap="square" lIns="0" tIns="0" rIns="0" bIns="0" rtlCol="0" anchor="t"/>
          <a:lstStyle/>
          <a:p>
            <a:pPr indent="0" marL="0">
              <a:buNone/>
            </a:pPr>
            <a:r>
              <a:rPr lang="en-US" sz="1600" b="1" dirty="0">
                <a:solidFill>
                  <a:schemeClr val="tx1"/>
                </a:solidFill>
              </a:rPr>
              <a:t>Calibrate</a:t>
            </a:r>
            <a:endParaRPr lang="en-US" sz="1600" dirty="0"/>
          </a:p>
        </p:txBody>
      </p:sp>
      <p:sp>
        <p:nvSpPr>
          <p:cNvPr id="12" name="text-77"/>
          <p:cNvSpPr txBox="1"/>
          <p:nvPr/>
        </p:nvSpPr>
        <p:spPr>
          <a:xfrm>
            <a:off x="2657246" y="2560320"/>
            <a:ext cx="1143000" cy="640080"/>
          </a:xfrm>
          <a:prstGeom prst="rect">
            <a:avLst/>
          </a:prstGeom>
          <a:noFill/>
          <a:ln/>
        </p:spPr>
        <p:txBody>
          <a:bodyPr wrap="square" lIns="0" tIns="0" rIns="0" bIns="0" rtlCol="0" anchor="t"/>
          <a:lstStyle/>
          <a:p>
            <a:pPr indent="0" marL="0">
              <a:buNone/>
            </a:pPr>
            <a:r>
              <a:rPr lang="en-US" sz="1200" dirty="0">
                <a:solidFill>
                  <a:schemeClr val="tx2"/>
                </a:solidFill>
              </a:rPr>
              <a:t>Fit a, σ, λ, f_Y</a:t>
            </a:r>
            <a:endParaRPr lang="en-US" sz="1200" dirty="0"/>
          </a:p>
        </p:txBody>
      </p:sp>
      <p:sp>
        <p:nvSpPr>
          <p:cNvPr id="13" name="arrow-78"/>
          <p:cNvSpPr/>
          <p:nvPr/>
        </p:nvSpPr>
        <p:spPr>
          <a:xfrm>
            <a:off x="4031590" y="2395728"/>
            <a:ext cx="274320" cy="237744"/>
          </a:xfrm>
          <a:prstGeom prst="rightArrow">
            <a:avLst/>
          </a:prstGeom>
          <a:solidFill>
            <a:schemeClr val="accent2"/>
          </a:solidFill>
          <a:ln/>
        </p:spPr>
      </p:sp>
      <p:sp>
        <p:nvSpPr>
          <p:cNvPr id="14" name="card-79"/>
          <p:cNvSpPr/>
          <p:nvPr/>
        </p:nvSpPr>
        <p:spPr>
          <a:xfrm>
            <a:off x="4400093" y="1737360"/>
            <a:ext cx="1463040" cy="1554480"/>
          </a:xfrm>
          <a:prstGeom prst="roundRect">
            <a:avLst>
              <a:gd name="adj" fmla="val 7500"/>
            </a:avLst>
          </a:prstGeom>
          <a:solidFill>
            <a:schemeClr val="bg2"/>
          </a:solidFill>
          <a:ln/>
        </p:spPr>
      </p:sp>
      <p:sp>
        <p:nvSpPr>
          <p:cNvPr id="15" name="text-80"/>
          <p:cNvSpPr txBox="1"/>
          <p:nvPr/>
        </p:nvSpPr>
        <p:spPr>
          <a:xfrm>
            <a:off x="4582973" y="1874520"/>
            <a:ext cx="1097280" cy="274320"/>
          </a:xfrm>
          <a:prstGeom prst="rect">
            <a:avLst/>
          </a:prstGeom>
          <a:noFill/>
          <a:ln/>
        </p:spPr>
        <p:txBody>
          <a:bodyPr wrap="square" lIns="0" tIns="0" rIns="0" bIns="0" rtlCol="0" anchor="t"/>
          <a:lstStyle/>
          <a:p>
            <a:pPr indent="0" marL="0">
              <a:buNone/>
            </a:pPr>
            <a:r>
              <a:rPr lang="en-US" sz="1300" b="1" dirty="0">
                <a:solidFill>
                  <a:schemeClr val="accent1"/>
                </a:solidFill>
              </a:rPr>
              <a:t>3</a:t>
            </a:r>
            <a:endParaRPr lang="en-US" sz="1300" dirty="0"/>
          </a:p>
        </p:txBody>
      </p:sp>
      <p:sp>
        <p:nvSpPr>
          <p:cNvPr id="16" name="text-81"/>
          <p:cNvSpPr txBox="1"/>
          <p:nvPr/>
        </p:nvSpPr>
        <p:spPr>
          <a:xfrm>
            <a:off x="4582973" y="2176272"/>
            <a:ext cx="1188720" cy="365760"/>
          </a:xfrm>
          <a:prstGeom prst="rect">
            <a:avLst/>
          </a:prstGeom>
          <a:noFill/>
          <a:ln/>
        </p:spPr>
        <p:txBody>
          <a:bodyPr wrap="square" lIns="0" tIns="0" rIns="0" bIns="0" rtlCol="0" anchor="t"/>
          <a:lstStyle/>
          <a:p>
            <a:pPr indent="0" marL="0">
              <a:buNone/>
            </a:pPr>
            <a:r>
              <a:rPr lang="en-US" sz="1600" b="1" dirty="0">
                <a:solidFill>
                  <a:schemeClr val="tx1"/>
                </a:solidFill>
              </a:rPr>
              <a:t>Equation</a:t>
            </a:r>
            <a:endParaRPr lang="en-US" sz="1600" dirty="0"/>
          </a:p>
        </p:txBody>
      </p:sp>
      <p:sp>
        <p:nvSpPr>
          <p:cNvPr id="17" name="text-82"/>
          <p:cNvSpPr txBox="1"/>
          <p:nvPr/>
        </p:nvSpPr>
        <p:spPr>
          <a:xfrm>
            <a:off x="4582973" y="2560320"/>
            <a:ext cx="1143000" cy="640080"/>
          </a:xfrm>
          <a:prstGeom prst="rect">
            <a:avLst/>
          </a:prstGeom>
          <a:noFill/>
          <a:ln/>
        </p:spPr>
        <p:txBody>
          <a:bodyPr wrap="square" lIns="0" tIns="0" rIns="0" bIns="0" rtlCol="0" anchor="t"/>
          <a:lstStyle/>
          <a:p>
            <a:pPr indent="0" marL="0">
              <a:buNone/>
            </a:pPr>
            <a:r>
              <a:rPr lang="en-US" sz="1200" dirty="0">
                <a:solidFill>
                  <a:schemeClr val="tx2"/>
                </a:solidFill>
              </a:rPr>
              <a:t>Forward PIDE</a:t>
            </a:r>
            <a:endParaRPr lang="en-US" sz="1200" dirty="0"/>
          </a:p>
        </p:txBody>
      </p:sp>
      <p:sp>
        <p:nvSpPr>
          <p:cNvPr id="18" name="arrow-83"/>
          <p:cNvSpPr/>
          <p:nvPr/>
        </p:nvSpPr>
        <p:spPr>
          <a:xfrm>
            <a:off x="5957316" y="2395728"/>
            <a:ext cx="274320" cy="237744"/>
          </a:xfrm>
          <a:prstGeom prst="rightArrow">
            <a:avLst/>
          </a:prstGeom>
          <a:solidFill>
            <a:schemeClr val="accent2"/>
          </a:solidFill>
          <a:ln/>
        </p:spPr>
      </p:sp>
      <p:sp>
        <p:nvSpPr>
          <p:cNvPr id="19" name="card-84"/>
          <p:cNvSpPr/>
          <p:nvPr/>
        </p:nvSpPr>
        <p:spPr>
          <a:xfrm>
            <a:off x="6325819" y="1737360"/>
            <a:ext cx="1463040" cy="1554480"/>
          </a:xfrm>
          <a:prstGeom prst="roundRect">
            <a:avLst>
              <a:gd name="adj" fmla="val 7500"/>
            </a:avLst>
          </a:prstGeom>
          <a:solidFill>
            <a:schemeClr val="tx1"/>
          </a:solidFill>
          <a:ln/>
        </p:spPr>
      </p:sp>
      <p:sp>
        <p:nvSpPr>
          <p:cNvPr id="20" name="text-85"/>
          <p:cNvSpPr txBox="1"/>
          <p:nvPr/>
        </p:nvSpPr>
        <p:spPr>
          <a:xfrm>
            <a:off x="6508699" y="1874520"/>
            <a:ext cx="1097280" cy="274320"/>
          </a:xfrm>
          <a:prstGeom prst="rect">
            <a:avLst/>
          </a:prstGeom>
          <a:noFill/>
          <a:ln/>
        </p:spPr>
        <p:txBody>
          <a:bodyPr wrap="square" lIns="0" tIns="0" rIns="0" bIns="0" rtlCol="0" anchor="t"/>
          <a:lstStyle/>
          <a:p>
            <a:pPr indent="0" marL="0">
              <a:buNone/>
            </a:pPr>
            <a:r>
              <a:rPr lang="en-US" sz="1300" b="1" dirty="0">
                <a:solidFill>
                  <a:schemeClr val="accent4"/>
                </a:solidFill>
              </a:rPr>
              <a:t>4</a:t>
            </a:r>
            <a:endParaRPr lang="en-US" sz="1300" dirty="0"/>
          </a:p>
        </p:txBody>
      </p:sp>
      <p:sp>
        <p:nvSpPr>
          <p:cNvPr id="21" name="text-86"/>
          <p:cNvSpPr txBox="1"/>
          <p:nvPr/>
        </p:nvSpPr>
        <p:spPr>
          <a:xfrm>
            <a:off x="6508699" y="2176272"/>
            <a:ext cx="1188720" cy="365760"/>
          </a:xfrm>
          <a:prstGeom prst="rect">
            <a:avLst/>
          </a:prstGeom>
          <a:noFill/>
          <a:ln/>
        </p:spPr>
        <p:txBody>
          <a:bodyPr wrap="square" lIns="0" tIns="0" rIns="0" bIns="0" rtlCol="0" anchor="t"/>
          <a:lstStyle/>
          <a:p>
            <a:pPr indent="0" marL="0">
              <a:buNone/>
            </a:pPr>
            <a:r>
              <a:rPr lang="en-US" sz="1600" b="1" dirty="0">
                <a:solidFill>
                  <a:schemeClr val="bg1"/>
                </a:solidFill>
              </a:rPr>
              <a:t>PINN</a:t>
            </a:r>
            <a:endParaRPr lang="en-US" sz="1600" dirty="0"/>
          </a:p>
        </p:txBody>
      </p:sp>
      <p:sp>
        <p:nvSpPr>
          <p:cNvPr id="22" name="text-87"/>
          <p:cNvSpPr txBox="1"/>
          <p:nvPr/>
        </p:nvSpPr>
        <p:spPr>
          <a:xfrm>
            <a:off x="6508699" y="2560320"/>
            <a:ext cx="1143000" cy="640080"/>
          </a:xfrm>
          <a:prstGeom prst="rect">
            <a:avLst/>
          </a:prstGeom>
          <a:noFill/>
          <a:ln/>
        </p:spPr>
        <p:txBody>
          <a:bodyPr wrap="square" lIns="0" tIns="0" rIns="0" bIns="0" rtlCol="0" anchor="t"/>
          <a:lstStyle/>
          <a:p>
            <a:pPr indent="0" marL="0">
              <a:buNone/>
            </a:pPr>
            <a:r>
              <a:rPr lang="en-US" sz="1200" dirty="0">
                <a:solidFill>
                  <a:schemeClr val="accent5"/>
                </a:solidFill>
              </a:rPr>
              <a:t>Learns p(x, t)</a:t>
            </a:r>
            <a:endParaRPr lang="en-US" sz="1200" dirty="0"/>
          </a:p>
        </p:txBody>
      </p:sp>
      <p:sp>
        <p:nvSpPr>
          <p:cNvPr id="23" name="arrow-88"/>
          <p:cNvSpPr/>
          <p:nvPr/>
        </p:nvSpPr>
        <p:spPr>
          <a:xfrm>
            <a:off x="7883042" y="2395728"/>
            <a:ext cx="274320" cy="237744"/>
          </a:xfrm>
          <a:prstGeom prst="rightArrow">
            <a:avLst/>
          </a:prstGeom>
          <a:solidFill>
            <a:schemeClr val="accent2"/>
          </a:solidFill>
          <a:ln/>
        </p:spPr>
      </p:sp>
      <p:sp>
        <p:nvSpPr>
          <p:cNvPr id="24" name="card-89"/>
          <p:cNvSpPr/>
          <p:nvPr/>
        </p:nvSpPr>
        <p:spPr>
          <a:xfrm>
            <a:off x="8251546" y="1737360"/>
            <a:ext cx="1463040" cy="1554480"/>
          </a:xfrm>
          <a:prstGeom prst="roundRect">
            <a:avLst>
              <a:gd name="adj" fmla="val 7500"/>
            </a:avLst>
          </a:prstGeom>
          <a:solidFill>
            <a:schemeClr val="bg2"/>
          </a:solidFill>
          <a:ln/>
        </p:spPr>
      </p:sp>
      <p:sp>
        <p:nvSpPr>
          <p:cNvPr id="25" name="text-90"/>
          <p:cNvSpPr txBox="1"/>
          <p:nvPr/>
        </p:nvSpPr>
        <p:spPr>
          <a:xfrm>
            <a:off x="8434426" y="1874520"/>
            <a:ext cx="1097280" cy="274320"/>
          </a:xfrm>
          <a:prstGeom prst="rect">
            <a:avLst/>
          </a:prstGeom>
          <a:noFill/>
          <a:ln/>
        </p:spPr>
        <p:txBody>
          <a:bodyPr wrap="square" lIns="0" tIns="0" rIns="0" bIns="0" rtlCol="0" anchor="t"/>
          <a:lstStyle/>
          <a:p>
            <a:pPr indent="0" marL="0">
              <a:buNone/>
            </a:pPr>
            <a:r>
              <a:rPr lang="en-US" sz="1300" b="1" dirty="0">
                <a:solidFill>
                  <a:schemeClr val="accent1"/>
                </a:solidFill>
              </a:rPr>
              <a:t>5</a:t>
            </a:r>
            <a:endParaRPr lang="en-US" sz="1300" dirty="0"/>
          </a:p>
        </p:txBody>
      </p:sp>
      <p:sp>
        <p:nvSpPr>
          <p:cNvPr id="26" name="text-91"/>
          <p:cNvSpPr txBox="1"/>
          <p:nvPr/>
        </p:nvSpPr>
        <p:spPr>
          <a:xfrm>
            <a:off x="8434426" y="2176272"/>
            <a:ext cx="1188720" cy="365760"/>
          </a:xfrm>
          <a:prstGeom prst="rect">
            <a:avLst/>
          </a:prstGeom>
          <a:noFill/>
          <a:ln/>
        </p:spPr>
        <p:txBody>
          <a:bodyPr wrap="square" lIns="0" tIns="0" rIns="0" bIns="0" rtlCol="0" anchor="t"/>
          <a:lstStyle/>
          <a:p>
            <a:pPr indent="0" marL="0">
              <a:buNone/>
            </a:pPr>
            <a:r>
              <a:rPr lang="en-US" sz="1600" b="1" dirty="0">
                <a:solidFill>
                  <a:schemeClr val="tx1"/>
                </a:solidFill>
              </a:rPr>
              <a:t>Risk</a:t>
            </a:r>
            <a:endParaRPr lang="en-US" sz="1600" dirty="0"/>
          </a:p>
        </p:txBody>
      </p:sp>
      <p:sp>
        <p:nvSpPr>
          <p:cNvPr id="27" name="text-92"/>
          <p:cNvSpPr txBox="1"/>
          <p:nvPr/>
        </p:nvSpPr>
        <p:spPr>
          <a:xfrm>
            <a:off x="8434426" y="2560320"/>
            <a:ext cx="1143000" cy="640080"/>
          </a:xfrm>
          <a:prstGeom prst="rect">
            <a:avLst/>
          </a:prstGeom>
          <a:noFill/>
          <a:ln/>
        </p:spPr>
        <p:txBody>
          <a:bodyPr wrap="square" lIns="0" tIns="0" rIns="0" bIns="0" rtlCol="0" anchor="t"/>
          <a:lstStyle/>
          <a:p>
            <a:pPr indent="0" marL="0">
              <a:buNone/>
            </a:pPr>
            <a:r>
              <a:rPr lang="en-US" sz="1200" dirty="0">
                <a:solidFill>
                  <a:schemeClr val="tx2"/>
                </a:solidFill>
              </a:rPr>
              <a:t>VaR and ES from p</a:t>
            </a:r>
            <a:endParaRPr lang="en-US" sz="1200" dirty="0"/>
          </a:p>
        </p:txBody>
      </p:sp>
      <p:sp>
        <p:nvSpPr>
          <p:cNvPr id="28" name="arrow-93"/>
          <p:cNvSpPr/>
          <p:nvPr/>
        </p:nvSpPr>
        <p:spPr>
          <a:xfrm>
            <a:off x="9808769" y="2395728"/>
            <a:ext cx="274320" cy="237744"/>
          </a:xfrm>
          <a:prstGeom prst="rightArrow">
            <a:avLst/>
          </a:prstGeom>
          <a:solidFill>
            <a:schemeClr val="accent2"/>
          </a:solidFill>
          <a:ln/>
        </p:spPr>
      </p:sp>
      <p:sp>
        <p:nvSpPr>
          <p:cNvPr id="29" name="card-94"/>
          <p:cNvSpPr/>
          <p:nvPr/>
        </p:nvSpPr>
        <p:spPr>
          <a:xfrm>
            <a:off x="10177272" y="1737360"/>
            <a:ext cx="1463040" cy="1554480"/>
          </a:xfrm>
          <a:prstGeom prst="roundRect">
            <a:avLst>
              <a:gd name="adj" fmla="val 7500"/>
            </a:avLst>
          </a:prstGeom>
          <a:solidFill>
            <a:schemeClr val="bg2"/>
          </a:solidFill>
          <a:ln/>
        </p:spPr>
      </p:sp>
      <p:sp>
        <p:nvSpPr>
          <p:cNvPr id="30" name="text-95"/>
          <p:cNvSpPr txBox="1"/>
          <p:nvPr/>
        </p:nvSpPr>
        <p:spPr>
          <a:xfrm>
            <a:off x="10360152" y="1874520"/>
            <a:ext cx="1097280" cy="274320"/>
          </a:xfrm>
          <a:prstGeom prst="rect">
            <a:avLst/>
          </a:prstGeom>
          <a:noFill/>
          <a:ln/>
        </p:spPr>
        <p:txBody>
          <a:bodyPr wrap="square" lIns="0" tIns="0" rIns="0" bIns="0" rtlCol="0" anchor="t"/>
          <a:lstStyle/>
          <a:p>
            <a:pPr indent="0" marL="0">
              <a:buNone/>
            </a:pPr>
            <a:r>
              <a:rPr lang="en-US" sz="1300" b="1" dirty="0">
                <a:solidFill>
                  <a:schemeClr val="accent1"/>
                </a:solidFill>
              </a:rPr>
              <a:t>6</a:t>
            </a:r>
            <a:endParaRPr lang="en-US" sz="1300" dirty="0"/>
          </a:p>
        </p:txBody>
      </p:sp>
      <p:sp>
        <p:nvSpPr>
          <p:cNvPr id="31" name="text-96"/>
          <p:cNvSpPr txBox="1"/>
          <p:nvPr/>
        </p:nvSpPr>
        <p:spPr>
          <a:xfrm>
            <a:off x="10360152" y="2176272"/>
            <a:ext cx="1188720" cy="365760"/>
          </a:xfrm>
          <a:prstGeom prst="rect">
            <a:avLst/>
          </a:prstGeom>
          <a:noFill/>
          <a:ln/>
        </p:spPr>
        <p:txBody>
          <a:bodyPr wrap="square" lIns="0" tIns="0" rIns="0" bIns="0" rtlCol="0" anchor="t"/>
          <a:lstStyle/>
          <a:p>
            <a:pPr indent="0" marL="0">
              <a:buNone/>
            </a:pPr>
            <a:r>
              <a:rPr lang="en-US" sz="1600" b="1" dirty="0">
                <a:solidFill>
                  <a:schemeClr val="tx1"/>
                </a:solidFill>
              </a:rPr>
              <a:t>Evaluate</a:t>
            </a:r>
            <a:endParaRPr lang="en-US" sz="1600" dirty="0"/>
          </a:p>
        </p:txBody>
      </p:sp>
      <p:sp>
        <p:nvSpPr>
          <p:cNvPr id="32" name="text-97"/>
          <p:cNvSpPr txBox="1"/>
          <p:nvPr/>
        </p:nvSpPr>
        <p:spPr>
          <a:xfrm>
            <a:off x="10360152" y="2560320"/>
            <a:ext cx="1143000" cy="640080"/>
          </a:xfrm>
          <a:prstGeom prst="rect">
            <a:avLst/>
          </a:prstGeom>
          <a:noFill/>
          <a:ln/>
        </p:spPr>
        <p:txBody>
          <a:bodyPr wrap="square" lIns="0" tIns="0" rIns="0" bIns="0" rtlCol="0" anchor="t"/>
          <a:lstStyle/>
          <a:p>
            <a:pPr indent="0" marL="0">
              <a:buNone/>
            </a:pPr>
            <a:r>
              <a:rPr lang="en-US" sz="1200" dirty="0">
                <a:solidFill>
                  <a:schemeClr val="tx2"/>
                </a:solidFill>
              </a:rPr>
              <a:t>Backtest and compare</a:t>
            </a:r>
            <a:endParaRPr lang="en-US" sz="1200" dirty="0"/>
          </a:p>
        </p:txBody>
      </p:sp>
      <p:sp>
        <p:nvSpPr>
          <p:cNvPr id="33" name="card-98"/>
          <p:cNvSpPr/>
          <p:nvPr/>
        </p:nvSpPr>
        <p:spPr>
          <a:xfrm>
            <a:off x="548640" y="3657600"/>
            <a:ext cx="5394960" cy="1783080"/>
          </a:xfrm>
          <a:prstGeom prst="roundRect">
            <a:avLst>
              <a:gd name="adj" fmla="val 6154"/>
            </a:avLst>
          </a:prstGeom>
          <a:solidFill>
            <a:schemeClr val="bg2"/>
          </a:solidFill>
          <a:ln/>
        </p:spPr>
      </p:sp>
      <p:sp>
        <p:nvSpPr>
          <p:cNvPr id="34" name="dot-99"/>
          <p:cNvSpPr txBox="1"/>
          <p:nvPr/>
        </p:nvSpPr>
        <p:spPr>
          <a:xfrm>
            <a:off x="868680" y="3931920"/>
            <a:ext cx="420624" cy="420624"/>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A</a:t>
            </a:r>
            <a:endParaRPr lang="en-US" sz="1400" dirty="0"/>
          </a:p>
        </p:txBody>
      </p:sp>
      <p:sp>
        <p:nvSpPr>
          <p:cNvPr id="35" name="text-100"/>
          <p:cNvSpPr txBox="1"/>
          <p:nvPr/>
        </p:nvSpPr>
        <p:spPr>
          <a:xfrm>
            <a:off x="1463040" y="3931920"/>
            <a:ext cx="4206240" cy="420624"/>
          </a:xfrm>
          <a:prstGeom prst="rect">
            <a:avLst/>
          </a:prstGeom>
          <a:noFill/>
          <a:ln/>
        </p:spPr>
        <p:txBody>
          <a:bodyPr wrap="square" lIns="0" tIns="0" rIns="0" bIns="0" rtlCol="0" anchor="ctr"/>
          <a:lstStyle/>
          <a:p>
            <a:pPr indent="0" marL="0">
              <a:buNone/>
            </a:pPr>
            <a:r>
              <a:rPr lang="en-US" sz="1800" b="1" dirty="0">
                <a:solidFill>
                  <a:schemeClr val="tx1"/>
                </a:solidFill>
              </a:rPr>
              <a:t>Check the maths</a:t>
            </a:r>
            <a:endParaRPr lang="en-US" sz="1800" dirty="0"/>
          </a:p>
        </p:txBody>
      </p:sp>
      <p:sp>
        <p:nvSpPr>
          <p:cNvPr id="36" name="text-101"/>
          <p:cNvSpPr txBox="1"/>
          <p:nvPr/>
        </p:nvSpPr>
        <p:spPr>
          <a:xfrm>
            <a:off x="1463040" y="4480560"/>
            <a:ext cx="4206240" cy="1097280"/>
          </a:xfrm>
          <a:prstGeom prst="rect">
            <a:avLst/>
          </a:prstGeom>
          <a:noFill/>
          <a:ln/>
        </p:spPr>
        <p:txBody>
          <a:bodyPr wrap="square" lIns="0" tIns="0" rIns="0" bIns="0" rtlCol="0" anchor="t"/>
          <a:lstStyle/>
          <a:p>
            <a:pPr indent="0" marL="0">
              <a:buNone/>
            </a:pPr>
            <a:r>
              <a:rPr lang="en-US" sz="1500" dirty="0">
                <a:solidFill>
                  <a:schemeClr val="tx2"/>
                </a:solidFill>
              </a:rPr>
              <a:t>Compare the PINN density with the Merton closed form and a finite-difference solver of the same PIDE.</a:t>
            </a:r>
            <a:endParaRPr lang="en-US" sz="1500" dirty="0"/>
          </a:p>
        </p:txBody>
      </p:sp>
      <p:sp>
        <p:nvSpPr>
          <p:cNvPr id="37" name="card-102"/>
          <p:cNvSpPr/>
          <p:nvPr/>
        </p:nvSpPr>
        <p:spPr>
          <a:xfrm>
            <a:off x="6249924" y="3657600"/>
            <a:ext cx="5394960" cy="1783080"/>
          </a:xfrm>
          <a:prstGeom prst="roundRect">
            <a:avLst>
              <a:gd name="adj" fmla="val 6154"/>
            </a:avLst>
          </a:prstGeom>
          <a:solidFill>
            <a:schemeClr val="bg2"/>
          </a:solidFill>
          <a:ln/>
        </p:spPr>
      </p:sp>
      <p:sp>
        <p:nvSpPr>
          <p:cNvPr id="38" name="dot-103"/>
          <p:cNvSpPr txBox="1"/>
          <p:nvPr/>
        </p:nvSpPr>
        <p:spPr>
          <a:xfrm>
            <a:off x="6569964" y="3931920"/>
            <a:ext cx="420624" cy="420624"/>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B</a:t>
            </a:r>
            <a:endParaRPr lang="en-US" sz="1400" dirty="0"/>
          </a:p>
        </p:txBody>
      </p:sp>
      <p:sp>
        <p:nvSpPr>
          <p:cNvPr id="39" name="text-104"/>
          <p:cNvSpPr txBox="1"/>
          <p:nvPr/>
        </p:nvSpPr>
        <p:spPr>
          <a:xfrm>
            <a:off x="7164324" y="3931920"/>
            <a:ext cx="4206240" cy="420624"/>
          </a:xfrm>
          <a:prstGeom prst="rect">
            <a:avLst/>
          </a:prstGeom>
          <a:noFill/>
          <a:ln/>
        </p:spPr>
        <p:txBody>
          <a:bodyPr wrap="square" lIns="0" tIns="0" rIns="0" bIns="0" rtlCol="0" anchor="ctr"/>
          <a:lstStyle/>
          <a:p>
            <a:pPr indent="0" marL="0">
              <a:buNone/>
            </a:pPr>
            <a:r>
              <a:rPr lang="en-US" sz="1800" b="1" dirty="0">
                <a:solidFill>
                  <a:schemeClr val="tx1"/>
                </a:solidFill>
              </a:rPr>
              <a:t>Check the finance</a:t>
            </a:r>
            <a:endParaRPr lang="en-US" sz="1800" dirty="0"/>
          </a:p>
        </p:txBody>
      </p:sp>
      <p:sp>
        <p:nvSpPr>
          <p:cNvPr id="40" name="text-105"/>
          <p:cNvSpPr txBox="1"/>
          <p:nvPr/>
        </p:nvSpPr>
        <p:spPr>
          <a:xfrm>
            <a:off x="7164324" y="4480560"/>
            <a:ext cx="4206240" cy="1097280"/>
          </a:xfrm>
          <a:prstGeom prst="rect">
            <a:avLst/>
          </a:prstGeom>
          <a:noFill/>
          <a:ln/>
        </p:spPr>
        <p:txBody>
          <a:bodyPr wrap="square" lIns="0" tIns="0" rIns="0" bIns="0" rtlCol="0" anchor="t"/>
          <a:lstStyle/>
          <a:p>
            <a:pPr indent="0" marL="0">
              <a:buNone/>
            </a:pPr>
            <a:r>
              <a:rPr lang="en-US" sz="1500" dirty="0">
                <a:solidFill>
                  <a:schemeClr val="tx2"/>
                </a:solidFill>
              </a:rPr>
              <a:t>Compare its VaR and ES forecasts with Gaussian, historical simulation, GARCH-t and EVT.</a:t>
            </a:r>
            <a:endParaRPr lang="en-US" sz="15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1091672"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07 · PINN DESIGN</a:t>
            </a:r>
            <a:endParaRPr lang="en-US" sz="1200" dirty="0"/>
          </a:p>
        </p:txBody>
      </p:sp>
      <p:sp>
        <p:nvSpPr>
          <p:cNvPr id="3" name="Text 0"/>
          <p:cNvSpPr/>
          <p:nvPr>
            <p:ph idx="101" type="title" hasCustomPrompt="1"/>
          </p:nvPr>
        </p:nvSpPr>
        <p:spPr>
          <a:xfrm>
            <a:off x="548640" y="676656"/>
            <a:ext cx="11091672" cy="640080"/>
          </a:xfrm>
          <a:prstGeom prst="rect">
            <a:avLst/>
          </a:prstGeom>
          <a:noFill/>
          <a:ln/>
        </p:spPr>
        <p:txBody>
          <a:bodyPr wrap="square" lIns="0" tIns="0" rIns="0" bIns="0" rtlCol="0" anchor="t"/>
          <a:lstStyle/>
          <a:p>
            <a:pPr algn="l" indent="0" marL="0">
              <a:buNone/>
            </a:pPr>
            <a:r>
              <a:rPr lang="en-US" sz="3000" b="1" dirty="0">
                <a:solidFill>
                  <a:schemeClr val="tx1"/>
                </a:solidFill>
              </a:rPr>
              <a:t>Designing the network for the tail</a:t>
            </a:r>
            <a:endParaRPr lang="en-US" sz="3000" dirty="0"/>
          </a:p>
        </p:txBody>
      </p:sp>
      <p:sp>
        <p:nvSpPr>
          <p:cNvPr id="4" name="card-106"/>
          <p:cNvSpPr/>
          <p:nvPr/>
        </p:nvSpPr>
        <p:spPr>
          <a:xfrm>
            <a:off x="548640" y="1691640"/>
            <a:ext cx="4937760" cy="4343400"/>
          </a:xfrm>
          <a:prstGeom prst="roundRect">
            <a:avLst>
              <a:gd name="adj" fmla="val 2526"/>
            </a:avLst>
          </a:prstGeom>
          <a:solidFill>
            <a:schemeClr val="tx1"/>
          </a:solidFill>
          <a:ln/>
        </p:spPr>
      </p:sp>
      <p:sp>
        <p:nvSpPr>
          <p:cNvPr id="5" name="text-107"/>
          <p:cNvSpPr txBox="1"/>
          <p:nvPr/>
        </p:nvSpPr>
        <p:spPr>
          <a:xfrm>
            <a:off x="868680" y="1920240"/>
            <a:ext cx="4297680" cy="365760"/>
          </a:xfrm>
          <a:prstGeom prst="rect">
            <a:avLst/>
          </a:prstGeom>
          <a:noFill/>
          <a:ln/>
        </p:spPr>
        <p:txBody>
          <a:bodyPr wrap="square" lIns="0" tIns="0" rIns="0" bIns="0" rtlCol="0" anchor="t"/>
          <a:lstStyle/>
          <a:p>
            <a:pPr indent="0" marL="0">
              <a:buNone/>
            </a:pPr>
            <a:r>
              <a:rPr lang="en-US" sz="1800" b="1" dirty="0">
                <a:solidFill>
                  <a:schemeClr val="bg1"/>
                </a:solidFill>
              </a:rPr>
              <a:t>Network and loss</a:t>
            </a:r>
            <a:endParaRPr lang="en-US" sz="1800" dirty="0"/>
          </a:p>
        </p:txBody>
      </p:sp>
      <p:sp>
        <p:nvSpPr>
          <p:cNvPr id="6" name="text-108"/>
          <p:cNvSpPr txBox="1"/>
          <p:nvPr/>
        </p:nvSpPr>
        <p:spPr>
          <a:xfrm>
            <a:off x="868680" y="2423160"/>
            <a:ext cx="4297680" cy="365760"/>
          </a:xfrm>
          <a:prstGeom prst="rect">
            <a:avLst/>
          </a:prstGeom>
          <a:noFill/>
          <a:ln/>
        </p:spPr>
        <p:txBody>
          <a:bodyPr wrap="square" lIns="0" tIns="0" rIns="0" bIns="0" rtlCol="0" anchor="t"/>
          <a:lstStyle/>
          <a:p>
            <a:pPr indent="0" marL="0">
              <a:buNone/>
            </a:pPr>
            <a:r>
              <a:rPr lang="en-US" sz="1500" dirty="0">
                <a:solidFill>
                  <a:schemeClr val="accent5"/>
                </a:solidFill>
              </a:rPr>
              <a:t>Input (x, t, θ)  →  MLP  →  log p(x, t; θ)</a:t>
            </a:r>
            <a:endParaRPr lang="en-US" sz="1500" dirty="0"/>
          </a:p>
        </p:txBody>
      </p:sp>
      <p:sp>
        <p:nvSpPr>
          <p:cNvPr id="7" name="text-109"/>
          <p:cNvSpPr txBox="1"/>
          <p:nvPr/>
        </p:nvSpPr>
        <p:spPr>
          <a:xfrm>
            <a:off x="868680" y="2926080"/>
            <a:ext cx="4297680" cy="457200"/>
          </a:xfrm>
          <a:prstGeom prst="rect">
            <a:avLst/>
          </a:prstGeom>
          <a:noFill/>
          <a:ln/>
        </p:spPr>
        <p:txBody>
          <a:bodyPr wrap="square" lIns="0" tIns="0" rIns="0" bIns="0" rtlCol="0" anchor="t"/>
          <a:lstStyle/>
          <a:p>
            <a:pPr indent="0" marL="0">
              <a:buNone/>
            </a:pPr>
            <a:r>
              <a:rPr lang="en-US" sz="1700" i="1" dirty="0">
                <a:solidFill>
                  <a:schemeClr val="bg1"/>
                </a:solidFill>
                <a:latin typeface="+mj-lt" pitchFamily="34" charset="0"/>
                <a:ea typeface="+mj-lt" pitchFamily="34" charset="-122"/>
                <a:cs typeface="+mj-lt" pitchFamily="34" charset="-120"/>
              </a:rPr>
              <a:t>L = L_PIDE + L_initial + L_boundary + L_norm</a:t>
            </a:r>
            <a:endParaRPr lang="en-US" sz="1700" dirty="0"/>
          </a:p>
        </p:txBody>
      </p:sp>
      <p:sp>
        <p:nvSpPr>
          <p:cNvPr id="8" name="text-110"/>
          <p:cNvSpPr txBox="1"/>
          <p:nvPr/>
        </p:nvSpPr>
        <p:spPr>
          <a:xfrm>
            <a:off x="868680" y="3611880"/>
            <a:ext cx="4297680" cy="2194560"/>
          </a:xfrm>
          <a:prstGeom prst="rect">
            <a:avLst/>
          </a:prstGeom>
          <a:noFill/>
          <a:ln/>
        </p:spPr>
        <p:txBody>
          <a:bodyPr wrap="square" lIns="0" tIns="0" rIns="0" bIns="0" rtlCol="0" anchor="t"/>
          <a:lstStyle/>
          <a:p>
            <a:pPr indent="0" marL="0">
              <a:spcAft>
                <a:spcPts val="1000"/>
              </a:spcAft>
              <a:buNone/>
            </a:pPr>
            <a:r>
              <a:rPr lang="en-US" sz="1400" dirty="0">
                <a:solidFill>
                  <a:schemeClr val="accent5"/>
                </a:solidFill>
              </a:rPr>
              <a:t>θ = model parameters (σ, λ, jump size), so one trained network covers many scenarios.</a:t>
            </a:r>
            <a:endParaRPr lang="en-US" sz="1400" dirty="0"/>
          </a:p>
          <a:p>
            <a:pPr indent="0" marL="0">
              <a:buNone/>
            </a:pPr>
            <a:r>
              <a:rPr lang="en-US" sz="1400" dirty="0">
                <a:solidFill>
                  <a:schemeClr val="accent5"/>
                </a:solidFill>
              </a:rPr>
              <a:t>PyTorch with automatic differentiation for ∂ₜ, ∂ₓ, ∂ₓₓ.</a:t>
            </a:r>
            <a:endParaRPr lang="en-US" sz="1400" dirty="0"/>
          </a:p>
        </p:txBody>
      </p:sp>
      <p:sp>
        <p:nvSpPr>
          <p:cNvPr id="9" name="text-111"/>
          <p:cNvSpPr txBox="1"/>
          <p:nvPr/>
        </p:nvSpPr>
        <p:spPr>
          <a:xfrm>
            <a:off x="5852160" y="1691640"/>
            <a:ext cx="5760720" cy="365760"/>
          </a:xfrm>
          <a:prstGeom prst="rect">
            <a:avLst/>
          </a:prstGeom>
          <a:noFill/>
          <a:ln/>
        </p:spPr>
        <p:txBody>
          <a:bodyPr wrap="square" lIns="0" tIns="0" rIns="0" bIns="0" rtlCol="0" anchor="t"/>
          <a:lstStyle/>
          <a:p>
            <a:pPr indent="0" marL="0">
              <a:buNone/>
            </a:pPr>
            <a:r>
              <a:rPr lang="en-US" sz="1800" b="1" dirty="0">
                <a:solidFill>
                  <a:schemeClr val="tx1"/>
                </a:solidFill>
              </a:rPr>
              <a:t>Making the tail work</a:t>
            </a:r>
            <a:endParaRPr lang="en-US" sz="1800" dirty="0"/>
          </a:p>
        </p:txBody>
      </p:sp>
      <p:sp>
        <p:nvSpPr>
          <p:cNvPr id="10" name="dot-112"/>
          <p:cNvSpPr txBox="1"/>
          <p:nvPr/>
        </p:nvSpPr>
        <p:spPr>
          <a:xfrm>
            <a:off x="5852160" y="2194560"/>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1" name="text-113"/>
          <p:cNvSpPr txBox="1"/>
          <p:nvPr/>
        </p:nvSpPr>
        <p:spPr>
          <a:xfrm>
            <a:off x="6400800" y="2157984"/>
            <a:ext cx="5239512" cy="685800"/>
          </a:xfrm>
          <a:prstGeom prst="rect">
            <a:avLst/>
          </a:prstGeom>
          <a:noFill/>
          <a:ln/>
        </p:spPr>
        <p:txBody>
          <a:bodyPr wrap="square" lIns="0" tIns="0" rIns="0" bIns="0" rtlCol="0" anchor="t"/>
          <a:lstStyle/>
          <a:p>
            <a:pPr indent="0" marL="0">
              <a:buNone/>
            </a:pPr>
            <a:r>
              <a:rPr lang="en-US" sz="1500" b="1" dirty="0">
                <a:solidFill>
                  <a:schemeClr val="tx1"/>
                </a:solidFill>
              </a:rPr>
              <a:t>Log-density output </a:t>
            </a:r>
            <a:pPr indent="0" marL="0">
              <a:buNone/>
            </a:pPr>
            <a:r>
              <a:rPr lang="en-US" sz="1500" dirty="0">
                <a:solidFill>
                  <a:schemeClr val="tx2"/>
                </a:solidFill>
              </a:rPr>
              <a:t>— keeps p &gt; 0 and resolves tail values of order 10⁻⁴</a:t>
            </a:r>
            <a:endParaRPr lang="en-US" sz="1500" dirty="0"/>
          </a:p>
        </p:txBody>
      </p:sp>
      <p:sp>
        <p:nvSpPr>
          <p:cNvPr id="12" name="dot-114"/>
          <p:cNvSpPr txBox="1"/>
          <p:nvPr/>
        </p:nvSpPr>
        <p:spPr>
          <a:xfrm>
            <a:off x="5852160" y="2962656"/>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3" name="text-115"/>
          <p:cNvSpPr txBox="1"/>
          <p:nvPr/>
        </p:nvSpPr>
        <p:spPr>
          <a:xfrm>
            <a:off x="6400800" y="2926080"/>
            <a:ext cx="5239512" cy="685800"/>
          </a:xfrm>
          <a:prstGeom prst="rect">
            <a:avLst/>
          </a:prstGeom>
          <a:noFill/>
          <a:ln/>
        </p:spPr>
        <p:txBody>
          <a:bodyPr wrap="square" lIns="0" tIns="0" rIns="0" bIns="0" rtlCol="0" anchor="t"/>
          <a:lstStyle/>
          <a:p>
            <a:pPr indent="0" marL="0">
              <a:buNone/>
            </a:pPr>
            <a:r>
              <a:rPr lang="en-US" sz="1500" b="1" dirty="0">
                <a:solidFill>
                  <a:schemeClr val="tx1"/>
                </a:solidFill>
              </a:rPr>
              <a:t>Adaptive tail sampling </a:t>
            </a:r>
            <a:pPr indent="0" marL="0">
              <a:buNone/>
            </a:pPr>
            <a:r>
              <a:rPr lang="en-US" sz="1500" dirty="0">
                <a:solidFill>
                  <a:schemeClr val="tx2"/>
                </a:solidFill>
              </a:rPr>
              <a:t>— puts more collocation points near the 1% quantile</a:t>
            </a:r>
            <a:endParaRPr lang="en-US" sz="1500" dirty="0"/>
          </a:p>
        </p:txBody>
      </p:sp>
      <p:sp>
        <p:nvSpPr>
          <p:cNvPr id="14" name="dot-116"/>
          <p:cNvSpPr txBox="1"/>
          <p:nvPr/>
        </p:nvSpPr>
        <p:spPr>
          <a:xfrm>
            <a:off x="5852160" y="3730752"/>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5" name="text-117"/>
          <p:cNvSpPr txBox="1"/>
          <p:nvPr/>
        </p:nvSpPr>
        <p:spPr>
          <a:xfrm>
            <a:off x="6400800" y="3694176"/>
            <a:ext cx="5239512" cy="685800"/>
          </a:xfrm>
          <a:prstGeom prst="rect">
            <a:avLst/>
          </a:prstGeom>
          <a:noFill/>
          <a:ln/>
        </p:spPr>
        <p:txBody>
          <a:bodyPr wrap="square" lIns="0" tIns="0" rIns="0" bIns="0" rtlCol="0" anchor="t"/>
          <a:lstStyle/>
          <a:p>
            <a:pPr indent="0" marL="0">
              <a:buNone/>
            </a:pPr>
            <a:r>
              <a:rPr lang="en-US" sz="1500" b="1" dirty="0">
                <a:solidFill>
                  <a:schemeClr val="tx1"/>
                </a:solidFill>
              </a:rPr>
              <a:t>Quadrature (Gauss–Hermite) </a:t>
            </a:r>
            <a:pPr indent="0" marL="0">
              <a:buNone/>
            </a:pPr>
            <a:r>
              <a:rPr lang="en-US" sz="1500" dirty="0">
                <a:solidFill>
                  <a:schemeClr val="tx2"/>
                </a:solidFill>
              </a:rPr>
              <a:t>— evaluates the jump integral at each point</a:t>
            </a:r>
            <a:endParaRPr lang="en-US" sz="1500" dirty="0"/>
          </a:p>
        </p:txBody>
      </p:sp>
      <p:sp>
        <p:nvSpPr>
          <p:cNvPr id="16" name="dot-118"/>
          <p:cNvSpPr txBox="1"/>
          <p:nvPr/>
        </p:nvSpPr>
        <p:spPr>
          <a:xfrm>
            <a:off x="5852160" y="4498848"/>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7" name="text-119"/>
          <p:cNvSpPr txBox="1"/>
          <p:nvPr/>
        </p:nvSpPr>
        <p:spPr>
          <a:xfrm>
            <a:off x="6400800" y="4462272"/>
            <a:ext cx="5239512" cy="685800"/>
          </a:xfrm>
          <a:prstGeom prst="rect">
            <a:avLst/>
          </a:prstGeom>
          <a:noFill/>
          <a:ln/>
        </p:spPr>
        <p:txBody>
          <a:bodyPr wrap="square" lIns="0" tIns="0" rIns="0" bIns="0" rtlCol="0" anchor="t"/>
          <a:lstStyle/>
          <a:p>
            <a:pPr indent="0" marL="0">
              <a:buNone/>
            </a:pPr>
            <a:r>
              <a:rPr lang="en-US" sz="1500" b="1" dirty="0">
                <a:solidFill>
                  <a:schemeClr val="tx1"/>
                </a:solidFill>
              </a:rPr>
              <a:t>Start at small t₀ </a:t>
            </a:r>
            <a:pPr indent="0" marL="0">
              <a:buNone/>
            </a:pPr>
            <a:r>
              <a:rPr lang="en-US" sz="1500" dirty="0">
                <a:solidFill>
                  <a:schemeClr val="tx2"/>
                </a:solidFill>
              </a:rPr>
              <a:t>— from the analytic solution, avoiding the Dirac delta at t = 0</a:t>
            </a:r>
            <a:endParaRPr lang="en-US" sz="1500" dirty="0"/>
          </a:p>
        </p:txBody>
      </p:sp>
      <p:sp>
        <p:nvSpPr>
          <p:cNvPr id="18" name="dot-120"/>
          <p:cNvSpPr txBox="1"/>
          <p:nvPr/>
        </p:nvSpPr>
        <p:spPr>
          <a:xfrm>
            <a:off x="5852160" y="5266944"/>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19" name="text-121"/>
          <p:cNvSpPr txBox="1"/>
          <p:nvPr/>
        </p:nvSpPr>
        <p:spPr>
          <a:xfrm>
            <a:off x="6400800" y="5230368"/>
            <a:ext cx="5239512" cy="685800"/>
          </a:xfrm>
          <a:prstGeom prst="rect">
            <a:avLst/>
          </a:prstGeom>
          <a:noFill/>
          <a:ln/>
        </p:spPr>
        <p:txBody>
          <a:bodyPr wrap="square" lIns="0" tIns="0" rIns="0" bIns="0" rtlCol="0" anchor="t"/>
          <a:lstStyle/>
          <a:p>
            <a:pPr indent="0" marL="0">
              <a:buNone/>
            </a:pPr>
            <a:r>
              <a:rPr lang="en-US" sz="1500" b="1" dirty="0">
                <a:solidFill>
                  <a:schemeClr val="tx1"/>
                </a:solidFill>
              </a:rPr>
              <a:t>Normalisation penalty </a:t>
            </a:r>
            <a:pPr indent="0" marL="0">
              <a:buNone/>
            </a:pPr>
            <a:r>
              <a:rPr lang="en-US" sz="1500" dirty="0">
                <a:solidFill>
                  <a:schemeClr val="tx2"/>
                </a:solidFill>
              </a:rPr>
              <a:t>— enforces ∫ p dx = 1</a:t>
            </a:r>
            <a:endParaRPr lang="en-US" sz="15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1091672"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08 · DATA</a:t>
            </a:r>
            <a:endParaRPr lang="en-US" sz="1200" dirty="0"/>
          </a:p>
        </p:txBody>
      </p:sp>
      <p:sp>
        <p:nvSpPr>
          <p:cNvPr id="3" name="Text 0"/>
          <p:cNvSpPr/>
          <p:nvPr>
            <p:ph idx="101" type="title" hasCustomPrompt="1"/>
          </p:nvPr>
        </p:nvSpPr>
        <p:spPr>
          <a:xfrm>
            <a:off x="548640" y="676656"/>
            <a:ext cx="11091672" cy="640080"/>
          </a:xfrm>
          <a:prstGeom prst="rect">
            <a:avLst/>
          </a:prstGeom>
          <a:noFill/>
          <a:ln/>
        </p:spPr>
        <p:txBody>
          <a:bodyPr wrap="square" lIns="0" tIns="0" rIns="0" bIns="0" rtlCol="0" anchor="t"/>
          <a:lstStyle/>
          <a:p>
            <a:pPr algn="l" indent="0" marL="0">
              <a:buNone/>
            </a:pPr>
            <a:r>
              <a:rPr lang="en-US" sz="3000" b="1" dirty="0">
                <a:solidFill>
                  <a:schemeClr val="tx1"/>
                </a:solidFill>
              </a:rPr>
              <a:t>One controlled dataset, two real markets</a:t>
            </a:r>
            <a:endParaRPr lang="en-US" sz="3000" dirty="0"/>
          </a:p>
        </p:txBody>
      </p:sp>
      <p:sp>
        <p:nvSpPr>
          <p:cNvPr id="4" name="card-122"/>
          <p:cNvSpPr/>
          <p:nvPr/>
        </p:nvSpPr>
        <p:spPr>
          <a:xfrm>
            <a:off x="548640" y="1691640"/>
            <a:ext cx="3511296" cy="2514600"/>
          </a:xfrm>
          <a:prstGeom prst="roundRect">
            <a:avLst>
              <a:gd name="adj" fmla="val 4364"/>
            </a:avLst>
          </a:prstGeom>
          <a:solidFill>
            <a:schemeClr val="bg2"/>
          </a:solidFill>
          <a:ln/>
        </p:spPr>
      </p:sp>
      <p:sp>
        <p:nvSpPr>
          <p:cNvPr id="5" name="text-123"/>
          <p:cNvSpPr txBox="1"/>
          <p:nvPr/>
        </p:nvSpPr>
        <p:spPr>
          <a:xfrm>
            <a:off x="822960" y="1920240"/>
            <a:ext cx="3017520" cy="274320"/>
          </a:xfrm>
          <a:prstGeom prst="rect">
            <a:avLst/>
          </a:prstGeom>
          <a:noFill/>
          <a:ln/>
        </p:spPr>
        <p:txBody>
          <a:bodyPr wrap="square" lIns="0" tIns="0" rIns="0" bIns="0" rtlCol="0" anchor="t"/>
          <a:lstStyle/>
          <a:p>
            <a:pPr indent="0" marL="0">
              <a:buNone/>
            </a:pPr>
            <a:r>
              <a:rPr lang="en-US" sz="1200" b="1" spc="100" kern="0" dirty="0">
                <a:solidFill>
                  <a:schemeClr val="accent2"/>
                </a:solidFill>
              </a:rPr>
              <a:t>CONTROLLED</a:t>
            </a:r>
            <a:endParaRPr lang="en-US" sz="1200" dirty="0"/>
          </a:p>
        </p:txBody>
      </p:sp>
      <p:sp>
        <p:nvSpPr>
          <p:cNvPr id="6" name="text-124"/>
          <p:cNvSpPr txBox="1"/>
          <p:nvPr/>
        </p:nvSpPr>
        <p:spPr>
          <a:xfrm>
            <a:off x="822960" y="2240280"/>
            <a:ext cx="3017520" cy="411480"/>
          </a:xfrm>
          <a:prstGeom prst="rect">
            <a:avLst/>
          </a:prstGeom>
          <a:noFill/>
          <a:ln/>
        </p:spPr>
        <p:txBody>
          <a:bodyPr wrap="square" lIns="0" tIns="0" rIns="0" bIns="0" rtlCol="0" anchor="t"/>
          <a:lstStyle/>
          <a:p>
            <a:pPr indent="0" marL="0">
              <a:buNone/>
            </a:pPr>
            <a:r>
              <a:rPr lang="en-US" sz="2000" b="1" dirty="0">
                <a:solidFill>
                  <a:schemeClr val="tx1"/>
                </a:solidFill>
              </a:rPr>
              <a:t>Synthetic</a:t>
            </a:r>
            <a:endParaRPr lang="en-US" sz="2000" dirty="0"/>
          </a:p>
        </p:txBody>
      </p:sp>
      <p:sp>
        <p:nvSpPr>
          <p:cNvPr id="7" name="text-125"/>
          <p:cNvSpPr txBox="1"/>
          <p:nvPr/>
        </p:nvSpPr>
        <p:spPr>
          <a:xfrm>
            <a:off x="822960" y="2743200"/>
            <a:ext cx="3017520" cy="1371600"/>
          </a:xfrm>
          <a:prstGeom prst="rect">
            <a:avLst/>
          </a:prstGeom>
          <a:noFill/>
          <a:ln/>
        </p:spPr>
        <p:txBody>
          <a:bodyPr wrap="square" lIns="0" tIns="0" rIns="0" bIns="0" rtlCol="0" anchor="t"/>
          <a:lstStyle/>
          <a:p>
            <a:pPr indent="0" marL="0">
              <a:buNone/>
            </a:pPr>
            <a:r>
              <a:rPr lang="en-US" sz="1400" dirty="0">
                <a:solidFill>
                  <a:schemeClr val="tx2"/>
                </a:solidFill>
              </a:rPr>
              <a:t>Simulated jump-diffusion with known parameters, so the true VaR and ES are known exactly. Used to vary jump intensity and data size.</a:t>
            </a:r>
            <a:endParaRPr lang="en-US" sz="1400" dirty="0"/>
          </a:p>
        </p:txBody>
      </p:sp>
      <p:sp>
        <p:nvSpPr>
          <p:cNvPr id="8" name="card-126"/>
          <p:cNvSpPr/>
          <p:nvPr/>
        </p:nvSpPr>
        <p:spPr>
          <a:xfrm>
            <a:off x="4338828" y="1691640"/>
            <a:ext cx="3511296" cy="2514600"/>
          </a:xfrm>
          <a:prstGeom prst="roundRect">
            <a:avLst>
              <a:gd name="adj" fmla="val 4364"/>
            </a:avLst>
          </a:prstGeom>
          <a:solidFill>
            <a:schemeClr val="bg2"/>
          </a:solidFill>
          <a:ln/>
        </p:spPr>
      </p:sp>
      <p:sp>
        <p:nvSpPr>
          <p:cNvPr id="9" name="text-127"/>
          <p:cNvSpPr txBox="1"/>
          <p:nvPr/>
        </p:nvSpPr>
        <p:spPr>
          <a:xfrm>
            <a:off x="4613148" y="1920240"/>
            <a:ext cx="3017520"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PRIMARY · INDIA</a:t>
            </a:r>
            <a:endParaRPr lang="en-US" sz="1200" dirty="0"/>
          </a:p>
        </p:txBody>
      </p:sp>
      <p:sp>
        <p:nvSpPr>
          <p:cNvPr id="10" name="text-128"/>
          <p:cNvSpPr txBox="1"/>
          <p:nvPr/>
        </p:nvSpPr>
        <p:spPr>
          <a:xfrm>
            <a:off x="4613148" y="2240280"/>
            <a:ext cx="3017520" cy="411480"/>
          </a:xfrm>
          <a:prstGeom prst="rect">
            <a:avLst/>
          </a:prstGeom>
          <a:noFill/>
          <a:ln/>
        </p:spPr>
        <p:txBody>
          <a:bodyPr wrap="square" lIns="0" tIns="0" rIns="0" bIns="0" rtlCol="0" anchor="t"/>
          <a:lstStyle/>
          <a:p>
            <a:pPr indent="0" marL="0">
              <a:buNone/>
            </a:pPr>
            <a:r>
              <a:rPr lang="en-US" sz="2000" b="1" dirty="0">
                <a:solidFill>
                  <a:schemeClr val="tx1"/>
                </a:solidFill>
              </a:rPr>
              <a:t>NIFTY 50</a:t>
            </a:r>
            <a:endParaRPr lang="en-US" sz="2000" dirty="0"/>
          </a:p>
        </p:txBody>
      </p:sp>
      <p:sp>
        <p:nvSpPr>
          <p:cNvPr id="11" name="text-129"/>
          <p:cNvSpPr txBox="1"/>
          <p:nvPr/>
        </p:nvSpPr>
        <p:spPr>
          <a:xfrm>
            <a:off x="4613148" y="2743200"/>
            <a:ext cx="3017520" cy="1371600"/>
          </a:xfrm>
          <a:prstGeom prst="rect">
            <a:avLst/>
          </a:prstGeom>
          <a:noFill/>
          <a:ln/>
        </p:spPr>
        <p:txBody>
          <a:bodyPr wrap="square" lIns="0" tIns="0" rIns="0" bIns="0" rtlCol="0" anchor="t"/>
          <a:lstStyle/>
          <a:p>
            <a:pPr indent="0" marL="0">
              <a:buNone/>
            </a:pPr>
            <a:r>
              <a:rPr lang="en-US" sz="1400" dirty="0">
                <a:solidFill>
                  <a:schemeClr val="tx2"/>
                </a:solidFill>
              </a:rPr>
              <a:t>Daily closes, 2005 to present, from NSE or Yahoo Finance. Total Return Index preferred if a consistent series is available.</a:t>
            </a:r>
            <a:endParaRPr lang="en-US" sz="1400" dirty="0"/>
          </a:p>
        </p:txBody>
      </p:sp>
      <p:sp>
        <p:nvSpPr>
          <p:cNvPr id="12" name="card-130"/>
          <p:cNvSpPr/>
          <p:nvPr/>
        </p:nvSpPr>
        <p:spPr>
          <a:xfrm>
            <a:off x="8129016" y="1691640"/>
            <a:ext cx="3511296" cy="2514600"/>
          </a:xfrm>
          <a:prstGeom prst="roundRect">
            <a:avLst>
              <a:gd name="adj" fmla="val 4364"/>
            </a:avLst>
          </a:prstGeom>
          <a:solidFill>
            <a:schemeClr val="bg2"/>
          </a:solidFill>
          <a:ln/>
        </p:spPr>
      </p:sp>
      <p:sp>
        <p:nvSpPr>
          <p:cNvPr id="13" name="text-131"/>
          <p:cNvSpPr txBox="1"/>
          <p:nvPr/>
        </p:nvSpPr>
        <p:spPr>
          <a:xfrm>
            <a:off x="8403336" y="1920240"/>
            <a:ext cx="3017520"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SECOND · USA</a:t>
            </a:r>
            <a:endParaRPr lang="en-US" sz="1200" dirty="0"/>
          </a:p>
        </p:txBody>
      </p:sp>
      <p:sp>
        <p:nvSpPr>
          <p:cNvPr id="14" name="text-132"/>
          <p:cNvSpPr txBox="1"/>
          <p:nvPr/>
        </p:nvSpPr>
        <p:spPr>
          <a:xfrm>
            <a:off x="8403336" y="2240280"/>
            <a:ext cx="3017520" cy="411480"/>
          </a:xfrm>
          <a:prstGeom prst="rect">
            <a:avLst/>
          </a:prstGeom>
          <a:noFill/>
          <a:ln/>
        </p:spPr>
        <p:txBody>
          <a:bodyPr wrap="square" lIns="0" tIns="0" rIns="0" bIns="0" rtlCol="0" anchor="t"/>
          <a:lstStyle/>
          <a:p>
            <a:pPr indent="0" marL="0">
              <a:buNone/>
            </a:pPr>
            <a:r>
              <a:rPr lang="en-US" sz="2000" b="1" dirty="0">
                <a:solidFill>
                  <a:schemeClr val="tx1"/>
                </a:solidFill>
              </a:rPr>
              <a:t>S&amp;P 500</a:t>
            </a:r>
            <a:endParaRPr lang="en-US" sz="2000" dirty="0"/>
          </a:p>
        </p:txBody>
      </p:sp>
      <p:sp>
        <p:nvSpPr>
          <p:cNvPr id="15" name="text-133"/>
          <p:cNvSpPr txBox="1"/>
          <p:nvPr/>
        </p:nvSpPr>
        <p:spPr>
          <a:xfrm>
            <a:off x="8403336" y="2743200"/>
            <a:ext cx="3017520" cy="1371600"/>
          </a:xfrm>
          <a:prstGeom prst="rect">
            <a:avLst/>
          </a:prstGeom>
          <a:noFill/>
          <a:ln/>
        </p:spPr>
        <p:txBody>
          <a:bodyPr wrap="square" lIns="0" tIns="0" rIns="0" bIns="0" rtlCol="0" anchor="t"/>
          <a:lstStyle/>
          <a:p>
            <a:pPr indent="0" marL="0">
              <a:buNone/>
            </a:pPr>
            <a:r>
              <a:rPr lang="en-US" sz="1400" dirty="0">
                <a:solidFill>
                  <a:schemeClr val="tx2"/>
                </a:solidFill>
              </a:rPr>
              <a:t>Same period and setup. A developed market, to test whether the findings transfer beyond one index.</a:t>
            </a:r>
            <a:endParaRPr lang="en-US" sz="1400" dirty="0"/>
          </a:p>
        </p:txBody>
      </p:sp>
      <p:sp>
        <p:nvSpPr>
          <p:cNvPr id="16" name="text-134"/>
          <p:cNvSpPr txBox="1"/>
          <p:nvPr/>
        </p:nvSpPr>
        <p:spPr>
          <a:xfrm>
            <a:off x="548640" y="4434840"/>
            <a:ext cx="5486400" cy="320040"/>
          </a:xfrm>
          <a:prstGeom prst="rect">
            <a:avLst/>
          </a:prstGeom>
          <a:noFill/>
          <a:ln/>
        </p:spPr>
        <p:txBody>
          <a:bodyPr wrap="square" lIns="0" tIns="0" rIns="0" bIns="0" rtlCol="0" anchor="t"/>
          <a:lstStyle/>
          <a:p>
            <a:pPr indent="0" marL="0">
              <a:buNone/>
            </a:pPr>
            <a:r>
              <a:rPr lang="en-US" sz="1400" b="1" dirty="0">
                <a:solidFill>
                  <a:schemeClr val="tx1"/>
                </a:solidFill>
              </a:rPr>
              <a:t>Chronological split (no look-ahead)</a:t>
            </a:r>
            <a:endParaRPr lang="en-US" sz="1400" dirty="0"/>
          </a:p>
        </p:txBody>
      </p:sp>
      <p:sp>
        <p:nvSpPr>
          <p:cNvPr id="17" name="split-dev"/>
          <p:cNvSpPr txBox="1"/>
          <p:nvPr/>
        </p:nvSpPr>
        <p:spPr>
          <a:xfrm>
            <a:off x="548640" y="4800600"/>
            <a:ext cx="6866273" cy="457200"/>
          </a:xfrm>
          <a:prstGeom prst="rect">
            <a:avLst/>
          </a:prstGeom>
          <a:solidFill>
            <a:schemeClr val="accent2"/>
          </a:solidFill>
          <a:ln/>
        </p:spPr>
        <p:txBody>
          <a:bodyPr wrap="square" lIns="0" tIns="0" rIns="0" bIns="0" rtlCol="0" anchor="ctr"/>
          <a:lstStyle/>
          <a:p>
            <a:pPr algn="ctr" indent="0" marL="0">
              <a:buNone/>
            </a:pPr>
            <a:r>
              <a:rPr lang="en-US" sz="1400" b="1" dirty="0">
                <a:solidFill>
                  <a:schemeClr val="bg1"/>
                </a:solidFill>
              </a:rPr>
              <a:t>Development · 2005–2017</a:t>
            </a:r>
            <a:endParaRPr lang="en-US" sz="1400" dirty="0"/>
          </a:p>
        </p:txBody>
      </p:sp>
      <p:sp>
        <p:nvSpPr>
          <p:cNvPr id="18" name="split-test"/>
          <p:cNvSpPr txBox="1"/>
          <p:nvPr/>
        </p:nvSpPr>
        <p:spPr>
          <a:xfrm>
            <a:off x="7414913" y="4800600"/>
            <a:ext cx="4225399" cy="457200"/>
          </a:xfrm>
          <a:prstGeom prst="rect">
            <a:avLst/>
          </a:prstGeom>
          <a:solidFill>
            <a:schemeClr val="accent1"/>
          </a:solidFill>
          <a:ln/>
        </p:spPr>
        <p:txBody>
          <a:bodyPr wrap="square" lIns="0" tIns="0" rIns="0" bIns="0" rtlCol="0" anchor="ctr"/>
          <a:lstStyle/>
          <a:p>
            <a:pPr algn="ctr" indent="0" marL="0">
              <a:buNone/>
            </a:pPr>
            <a:r>
              <a:rPr lang="en-US" sz="1400" b="1" dirty="0">
                <a:solidFill>
                  <a:schemeClr val="bg1"/>
                </a:solidFill>
              </a:rPr>
              <a:t>Out-of-sample · 2018 onward</a:t>
            </a:r>
            <a:endParaRPr lang="en-US" sz="1400" dirty="0"/>
          </a:p>
        </p:txBody>
      </p:sp>
      <p:sp>
        <p:nvSpPr>
          <p:cNvPr id="19" name="text-135"/>
          <p:cNvSpPr txBox="1"/>
          <p:nvPr/>
        </p:nvSpPr>
        <p:spPr>
          <a:xfrm>
            <a:off x="548640" y="5440680"/>
            <a:ext cx="11091672" cy="457200"/>
          </a:xfrm>
          <a:prstGeom prst="rect">
            <a:avLst/>
          </a:prstGeom>
          <a:noFill/>
          <a:ln/>
        </p:spPr>
        <p:txBody>
          <a:bodyPr wrap="square" lIns="0" tIns="0" rIns="0" bIns="0" rtlCol="0" anchor="t"/>
          <a:lstStyle/>
          <a:p>
            <a:pPr indent="0" marL="0">
              <a:buNone/>
            </a:pPr>
            <a:r>
              <a:rPr lang="en-US" sz="1400" i="1" dirty="0">
                <a:solidFill>
                  <a:schemeClr val="tx1"/>
                </a:solidFill>
                <a:latin typeface="+mj-lt" pitchFamily="34" charset="0"/>
                <a:ea typeface="+mj-lt" pitchFamily="34" charset="-122"/>
                <a:cs typeface="+mj-lt" pitchFamily="34" charset="-120"/>
              </a:rPr>
              <a:t>rₜ = ln(Pₜ / Pₜ₋₁)</a:t>
            </a:r>
            <a:pPr indent="0" marL="0">
              <a:buNone/>
            </a:pPr>
            <a:r>
              <a:rPr lang="en-US" sz="1400" dirty="0">
                <a:solidFill>
                  <a:schemeClr val="tx2"/>
                </a:solidFill>
              </a:rPr>
              <a:t>   ·   rolling one-day-ahead forecasts, refitted on past data only; the test window includes the COVID-19 crash.</a:t>
            </a:r>
            <a:endParaRPr lang="en-US" sz="14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1091672"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09 · BENCHMARKS AND EVALUATION</a:t>
            </a:r>
            <a:endParaRPr lang="en-US" sz="1200" dirty="0"/>
          </a:p>
        </p:txBody>
      </p:sp>
      <p:sp>
        <p:nvSpPr>
          <p:cNvPr id="3" name="Text 0"/>
          <p:cNvSpPr/>
          <p:nvPr>
            <p:ph idx="101" type="title" hasCustomPrompt="1"/>
          </p:nvPr>
        </p:nvSpPr>
        <p:spPr>
          <a:xfrm>
            <a:off x="548640" y="676656"/>
            <a:ext cx="11091672" cy="640080"/>
          </a:xfrm>
          <a:prstGeom prst="rect">
            <a:avLst/>
          </a:prstGeom>
          <a:noFill/>
          <a:ln/>
        </p:spPr>
        <p:txBody>
          <a:bodyPr wrap="square" lIns="0" tIns="0" rIns="0" bIns="0" rtlCol="0" anchor="t"/>
          <a:lstStyle/>
          <a:p>
            <a:pPr algn="l" indent="0" marL="0">
              <a:buNone/>
            </a:pPr>
            <a:r>
              <a:rPr lang="en-US" sz="3000" b="1" dirty="0">
                <a:solidFill>
                  <a:schemeClr val="tx1"/>
                </a:solidFill>
              </a:rPr>
              <a:t>What the PINN is compared against</a:t>
            </a:r>
            <a:endParaRPr lang="en-US" sz="3000" dirty="0"/>
          </a:p>
        </p:txBody>
      </p:sp>
      <p:graphicFrame>
        <p:nvGraphicFramePr>
          <p:cNvPr id="11" name="bench-table"/>
          <p:cNvGraphicFramePr>
            <a:graphicFrameLocks noGrp="1"/>
          </p:cNvGraphicFramePr>
          <p:nvPr>
            <p:extLst>
              <p:ext uri="{D42A27DB-BD31-4B8C-83A1-F6EECF244321}">
                <p14:modId xmlns:p14="http://schemas.microsoft.com/office/powerpoint/2010/main" val="1579011935"/>
              </p:ext>
            </p:extLst>
          </p:nvPr>
        </p:nvGraphicFramePr>
        <p:xfrm>
          <a:off x="548640" y="1645920"/>
          <a:ext cx="7223760" cy="914400"/>
        </p:xfrm>
        <a:graphic>
          <a:graphicData uri="http://schemas.openxmlformats.org/drawingml/2006/table">
            <a:tbl>
              <a:tblPr/>
              <a:tblGrid>
                <a:gridCol w="2468880"/>
                <a:gridCol w="3474720"/>
                <a:gridCol w="1280160"/>
              </a:tblGrid>
              <a:tr h="457200">
                <a:tc>
                  <a:txBody>
                    <a:bodyPr/>
                    <a:lstStyle/>
                    <a:p>
                      <a:pPr indent="0" marL="0">
                        <a:buNone/>
                      </a:pPr>
                      <a:r>
                        <a:rPr lang="en-US" sz="1400" b="1" dirty="0">
                          <a:solidFill>
                            <a:schemeClr val="bg1"/>
                          </a:solidFill>
                        </a:rPr>
                        <a:t>Model</a:t>
                      </a:r>
                      <a:endParaRPr lang="en-US" sz="1400" dirty="0"/>
                    </a:p>
                  </a:txBody>
                  <a:tcPr marL="127000" marR="127000" marT="63500" marB="63500">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What it tests</a:t>
                      </a:r>
                      <a:endParaRPr lang="en-US" sz="1400" dirty="0"/>
                    </a:p>
                  </a:txBody>
                  <a:tcPr marL="127000" marR="127000" marT="63500" marB="63500">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Phase</a:t>
                      </a:r>
                      <a:endParaRPr lang="en-US" sz="1400" dirty="0"/>
                    </a:p>
                  </a:txBody>
                  <a:tcPr marL="127000" marR="127000" marT="63500" marB="63500">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tx1"/>
                    </a:solidFill>
                  </a:tcPr>
                </a:tc>
              </a:tr>
              <a:tr h="457200">
                <a:tc>
                  <a:txBody>
                    <a:bodyPr/>
                    <a:lstStyle/>
                    <a:p>
                      <a:pPr indent="0" marL="0">
                        <a:buNone/>
                      </a:pPr>
                      <a:r>
                        <a:rPr lang="en-US" sz="1400" dirty="0">
                          <a:solidFill>
                            <a:schemeClr val="tx2"/>
                          </a:solidFill>
                        </a:rPr>
                        <a:t>Gaussian VaR/ES</a:t>
                      </a:r>
                      <a:endParaRPr lang="en-US" sz="1400" dirty="0"/>
                    </a:p>
                  </a:txBody>
                  <a:tcPr marL="127000" marR="127000" marT="63500" marB="63500">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1"/>
                    </a:solidFill>
                  </a:tcPr>
                </a:tc>
                <a:tc>
                  <a:txBody>
                    <a:bodyPr/>
                    <a:lstStyle/>
                    <a:p>
                      <a:pPr indent="0" marL="0">
                        <a:buNone/>
                      </a:pPr>
                      <a:r>
                        <a:rPr lang="en-US" sz="1400" dirty="0">
                          <a:solidFill>
                            <a:schemeClr val="tx2"/>
                          </a:solidFill>
                        </a:rPr>
                        <a:t>Simple baseline to beat</a:t>
                      </a:r>
                      <a:endParaRPr lang="en-US" sz="1400" dirty="0"/>
                    </a:p>
                  </a:txBody>
                  <a:tcPr marL="127000" marR="127000" marT="63500" marB="63500">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1"/>
                    </a:solidFill>
                  </a:tcPr>
                </a:tc>
                <a:tc>
                  <a:txBody>
                    <a:bodyPr/>
                    <a:lstStyle/>
                    <a:p>
                      <a:pPr indent="0" marL="0">
                        <a:buNone/>
                      </a:pPr>
                      <a:r>
                        <a:rPr lang="en-US" sz="1400" dirty="0">
                          <a:solidFill>
                            <a:schemeClr val="accent2"/>
                          </a:solidFill>
                        </a:rPr>
                        <a:t>Core</a:t>
                      </a:r>
                      <a:endParaRPr lang="en-US" sz="1400" dirty="0"/>
                    </a:p>
                  </a:txBody>
                  <a:tcPr marL="127000" marR="127000" marT="63500" marB="63500">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1"/>
                    </a:solidFill>
                  </a:tcPr>
                </a:tc>
              </a:tr>
              <a:tr h="457200">
                <a:tc>
                  <a:txBody>
                    <a:bodyPr/>
                    <a:lstStyle/>
                    <a:p>
                      <a:pPr indent="0" marL="0">
                        <a:buNone/>
                      </a:pPr>
                      <a:r>
                        <a:rPr lang="en-US" sz="1400" dirty="0">
                          <a:solidFill>
                            <a:schemeClr val="tx2"/>
                          </a:solidFill>
                        </a:rPr>
                        <a:t>Historical simulation</a:t>
                      </a:r>
                      <a:endParaRPr lang="en-US" sz="1400" dirty="0"/>
                    </a:p>
                  </a:txBody>
                  <a:tcPr marL="127000" marR="127000" marT="63500" marB="63500">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2"/>
                    </a:solidFill>
                  </a:tcPr>
                </a:tc>
                <a:tc>
                  <a:txBody>
                    <a:bodyPr/>
                    <a:lstStyle/>
                    <a:p>
                      <a:pPr indent="0" marL="0">
                        <a:buNone/>
                      </a:pPr>
                      <a:r>
                        <a:rPr lang="en-US" sz="1400" dirty="0">
                          <a:solidFill>
                            <a:schemeClr val="tx2"/>
                          </a:solidFill>
                        </a:rPr>
                        <a:t>Is a complex model needed?</a:t>
                      </a:r>
                      <a:endParaRPr lang="en-US" sz="1400" dirty="0"/>
                    </a:p>
                  </a:txBody>
                  <a:tcPr marL="127000" marR="127000" marT="63500" marB="63500">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2"/>
                    </a:solidFill>
                  </a:tcPr>
                </a:tc>
                <a:tc>
                  <a:txBody>
                    <a:bodyPr/>
                    <a:lstStyle/>
                    <a:p>
                      <a:pPr indent="0" marL="0">
                        <a:buNone/>
                      </a:pPr>
                      <a:r>
                        <a:rPr lang="en-US" sz="1400" dirty="0">
                          <a:solidFill>
                            <a:schemeClr val="accent2"/>
                          </a:solidFill>
                        </a:rPr>
                        <a:t>Core</a:t>
                      </a:r>
                      <a:endParaRPr lang="en-US" sz="1400" dirty="0"/>
                    </a:p>
                  </a:txBody>
                  <a:tcPr marL="127000" marR="127000" marT="63500" marB="63500">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2"/>
                    </a:solidFill>
                  </a:tcPr>
                </a:tc>
              </a:tr>
              <a:tr h="457200">
                <a:tc>
                  <a:txBody>
                    <a:bodyPr/>
                    <a:lstStyle/>
                    <a:p>
                      <a:pPr indent="0" marL="0">
                        <a:buNone/>
                      </a:pPr>
                      <a:r>
                        <a:rPr lang="en-US" sz="1400" dirty="0">
                          <a:solidFill>
                            <a:schemeClr val="tx2"/>
                          </a:solidFill>
                        </a:rPr>
                        <a:t>GARCH(1,1)-t</a:t>
                      </a:r>
                      <a:endParaRPr lang="en-US" sz="1400" dirty="0"/>
                    </a:p>
                  </a:txBody>
                  <a:tcPr marL="127000" marR="127000" marT="63500" marB="63500">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1"/>
                    </a:solidFill>
                  </a:tcPr>
                </a:tc>
                <a:tc>
                  <a:txBody>
                    <a:bodyPr/>
                    <a:lstStyle/>
                    <a:p>
                      <a:pPr indent="0" marL="0">
                        <a:buNone/>
                      </a:pPr>
                      <a:r>
                        <a:rPr lang="en-US" sz="1400" dirty="0">
                          <a:solidFill>
                            <a:schemeClr val="tx2"/>
                          </a:solidFill>
                        </a:rPr>
                        <a:t>Volatility clustering, fat tails</a:t>
                      </a:r>
                      <a:endParaRPr lang="en-US" sz="1400" dirty="0"/>
                    </a:p>
                  </a:txBody>
                  <a:tcPr marL="127000" marR="127000" marT="63500" marB="63500">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1"/>
                    </a:solidFill>
                  </a:tcPr>
                </a:tc>
                <a:tc>
                  <a:txBody>
                    <a:bodyPr/>
                    <a:lstStyle/>
                    <a:p>
                      <a:pPr indent="0" marL="0">
                        <a:buNone/>
                      </a:pPr>
                      <a:r>
                        <a:rPr lang="en-US" sz="1400" dirty="0">
                          <a:solidFill>
                            <a:schemeClr val="accent2"/>
                          </a:solidFill>
                        </a:rPr>
                        <a:t>Core</a:t>
                      </a:r>
                      <a:endParaRPr lang="en-US" sz="1400" dirty="0"/>
                    </a:p>
                  </a:txBody>
                  <a:tcPr marL="127000" marR="127000" marT="63500" marB="63500">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1"/>
                    </a:solidFill>
                  </a:tcPr>
                </a:tc>
              </a:tr>
              <a:tr h="457200">
                <a:tc>
                  <a:txBody>
                    <a:bodyPr/>
                    <a:lstStyle/>
                    <a:p>
                      <a:pPr indent="0" marL="0">
                        <a:buNone/>
                      </a:pPr>
                      <a:r>
                        <a:rPr lang="en-US" sz="1400" dirty="0">
                          <a:solidFill>
                            <a:schemeClr val="tx2"/>
                          </a:solidFill>
                        </a:rPr>
                        <a:t>Numerical PIDE solver</a:t>
                      </a:r>
                      <a:endParaRPr lang="en-US" sz="1400" dirty="0"/>
                    </a:p>
                  </a:txBody>
                  <a:tcPr marL="127000" marR="127000" marT="63500" marB="63500">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2"/>
                    </a:solidFill>
                  </a:tcPr>
                </a:tc>
                <a:tc>
                  <a:txBody>
                    <a:bodyPr/>
                    <a:lstStyle/>
                    <a:p>
                      <a:pPr indent="0" marL="0">
                        <a:buNone/>
                      </a:pPr>
                      <a:r>
                        <a:rPr lang="en-US" sz="1400" dirty="0">
                          <a:solidFill>
                            <a:schemeClr val="tx2"/>
                          </a:solidFill>
                        </a:rPr>
                        <a:t>Does the PINN solve the maths?</a:t>
                      </a:r>
                      <a:endParaRPr lang="en-US" sz="1400" dirty="0"/>
                    </a:p>
                  </a:txBody>
                  <a:tcPr marL="127000" marR="127000" marT="63500" marB="63500">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2"/>
                    </a:solidFill>
                  </a:tcPr>
                </a:tc>
                <a:tc>
                  <a:txBody>
                    <a:bodyPr/>
                    <a:lstStyle/>
                    <a:p>
                      <a:pPr indent="0" marL="0">
                        <a:buNone/>
                      </a:pPr>
                      <a:r>
                        <a:rPr lang="en-US" sz="1400" dirty="0">
                          <a:solidFill>
                            <a:schemeClr val="accent2"/>
                          </a:solidFill>
                        </a:rPr>
                        <a:t>Core</a:t>
                      </a:r>
                      <a:endParaRPr lang="en-US" sz="1400" dirty="0"/>
                    </a:p>
                  </a:txBody>
                  <a:tcPr marL="127000" marR="127000" marT="63500" marB="63500">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2"/>
                    </a:solidFill>
                  </a:tcPr>
                </a:tc>
              </a:tr>
              <a:tr h="457200">
                <a:tc>
                  <a:txBody>
                    <a:bodyPr/>
                    <a:lstStyle/>
                    <a:p>
                      <a:pPr indent="0" marL="0">
                        <a:buNone/>
                      </a:pPr>
                      <a:r>
                        <a:rPr lang="en-US" sz="1400" b="1" dirty="0">
                          <a:solidFill>
                            <a:schemeClr val="tx2"/>
                          </a:solidFill>
                        </a:rPr>
                        <a:t>PINN (proposed)</a:t>
                      </a:r>
                      <a:endParaRPr lang="en-US" sz="1400" dirty="0"/>
                    </a:p>
                  </a:txBody>
                  <a:tcPr marL="127000" marR="127000" marT="63500" marB="63500">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1"/>
                    </a:solidFill>
                  </a:tcPr>
                </a:tc>
                <a:tc>
                  <a:txBody>
                    <a:bodyPr/>
                    <a:lstStyle/>
                    <a:p>
                      <a:pPr indent="0" marL="0">
                        <a:buNone/>
                      </a:pPr>
                      <a:r>
                        <a:rPr lang="en-US" sz="1400" dirty="0">
                          <a:solidFill>
                            <a:schemeClr val="tx2"/>
                          </a:solidFill>
                        </a:rPr>
                        <a:t>Method under test</a:t>
                      </a:r>
                      <a:endParaRPr lang="en-US" sz="1400" dirty="0"/>
                    </a:p>
                  </a:txBody>
                  <a:tcPr marL="127000" marR="127000" marT="63500" marB="63500">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1"/>
                    </a:solidFill>
                  </a:tcPr>
                </a:tc>
                <a:tc>
                  <a:txBody>
                    <a:bodyPr/>
                    <a:lstStyle/>
                    <a:p>
                      <a:pPr indent="0" marL="0">
                        <a:buNone/>
                      </a:pPr>
                      <a:r>
                        <a:rPr lang="en-US" sz="1400" dirty="0">
                          <a:solidFill>
                            <a:schemeClr val="accent2"/>
                          </a:solidFill>
                        </a:rPr>
                        <a:t>Core</a:t>
                      </a:r>
                      <a:endParaRPr lang="en-US" sz="1400" dirty="0"/>
                    </a:p>
                  </a:txBody>
                  <a:tcPr marL="127000" marR="127000" marT="63500" marB="63500">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1"/>
                    </a:solidFill>
                  </a:tcPr>
                </a:tc>
              </a:tr>
              <a:tr h="457200">
                <a:tc>
                  <a:txBody>
                    <a:bodyPr/>
                    <a:lstStyle/>
                    <a:p>
                      <a:pPr indent="0" marL="0">
                        <a:buNone/>
                      </a:pPr>
                      <a:r>
                        <a:rPr lang="en-US" sz="1400" dirty="0">
                          <a:solidFill>
                            <a:schemeClr val="tx2"/>
                          </a:solidFill>
                        </a:rPr>
                        <a:t>Extreme value theory</a:t>
                      </a:r>
                      <a:endParaRPr lang="en-US" sz="1400" dirty="0"/>
                    </a:p>
                  </a:txBody>
                  <a:tcPr marL="127000" marR="127000" marT="63500" marB="63500">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2"/>
                    </a:solidFill>
                  </a:tcPr>
                </a:tc>
                <a:tc>
                  <a:txBody>
                    <a:bodyPr/>
                    <a:lstStyle/>
                    <a:p>
                      <a:pPr indent="0" marL="0">
                        <a:buNone/>
                      </a:pPr>
                      <a:r>
                        <a:rPr lang="en-US" sz="1400" dirty="0">
                          <a:solidFill>
                            <a:schemeClr val="tx2"/>
                          </a:solidFill>
                        </a:rPr>
                        <a:t>Tail specialist</a:t>
                      </a:r>
                      <a:endParaRPr lang="en-US" sz="1400" dirty="0"/>
                    </a:p>
                  </a:txBody>
                  <a:tcPr marL="127000" marR="127000" marT="63500" marB="63500">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2"/>
                    </a:solidFill>
                  </a:tcPr>
                </a:tc>
                <a:tc>
                  <a:txBody>
                    <a:bodyPr/>
                    <a:lstStyle/>
                    <a:p>
                      <a:pPr indent="0" marL="0">
                        <a:buNone/>
                      </a:pPr>
                      <a:r>
                        <a:rPr lang="en-US" sz="1400" dirty="0">
                          <a:solidFill>
                            <a:schemeClr val="tx2"/>
                          </a:solidFill>
                        </a:rPr>
                        <a:t>Extension</a:t>
                      </a:r>
                      <a:endParaRPr lang="en-US" sz="1400" dirty="0"/>
                    </a:p>
                  </a:txBody>
                  <a:tcPr marL="127000" marR="127000" marT="63500" marB="63500">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2"/>
                    </a:solidFill>
                  </a:tcPr>
                </a:tc>
              </a:tr>
              <a:tr h="457200">
                <a:tc>
                  <a:txBody>
                    <a:bodyPr/>
                    <a:lstStyle/>
                    <a:p>
                      <a:pPr indent="0" marL="0">
                        <a:buNone/>
                      </a:pPr>
                      <a:r>
                        <a:rPr lang="en-US" sz="1400" dirty="0">
                          <a:solidFill>
                            <a:schemeClr val="tx2"/>
                          </a:solidFill>
                        </a:rPr>
                        <a:t>Data-only network</a:t>
                      </a:r>
                      <a:endParaRPr lang="en-US" sz="1400" dirty="0"/>
                    </a:p>
                  </a:txBody>
                  <a:tcPr marL="127000" marR="127000" marT="63500" marB="63500">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1"/>
                    </a:solidFill>
                  </a:tcPr>
                </a:tc>
                <a:tc>
                  <a:txBody>
                    <a:bodyPr/>
                    <a:lstStyle/>
                    <a:p>
                      <a:pPr indent="0" marL="0">
                        <a:buNone/>
                      </a:pPr>
                      <a:r>
                        <a:rPr lang="en-US" sz="1400" dirty="0">
                          <a:solidFill>
                            <a:schemeClr val="tx2"/>
                          </a:solidFill>
                        </a:rPr>
                        <a:t>Does the physics help?</a:t>
                      </a:r>
                      <a:endParaRPr lang="en-US" sz="1400" dirty="0"/>
                    </a:p>
                  </a:txBody>
                  <a:tcPr marL="127000" marR="127000" marT="63500" marB="63500">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1"/>
                    </a:solidFill>
                  </a:tcPr>
                </a:tc>
                <a:tc>
                  <a:txBody>
                    <a:bodyPr/>
                    <a:lstStyle/>
                    <a:p>
                      <a:pPr indent="0" marL="0">
                        <a:buNone/>
                      </a:pPr>
                      <a:r>
                        <a:rPr lang="en-US" sz="1400" dirty="0">
                          <a:solidFill>
                            <a:schemeClr val="tx2"/>
                          </a:solidFill>
                        </a:rPr>
                        <a:t>Extension</a:t>
                      </a:r>
                      <a:endParaRPr lang="en-US" sz="1400" dirty="0"/>
                    </a:p>
                  </a:txBody>
                  <a:tcPr marL="127000" marR="127000" marT="63500" marB="63500">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1"/>
                    </a:solidFill>
                  </a:tcPr>
                </a:tc>
              </a:tr>
            </a:tbl>
          </a:graphicData>
        </a:graphic>
      </p:graphicFrame>
      <p:sp>
        <p:nvSpPr>
          <p:cNvPr id="5" name="card-136"/>
          <p:cNvSpPr/>
          <p:nvPr/>
        </p:nvSpPr>
        <p:spPr>
          <a:xfrm>
            <a:off x="8092440" y="1645920"/>
            <a:ext cx="3547872" cy="4389120"/>
          </a:xfrm>
          <a:prstGeom prst="roundRect">
            <a:avLst>
              <a:gd name="adj" fmla="val 3093"/>
            </a:avLst>
          </a:prstGeom>
          <a:solidFill>
            <a:schemeClr val="bg2"/>
          </a:solidFill>
          <a:ln/>
        </p:spPr>
      </p:sp>
      <p:sp>
        <p:nvSpPr>
          <p:cNvPr id="6" name="text-137"/>
          <p:cNvSpPr txBox="1"/>
          <p:nvPr/>
        </p:nvSpPr>
        <p:spPr>
          <a:xfrm>
            <a:off x="8366760" y="1874520"/>
            <a:ext cx="3017520" cy="365760"/>
          </a:xfrm>
          <a:prstGeom prst="rect">
            <a:avLst/>
          </a:prstGeom>
          <a:noFill/>
          <a:ln/>
        </p:spPr>
        <p:txBody>
          <a:bodyPr wrap="square" lIns="0" tIns="0" rIns="0" bIns="0" rtlCol="0" anchor="t"/>
          <a:lstStyle/>
          <a:p>
            <a:pPr indent="0" marL="0">
              <a:buNone/>
            </a:pPr>
            <a:r>
              <a:rPr lang="en-US" sz="1800" b="1" dirty="0">
                <a:solidFill>
                  <a:schemeClr val="tx1"/>
                </a:solidFill>
              </a:rPr>
              <a:t>Metrics</a:t>
            </a:r>
            <a:endParaRPr lang="en-US" sz="1800" dirty="0"/>
          </a:p>
        </p:txBody>
      </p:sp>
      <p:sp>
        <p:nvSpPr>
          <p:cNvPr id="7" name="text-138"/>
          <p:cNvSpPr txBox="1"/>
          <p:nvPr/>
        </p:nvSpPr>
        <p:spPr>
          <a:xfrm>
            <a:off x="8366760" y="2377440"/>
            <a:ext cx="3063240" cy="777240"/>
          </a:xfrm>
          <a:prstGeom prst="rect">
            <a:avLst/>
          </a:prstGeom>
          <a:noFill/>
          <a:ln/>
        </p:spPr>
        <p:txBody>
          <a:bodyPr wrap="square" lIns="0" tIns="0" rIns="0" bIns="0" rtlCol="0" anchor="t"/>
          <a:lstStyle/>
          <a:p>
            <a:pPr indent="0" marL="0">
              <a:buNone/>
            </a:pPr>
            <a:r>
              <a:rPr lang="en-US" sz="1400" b="1" dirty="0">
                <a:solidFill>
                  <a:schemeClr val="accent1"/>
                </a:solidFill>
              </a:rPr>
              <a:t>Density</a:t>
            </a:r>
            <a:endParaRPr lang="en-US" sz="1400" dirty="0"/>
          </a:p>
          <a:p>
            <a:pPr indent="0" marL="0">
              <a:buNone/>
            </a:pPr>
            <a:r>
              <a:rPr lang="en-US" sz="1400" dirty="0">
                <a:solidFill>
                  <a:schemeClr val="tx2"/>
                </a:solidFill>
              </a:rPr>
              <a:t>bulk and tail error, reported separately</a:t>
            </a:r>
            <a:endParaRPr lang="en-US" sz="1400" dirty="0"/>
          </a:p>
        </p:txBody>
      </p:sp>
      <p:sp>
        <p:nvSpPr>
          <p:cNvPr id="8" name="text-139"/>
          <p:cNvSpPr txBox="1"/>
          <p:nvPr/>
        </p:nvSpPr>
        <p:spPr>
          <a:xfrm>
            <a:off x="8366760" y="3246120"/>
            <a:ext cx="3063240" cy="777240"/>
          </a:xfrm>
          <a:prstGeom prst="rect">
            <a:avLst/>
          </a:prstGeom>
          <a:noFill/>
          <a:ln/>
        </p:spPr>
        <p:txBody>
          <a:bodyPr wrap="square" lIns="0" tIns="0" rIns="0" bIns="0" rtlCol="0" anchor="t"/>
          <a:lstStyle/>
          <a:p>
            <a:pPr indent="0" marL="0">
              <a:buNone/>
            </a:pPr>
            <a:r>
              <a:rPr lang="en-US" sz="1400" b="1" dirty="0">
                <a:solidFill>
                  <a:schemeClr val="accent1"/>
                </a:solidFill>
              </a:rPr>
              <a:t>VaR</a:t>
            </a:r>
            <a:endParaRPr lang="en-US" sz="1400" dirty="0"/>
          </a:p>
          <a:p>
            <a:pPr indent="0" marL="0">
              <a:buNone/>
            </a:pPr>
            <a:r>
              <a:rPr lang="en-US" sz="1400" dirty="0">
                <a:solidFill>
                  <a:schemeClr val="tx2"/>
                </a:solidFill>
              </a:rPr>
              <a:t>Kupiec and Christoffersen backtests</a:t>
            </a:r>
            <a:endParaRPr lang="en-US" sz="1400" dirty="0"/>
          </a:p>
        </p:txBody>
      </p:sp>
      <p:sp>
        <p:nvSpPr>
          <p:cNvPr id="9" name="text-140"/>
          <p:cNvSpPr txBox="1"/>
          <p:nvPr/>
        </p:nvSpPr>
        <p:spPr>
          <a:xfrm>
            <a:off x="8366760" y="4114800"/>
            <a:ext cx="3063240" cy="777240"/>
          </a:xfrm>
          <a:prstGeom prst="rect">
            <a:avLst/>
          </a:prstGeom>
          <a:noFill/>
          <a:ln/>
        </p:spPr>
        <p:txBody>
          <a:bodyPr wrap="square" lIns="0" tIns="0" rIns="0" bIns="0" rtlCol="0" anchor="t"/>
          <a:lstStyle/>
          <a:p>
            <a:pPr indent="0" marL="0">
              <a:buNone/>
            </a:pPr>
            <a:r>
              <a:rPr lang="en-US" sz="1400" b="1" dirty="0">
                <a:solidFill>
                  <a:schemeClr val="accent1"/>
                </a:solidFill>
              </a:rPr>
              <a:t>ES</a:t>
            </a:r>
            <a:endParaRPr lang="en-US" sz="1400" dirty="0"/>
          </a:p>
          <a:p>
            <a:pPr indent="0" marL="0">
              <a:buNone/>
            </a:pPr>
            <a:r>
              <a:rPr lang="en-US" sz="1400" dirty="0">
                <a:solidFill>
                  <a:schemeClr val="tx2"/>
                </a:solidFill>
              </a:rPr>
              <a:t>joint VaR–ES scoring (Fissler–Ziegel)</a:t>
            </a:r>
            <a:endParaRPr lang="en-US" sz="1400" dirty="0"/>
          </a:p>
        </p:txBody>
      </p:sp>
      <p:sp>
        <p:nvSpPr>
          <p:cNvPr id="10" name="text-141"/>
          <p:cNvSpPr txBox="1"/>
          <p:nvPr/>
        </p:nvSpPr>
        <p:spPr>
          <a:xfrm>
            <a:off x="8366760" y="4983480"/>
            <a:ext cx="3063240" cy="777240"/>
          </a:xfrm>
          <a:prstGeom prst="rect">
            <a:avLst/>
          </a:prstGeom>
          <a:noFill/>
          <a:ln/>
        </p:spPr>
        <p:txBody>
          <a:bodyPr wrap="square" lIns="0" tIns="0" rIns="0" bIns="0" rtlCol="0" anchor="t"/>
          <a:lstStyle/>
          <a:p>
            <a:pPr indent="0" marL="0">
              <a:buNone/>
            </a:pPr>
            <a:r>
              <a:rPr lang="en-US" sz="1400" b="1" dirty="0">
                <a:solidFill>
                  <a:schemeClr val="accent1"/>
                </a:solidFill>
              </a:rPr>
              <a:t>Cost</a:t>
            </a:r>
            <a:endParaRPr lang="en-US" sz="1400" dirty="0"/>
          </a:p>
          <a:p>
            <a:pPr indent="0" marL="0">
              <a:buNone/>
            </a:pPr>
            <a:r>
              <a:rPr lang="en-US" sz="1400" dirty="0">
                <a:solidFill>
                  <a:schemeClr val="tx2"/>
                </a:solidFill>
              </a:rPr>
              <a:t>training time, prediction time, memory</a:t>
            </a:r>
            <a:endParaRPr lang="en-US" sz="14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1091672"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10 · ROADMAP</a:t>
            </a:r>
            <a:endParaRPr lang="en-US" sz="1200" dirty="0"/>
          </a:p>
        </p:txBody>
      </p:sp>
      <p:sp>
        <p:nvSpPr>
          <p:cNvPr id="3" name="Text 0"/>
          <p:cNvSpPr/>
          <p:nvPr>
            <p:ph idx="101" type="title" hasCustomPrompt="1"/>
          </p:nvPr>
        </p:nvSpPr>
        <p:spPr>
          <a:xfrm>
            <a:off x="548640" y="676656"/>
            <a:ext cx="11091672" cy="640080"/>
          </a:xfrm>
          <a:prstGeom prst="rect">
            <a:avLst/>
          </a:prstGeom>
          <a:noFill/>
          <a:ln/>
        </p:spPr>
        <p:txBody>
          <a:bodyPr wrap="square" lIns="0" tIns="0" rIns="0" bIns="0" rtlCol="0" anchor="t"/>
          <a:lstStyle/>
          <a:p>
            <a:pPr algn="l" indent="0" marL="0">
              <a:buNone/>
            </a:pPr>
            <a:r>
              <a:rPr lang="en-US" sz="3000" b="1" dirty="0">
                <a:solidFill>
                  <a:schemeClr val="tx1"/>
                </a:solidFill>
              </a:rPr>
              <a:t>Six stages, mathematics first</a:t>
            </a:r>
            <a:endParaRPr lang="en-US" sz="3000" dirty="0"/>
          </a:p>
        </p:txBody>
      </p:sp>
      <p:sp>
        <p:nvSpPr>
          <p:cNvPr id="4" name="card-142"/>
          <p:cNvSpPr/>
          <p:nvPr/>
        </p:nvSpPr>
        <p:spPr>
          <a:xfrm>
            <a:off x="548640" y="1691640"/>
            <a:ext cx="3511296" cy="2011680"/>
          </a:xfrm>
          <a:prstGeom prst="roundRect">
            <a:avLst>
              <a:gd name="adj" fmla="val 5455"/>
            </a:avLst>
          </a:prstGeom>
          <a:solidFill>
            <a:schemeClr val="tx1"/>
          </a:solidFill>
          <a:ln/>
        </p:spPr>
      </p:sp>
      <p:sp>
        <p:nvSpPr>
          <p:cNvPr id="5" name="dot-143"/>
          <p:cNvSpPr txBox="1"/>
          <p:nvPr/>
        </p:nvSpPr>
        <p:spPr>
          <a:xfrm>
            <a:off x="822960" y="1965960"/>
            <a:ext cx="420624" cy="420624"/>
          </a:xfrm>
          <a:prstGeom prst="ellipse">
            <a:avLst/>
          </a:prstGeom>
          <a:solidFill>
            <a:schemeClr val="accent4"/>
          </a:solid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6" name="text-144"/>
          <p:cNvSpPr txBox="1"/>
          <p:nvPr/>
        </p:nvSpPr>
        <p:spPr>
          <a:xfrm>
            <a:off x="1371600" y="1965960"/>
            <a:ext cx="2560320" cy="420624"/>
          </a:xfrm>
          <a:prstGeom prst="rect">
            <a:avLst/>
          </a:prstGeom>
          <a:noFill/>
          <a:ln/>
        </p:spPr>
        <p:txBody>
          <a:bodyPr wrap="square" lIns="0" tIns="0" rIns="0" bIns="0" rtlCol="0" anchor="ctr"/>
          <a:lstStyle/>
          <a:p>
            <a:pPr indent="0" marL="0">
              <a:buNone/>
            </a:pPr>
            <a:r>
              <a:rPr lang="en-US" sz="1200" b="1" dirty="0">
                <a:solidFill>
                  <a:schemeClr val="accent4"/>
                </a:solidFill>
              </a:rPr>
              <a:t>STAGE 1 · IN PROGRESS</a:t>
            </a:r>
            <a:endParaRPr lang="en-US" sz="1200" dirty="0"/>
          </a:p>
        </p:txBody>
      </p:sp>
      <p:sp>
        <p:nvSpPr>
          <p:cNvPr id="7" name="text-145"/>
          <p:cNvSpPr txBox="1"/>
          <p:nvPr/>
        </p:nvSpPr>
        <p:spPr>
          <a:xfrm>
            <a:off x="822960" y="2560320"/>
            <a:ext cx="3017520" cy="365760"/>
          </a:xfrm>
          <a:prstGeom prst="rect">
            <a:avLst/>
          </a:prstGeom>
          <a:noFill/>
          <a:ln/>
        </p:spPr>
        <p:txBody>
          <a:bodyPr wrap="square" lIns="0" tIns="0" rIns="0" bIns="0" rtlCol="0" anchor="t"/>
          <a:lstStyle/>
          <a:p>
            <a:pPr indent="0" marL="0">
              <a:buNone/>
            </a:pPr>
            <a:r>
              <a:rPr lang="en-US" sz="1700" b="1" dirty="0">
                <a:solidFill>
                  <a:schemeClr val="bg1"/>
                </a:solidFill>
              </a:rPr>
              <a:t>Literature review</a:t>
            </a:r>
            <a:endParaRPr lang="en-US" sz="1700" dirty="0"/>
          </a:p>
        </p:txBody>
      </p:sp>
      <p:sp>
        <p:nvSpPr>
          <p:cNvPr id="8" name="text-146"/>
          <p:cNvSpPr txBox="1"/>
          <p:nvPr/>
        </p:nvSpPr>
        <p:spPr>
          <a:xfrm>
            <a:off x="822960" y="2971800"/>
            <a:ext cx="3017520" cy="640080"/>
          </a:xfrm>
          <a:prstGeom prst="rect">
            <a:avLst/>
          </a:prstGeom>
          <a:noFill/>
          <a:ln/>
        </p:spPr>
        <p:txBody>
          <a:bodyPr wrap="square" lIns="0" tIns="0" rIns="0" bIns="0" rtlCol="0" anchor="t"/>
          <a:lstStyle/>
          <a:p>
            <a:pPr indent="0" marL="0">
              <a:buNone/>
            </a:pPr>
            <a:r>
              <a:rPr lang="en-US" sz="1400" dirty="0">
                <a:solidFill>
                  <a:schemeClr val="accent5"/>
                </a:solidFill>
              </a:rPr>
              <a:t>Research questions and confirmed gap</a:t>
            </a:r>
            <a:endParaRPr lang="en-US" sz="1400" dirty="0"/>
          </a:p>
        </p:txBody>
      </p:sp>
      <p:sp>
        <p:nvSpPr>
          <p:cNvPr id="9" name="card-147"/>
          <p:cNvSpPr/>
          <p:nvPr/>
        </p:nvSpPr>
        <p:spPr>
          <a:xfrm>
            <a:off x="4338828" y="1691640"/>
            <a:ext cx="3511296" cy="2011680"/>
          </a:xfrm>
          <a:prstGeom prst="roundRect">
            <a:avLst>
              <a:gd name="adj" fmla="val 5455"/>
            </a:avLst>
          </a:prstGeom>
          <a:solidFill>
            <a:schemeClr val="bg2"/>
          </a:solidFill>
          <a:ln/>
        </p:spPr>
      </p:sp>
      <p:sp>
        <p:nvSpPr>
          <p:cNvPr id="10" name="dot-148"/>
          <p:cNvSpPr txBox="1"/>
          <p:nvPr/>
        </p:nvSpPr>
        <p:spPr>
          <a:xfrm>
            <a:off x="4613148" y="1965960"/>
            <a:ext cx="420624" cy="420624"/>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1" name="text-149"/>
          <p:cNvSpPr txBox="1"/>
          <p:nvPr/>
        </p:nvSpPr>
        <p:spPr>
          <a:xfrm>
            <a:off x="5161788" y="1965960"/>
            <a:ext cx="2560320" cy="420624"/>
          </a:xfrm>
          <a:prstGeom prst="rect">
            <a:avLst/>
          </a:prstGeom>
          <a:noFill/>
          <a:ln/>
        </p:spPr>
        <p:txBody>
          <a:bodyPr wrap="square" lIns="0" tIns="0" rIns="0" bIns="0" rtlCol="0" anchor="ctr"/>
          <a:lstStyle/>
          <a:p>
            <a:pPr indent="0" marL="0">
              <a:buNone/>
            </a:pPr>
            <a:r>
              <a:rPr lang="en-US" sz="1200" b="1" dirty="0">
                <a:solidFill>
                  <a:schemeClr val="accent1"/>
                </a:solidFill>
              </a:rPr>
              <a:t>STAGE 2 · NEXT</a:t>
            </a:r>
            <a:endParaRPr lang="en-US" sz="1200" dirty="0"/>
          </a:p>
        </p:txBody>
      </p:sp>
      <p:sp>
        <p:nvSpPr>
          <p:cNvPr id="12" name="text-150"/>
          <p:cNvSpPr txBox="1"/>
          <p:nvPr/>
        </p:nvSpPr>
        <p:spPr>
          <a:xfrm>
            <a:off x="4613148" y="2560320"/>
            <a:ext cx="3017520" cy="365760"/>
          </a:xfrm>
          <a:prstGeom prst="rect">
            <a:avLst/>
          </a:prstGeom>
          <a:noFill/>
          <a:ln/>
        </p:spPr>
        <p:txBody>
          <a:bodyPr wrap="square" lIns="0" tIns="0" rIns="0" bIns="0" rtlCol="0" anchor="t"/>
          <a:lstStyle/>
          <a:p>
            <a:pPr indent="0" marL="0">
              <a:buNone/>
            </a:pPr>
            <a:r>
              <a:rPr lang="en-US" sz="1700" b="1" dirty="0">
                <a:solidFill>
                  <a:schemeClr val="tx1"/>
                </a:solidFill>
              </a:rPr>
              <a:t>Reference solver</a:t>
            </a:r>
            <a:endParaRPr lang="en-US" sz="1700" dirty="0"/>
          </a:p>
        </p:txBody>
      </p:sp>
      <p:sp>
        <p:nvSpPr>
          <p:cNvPr id="13" name="text-151"/>
          <p:cNvSpPr txBox="1"/>
          <p:nvPr/>
        </p:nvSpPr>
        <p:spPr>
          <a:xfrm>
            <a:off x="4613148" y="2971800"/>
            <a:ext cx="3017520" cy="640080"/>
          </a:xfrm>
          <a:prstGeom prst="rect">
            <a:avLst/>
          </a:prstGeom>
          <a:noFill/>
          <a:ln/>
        </p:spPr>
        <p:txBody>
          <a:bodyPr wrap="square" lIns="0" tIns="0" rIns="0" bIns="0" rtlCol="0" anchor="t"/>
          <a:lstStyle/>
          <a:p>
            <a:pPr indent="0" marL="0">
              <a:buNone/>
            </a:pPr>
            <a:r>
              <a:rPr lang="en-US" sz="1400" dirty="0">
                <a:solidFill>
                  <a:schemeClr val="tx2"/>
                </a:solidFill>
              </a:rPr>
              <a:t>Derive the PIDE; Merton closed form and finite-difference solver</a:t>
            </a:r>
            <a:endParaRPr lang="en-US" sz="1400" dirty="0"/>
          </a:p>
        </p:txBody>
      </p:sp>
      <p:sp>
        <p:nvSpPr>
          <p:cNvPr id="14" name="card-152"/>
          <p:cNvSpPr/>
          <p:nvPr/>
        </p:nvSpPr>
        <p:spPr>
          <a:xfrm>
            <a:off x="8129016" y="1691640"/>
            <a:ext cx="3511296" cy="2011680"/>
          </a:xfrm>
          <a:prstGeom prst="roundRect">
            <a:avLst>
              <a:gd name="adj" fmla="val 5455"/>
            </a:avLst>
          </a:prstGeom>
          <a:solidFill>
            <a:schemeClr val="bg2"/>
          </a:solidFill>
          <a:ln/>
        </p:spPr>
      </p:sp>
      <p:sp>
        <p:nvSpPr>
          <p:cNvPr id="15" name="dot-153"/>
          <p:cNvSpPr txBox="1"/>
          <p:nvPr/>
        </p:nvSpPr>
        <p:spPr>
          <a:xfrm>
            <a:off x="8403336" y="1965960"/>
            <a:ext cx="420624" cy="420624"/>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6" name="text-154"/>
          <p:cNvSpPr txBox="1"/>
          <p:nvPr/>
        </p:nvSpPr>
        <p:spPr>
          <a:xfrm>
            <a:off x="8951976" y="1965960"/>
            <a:ext cx="2560320" cy="420624"/>
          </a:xfrm>
          <a:prstGeom prst="rect">
            <a:avLst/>
          </a:prstGeom>
          <a:noFill/>
          <a:ln/>
        </p:spPr>
        <p:txBody>
          <a:bodyPr wrap="square" lIns="0" tIns="0" rIns="0" bIns="0" rtlCol="0" anchor="ctr"/>
          <a:lstStyle/>
          <a:p>
            <a:pPr indent="0" marL="0">
              <a:buNone/>
            </a:pPr>
            <a:r>
              <a:rPr lang="en-US" sz="1200" b="1" dirty="0">
                <a:solidFill>
                  <a:schemeClr val="accent1"/>
                </a:solidFill>
              </a:rPr>
              <a:t>STAGE 3</a:t>
            </a:r>
            <a:endParaRPr lang="en-US" sz="1200" dirty="0"/>
          </a:p>
        </p:txBody>
      </p:sp>
      <p:sp>
        <p:nvSpPr>
          <p:cNvPr id="17" name="text-155"/>
          <p:cNvSpPr txBox="1"/>
          <p:nvPr/>
        </p:nvSpPr>
        <p:spPr>
          <a:xfrm>
            <a:off x="8403336" y="2560320"/>
            <a:ext cx="3017520" cy="365760"/>
          </a:xfrm>
          <a:prstGeom prst="rect">
            <a:avLst/>
          </a:prstGeom>
          <a:noFill/>
          <a:ln/>
        </p:spPr>
        <p:txBody>
          <a:bodyPr wrap="square" lIns="0" tIns="0" rIns="0" bIns="0" rtlCol="0" anchor="t"/>
          <a:lstStyle/>
          <a:p>
            <a:pPr indent="0" marL="0">
              <a:buNone/>
            </a:pPr>
            <a:r>
              <a:rPr lang="en-US" sz="1700" b="1" dirty="0">
                <a:solidFill>
                  <a:schemeClr val="tx1"/>
                </a:solidFill>
              </a:rPr>
              <a:t>PINN on synthetic data</a:t>
            </a:r>
            <a:endParaRPr lang="en-US" sz="1700" dirty="0"/>
          </a:p>
        </p:txBody>
      </p:sp>
      <p:sp>
        <p:nvSpPr>
          <p:cNvPr id="18" name="text-156"/>
          <p:cNvSpPr txBox="1"/>
          <p:nvPr/>
        </p:nvSpPr>
        <p:spPr>
          <a:xfrm>
            <a:off x="8403336" y="2971800"/>
            <a:ext cx="3017520" cy="640080"/>
          </a:xfrm>
          <a:prstGeom prst="rect">
            <a:avLst/>
          </a:prstGeom>
          <a:noFill/>
          <a:ln/>
        </p:spPr>
        <p:txBody>
          <a:bodyPr wrap="square" lIns="0" tIns="0" rIns="0" bIns="0" rtlCol="0" anchor="t"/>
          <a:lstStyle/>
          <a:p>
            <a:pPr indent="0" marL="0">
              <a:buNone/>
            </a:pPr>
            <a:r>
              <a:rPr lang="en-US" sz="1400" dirty="0">
                <a:solidFill>
                  <a:schemeClr val="tx2"/>
                </a:solidFill>
              </a:rPr>
              <a:t>Working PINN with density and tail accuracy results</a:t>
            </a:r>
            <a:endParaRPr lang="en-US" sz="1400" dirty="0"/>
          </a:p>
        </p:txBody>
      </p:sp>
      <p:sp>
        <p:nvSpPr>
          <p:cNvPr id="19" name="card-157"/>
          <p:cNvSpPr/>
          <p:nvPr/>
        </p:nvSpPr>
        <p:spPr>
          <a:xfrm>
            <a:off x="548640" y="3931920"/>
            <a:ext cx="3511296" cy="2011680"/>
          </a:xfrm>
          <a:prstGeom prst="roundRect">
            <a:avLst>
              <a:gd name="adj" fmla="val 5455"/>
            </a:avLst>
          </a:prstGeom>
          <a:solidFill>
            <a:schemeClr val="bg2"/>
          </a:solidFill>
          <a:ln/>
        </p:spPr>
      </p:sp>
      <p:sp>
        <p:nvSpPr>
          <p:cNvPr id="20" name="dot-158"/>
          <p:cNvSpPr txBox="1"/>
          <p:nvPr/>
        </p:nvSpPr>
        <p:spPr>
          <a:xfrm>
            <a:off x="822960" y="4206240"/>
            <a:ext cx="420624" cy="420624"/>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1" name="text-159"/>
          <p:cNvSpPr txBox="1"/>
          <p:nvPr/>
        </p:nvSpPr>
        <p:spPr>
          <a:xfrm>
            <a:off x="1371600" y="4206240"/>
            <a:ext cx="2560320" cy="420624"/>
          </a:xfrm>
          <a:prstGeom prst="rect">
            <a:avLst/>
          </a:prstGeom>
          <a:noFill/>
          <a:ln/>
        </p:spPr>
        <p:txBody>
          <a:bodyPr wrap="square" lIns="0" tIns="0" rIns="0" bIns="0" rtlCol="0" anchor="ctr"/>
          <a:lstStyle/>
          <a:p>
            <a:pPr indent="0" marL="0">
              <a:buNone/>
            </a:pPr>
            <a:r>
              <a:rPr lang="en-US" sz="1200" b="1" dirty="0">
                <a:solidFill>
                  <a:schemeClr val="accent1"/>
                </a:solidFill>
              </a:rPr>
              <a:t>STAGE 4</a:t>
            </a:r>
            <a:endParaRPr lang="en-US" sz="1200" dirty="0"/>
          </a:p>
        </p:txBody>
      </p:sp>
      <p:sp>
        <p:nvSpPr>
          <p:cNvPr id="22" name="text-160"/>
          <p:cNvSpPr txBox="1"/>
          <p:nvPr/>
        </p:nvSpPr>
        <p:spPr>
          <a:xfrm>
            <a:off x="822960" y="4800600"/>
            <a:ext cx="3017520" cy="365760"/>
          </a:xfrm>
          <a:prstGeom prst="rect">
            <a:avLst/>
          </a:prstGeom>
          <a:noFill/>
          <a:ln/>
        </p:spPr>
        <p:txBody>
          <a:bodyPr wrap="square" lIns="0" tIns="0" rIns="0" bIns="0" rtlCol="0" anchor="t"/>
          <a:lstStyle/>
          <a:p>
            <a:pPr indent="0" marL="0">
              <a:buNone/>
            </a:pPr>
            <a:r>
              <a:rPr lang="en-US" sz="1700" b="1" dirty="0">
                <a:solidFill>
                  <a:schemeClr val="tx1"/>
                </a:solidFill>
              </a:rPr>
              <a:t>Controlled VaR/ES study</a:t>
            </a:r>
            <a:endParaRPr lang="en-US" sz="1700" dirty="0"/>
          </a:p>
        </p:txBody>
      </p:sp>
      <p:sp>
        <p:nvSpPr>
          <p:cNvPr id="23" name="text-161"/>
          <p:cNvSpPr txBox="1"/>
          <p:nvPr/>
        </p:nvSpPr>
        <p:spPr>
          <a:xfrm>
            <a:off x="822960" y="5212080"/>
            <a:ext cx="3017520" cy="640080"/>
          </a:xfrm>
          <a:prstGeom prst="rect">
            <a:avLst/>
          </a:prstGeom>
          <a:noFill/>
          <a:ln/>
        </p:spPr>
        <p:txBody>
          <a:bodyPr wrap="square" lIns="0" tIns="0" rIns="0" bIns="0" rtlCol="0" anchor="t"/>
          <a:lstStyle/>
          <a:p>
            <a:pPr indent="0" marL="0">
              <a:buNone/>
            </a:pPr>
            <a:r>
              <a:rPr lang="en-US" sz="1400" dirty="0">
                <a:solidFill>
                  <a:schemeClr val="tx2"/>
                </a:solidFill>
              </a:rPr>
              <a:t>Risk estimates against known true values</a:t>
            </a:r>
            <a:endParaRPr lang="en-US" sz="1400" dirty="0"/>
          </a:p>
        </p:txBody>
      </p:sp>
      <p:sp>
        <p:nvSpPr>
          <p:cNvPr id="24" name="card-162"/>
          <p:cNvSpPr/>
          <p:nvPr/>
        </p:nvSpPr>
        <p:spPr>
          <a:xfrm>
            <a:off x="4338828" y="3931920"/>
            <a:ext cx="3511296" cy="2011680"/>
          </a:xfrm>
          <a:prstGeom prst="roundRect">
            <a:avLst>
              <a:gd name="adj" fmla="val 5455"/>
            </a:avLst>
          </a:prstGeom>
          <a:solidFill>
            <a:schemeClr val="bg2"/>
          </a:solidFill>
          <a:ln/>
        </p:spPr>
      </p:sp>
      <p:sp>
        <p:nvSpPr>
          <p:cNvPr id="25" name="dot-163"/>
          <p:cNvSpPr txBox="1"/>
          <p:nvPr/>
        </p:nvSpPr>
        <p:spPr>
          <a:xfrm>
            <a:off x="4613148" y="4206240"/>
            <a:ext cx="420624" cy="420624"/>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6" name="text-164"/>
          <p:cNvSpPr txBox="1"/>
          <p:nvPr/>
        </p:nvSpPr>
        <p:spPr>
          <a:xfrm>
            <a:off x="5161788" y="4206240"/>
            <a:ext cx="2560320" cy="420624"/>
          </a:xfrm>
          <a:prstGeom prst="rect">
            <a:avLst/>
          </a:prstGeom>
          <a:noFill/>
          <a:ln/>
        </p:spPr>
        <p:txBody>
          <a:bodyPr wrap="square" lIns="0" tIns="0" rIns="0" bIns="0" rtlCol="0" anchor="ctr"/>
          <a:lstStyle/>
          <a:p>
            <a:pPr indent="0" marL="0">
              <a:buNone/>
            </a:pPr>
            <a:r>
              <a:rPr lang="en-US" sz="1200" b="1" dirty="0">
                <a:solidFill>
                  <a:schemeClr val="accent1"/>
                </a:solidFill>
              </a:rPr>
              <a:t>STAGE 5</a:t>
            </a:r>
            <a:endParaRPr lang="en-US" sz="1200" dirty="0"/>
          </a:p>
        </p:txBody>
      </p:sp>
      <p:sp>
        <p:nvSpPr>
          <p:cNvPr id="27" name="text-165"/>
          <p:cNvSpPr txBox="1"/>
          <p:nvPr/>
        </p:nvSpPr>
        <p:spPr>
          <a:xfrm>
            <a:off x="4613148" y="4800600"/>
            <a:ext cx="3017520" cy="365760"/>
          </a:xfrm>
          <a:prstGeom prst="rect">
            <a:avLst/>
          </a:prstGeom>
          <a:noFill/>
          <a:ln/>
        </p:spPr>
        <p:txBody>
          <a:bodyPr wrap="square" lIns="0" tIns="0" rIns="0" bIns="0" rtlCol="0" anchor="t"/>
          <a:lstStyle/>
          <a:p>
            <a:pPr indent="0" marL="0">
              <a:buNone/>
            </a:pPr>
            <a:r>
              <a:rPr lang="en-US" sz="1700" b="1" dirty="0">
                <a:solidFill>
                  <a:schemeClr val="tx1"/>
                </a:solidFill>
              </a:rPr>
              <a:t>Empirical backtests</a:t>
            </a:r>
            <a:endParaRPr lang="en-US" sz="1700" dirty="0"/>
          </a:p>
        </p:txBody>
      </p:sp>
      <p:sp>
        <p:nvSpPr>
          <p:cNvPr id="28" name="text-166"/>
          <p:cNvSpPr txBox="1"/>
          <p:nvPr/>
        </p:nvSpPr>
        <p:spPr>
          <a:xfrm>
            <a:off x="4613148" y="5212080"/>
            <a:ext cx="3017520" cy="640080"/>
          </a:xfrm>
          <a:prstGeom prst="rect">
            <a:avLst/>
          </a:prstGeom>
          <a:noFill/>
          <a:ln/>
        </p:spPr>
        <p:txBody>
          <a:bodyPr wrap="square" lIns="0" tIns="0" rIns="0" bIns="0" rtlCol="0" anchor="t"/>
          <a:lstStyle/>
          <a:p>
            <a:pPr indent="0" marL="0">
              <a:buNone/>
            </a:pPr>
            <a:r>
              <a:rPr lang="en-US" sz="1400" dirty="0">
                <a:solidFill>
                  <a:schemeClr val="tx2"/>
                </a:solidFill>
              </a:rPr>
              <a:t>Rolling forecasts on NIFTY 50 and S&amp;P 500</a:t>
            </a:r>
            <a:endParaRPr lang="en-US" sz="1400" dirty="0"/>
          </a:p>
        </p:txBody>
      </p:sp>
      <p:sp>
        <p:nvSpPr>
          <p:cNvPr id="29" name="card-167"/>
          <p:cNvSpPr/>
          <p:nvPr/>
        </p:nvSpPr>
        <p:spPr>
          <a:xfrm>
            <a:off x="8129016" y="3931920"/>
            <a:ext cx="3511296" cy="2011680"/>
          </a:xfrm>
          <a:prstGeom prst="roundRect">
            <a:avLst>
              <a:gd name="adj" fmla="val 5455"/>
            </a:avLst>
          </a:prstGeom>
          <a:solidFill>
            <a:schemeClr val="bg2"/>
          </a:solidFill>
          <a:ln/>
        </p:spPr>
      </p:sp>
      <p:sp>
        <p:nvSpPr>
          <p:cNvPr id="30" name="dot-168"/>
          <p:cNvSpPr txBox="1"/>
          <p:nvPr/>
        </p:nvSpPr>
        <p:spPr>
          <a:xfrm>
            <a:off x="8403336" y="4206240"/>
            <a:ext cx="420624" cy="420624"/>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31" name="text-169"/>
          <p:cNvSpPr txBox="1"/>
          <p:nvPr/>
        </p:nvSpPr>
        <p:spPr>
          <a:xfrm>
            <a:off x="8951976" y="4206240"/>
            <a:ext cx="2560320" cy="420624"/>
          </a:xfrm>
          <a:prstGeom prst="rect">
            <a:avLst/>
          </a:prstGeom>
          <a:noFill/>
          <a:ln/>
        </p:spPr>
        <p:txBody>
          <a:bodyPr wrap="square" lIns="0" tIns="0" rIns="0" bIns="0" rtlCol="0" anchor="ctr"/>
          <a:lstStyle/>
          <a:p>
            <a:pPr indent="0" marL="0">
              <a:buNone/>
            </a:pPr>
            <a:r>
              <a:rPr lang="en-US" sz="1200" b="1" dirty="0">
                <a:solidFill>
                  <a:schemeClr val="accent1"/>
                </a:solidFill>
              </a:rPr>
              <a:t>STAGE 6</a:t>
            </a:r>
            <a:endParaRPr lang="en-US" sz="1200" dirty="0"/>
          </a:p>
        </p:txBody>
      </p:sp>
      <p:sp>
        <p:nvSpPr>
          <p:cNvPr id="32" name="text-170"/>
          <p:cNvSpPr txBox="1"/>
          <p:nvPr/>
        </p:nvSpPr>
        <p:spPr>
          <a:xfrm>
            <a:off x="8403336" y="4800600"/>
            <a:ext cx="3017520" cy="365760"/>
          </a:xfrm>
          <a:prstGeom prst="rect">
            <a:avLst/>
          </a:prstGeom>
          <a:noFill/>
          <a:ln/>
        </p:spPr>
        <p:txBody>
          <a:bodyPr wrap="square" lIns="0" tIns="0" rIns="0" bIns="0" rtlCol="0" anchor="t"/>
          <a:lstStyle/>
          <a:p>
            <a:pPr indent="0" marL="0">
              <a:buNone/>
            </a:pPr>
            <a:r>
              <a:rPr lang="en-US" sz="1700" b="1" dirty="0">
                <a:solidFill>
                  <a:schemeClr val="tx1"/>
                </a:solidFill>
              </a:rPr>
              <a:t>Cost and ablations</a:t>
            </a:r>
            <a:endParaRPr lang="en-US" sz="1700" dirty="0"/>
          </a:p>
        </p:txBody>
      </p:sp>
      <p:sp>
        <p:nvSpPr>
          <p:cNvPr id="33" name="text-171"/>
          <p:cNvSpPr txBox="1"/>
          <p:nvPr/>
        </p:nvSpPr>
        <p:spPr>
          <a:xfrm>
            <a:off x="8403336" y="5212080"/>
            <a:ext cx="3017520" cy="640080"/>
          </a:xfrm>
          <a:prstGeom prst="rect">
            <a:avLst/>
          </a:prstGeom>
          <a:noFill/>
          <a:ln/>
        </p:spPr>
        <p:txBody>
          <a:bodyPr wrap="square" lIns="0" tIns="0" rIns="0" bIns="0" rtlCol="0" anchor="t"/>
          <a:lstStyle/>
          <a:p>
            <a:pPr indent="0" marL="0">
              <a:buNone/>
            </a:pPr>
            <a:r>
              <a:rPr lang="en-US" sz="1400" dirty="0">
                <a:solidFill>
                  <a:schemeClr val="tx2"/>
                </a:solidFill>
              </a:rPr>
              <a:t>Break-even analysis, failure cases, thesis</a:t>
            </a:r>
            <a:endParaRPr lang="en-US" sz="14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1091672" cy="292608"/>
          </a:xfrm>
          <a:prstGeom prst="rect">
            <a:avLst/>
          </a:prstGeom>
          <a:noFill/>
          <a:ln/>
        </p:spPr>
        <p:txBody>
          <a:bodyPr wrap="square" lIns="0" tIns="0" rIns="0" bIns="0" rtlCol="0" anchor="t"/>
          <a:lstStyle/>
          <a:p>
            <a:pPr indent="0" marL="0">
              <a:buNone/>
            </a:pPr>
            <a:r>
              <a:rPr lang="en-US" sz="1200" b="1" spc="200" kern="0" dirty="0">
                <a:solidFill>
                  <a:schemeClr val="accent4"/>
                </a:solidFill>
              </a:rPr>
              <a:t>11 · CONTRIBUTIONS AND SCOPE</a:t>
            </a:r>
            <a:endParaRPr lang="en-US" sz="1200" dirty="0"/>
          </a:p>
        </p:txBody>
      </p:sp>
      <p:sp>
        <p:nvSpPr>
          <p:cNvPr id="3" name="Text 0"/>
          <p:cNvSpPr/>
          <p:nvPr>
            <p:ph idx="101" type="title" hasCustomPrompt="1"/>
          </p:nvPr>
        </p:nvSpPr>
        <p:spPr>
          <a:xfrm>
            <a:off x="548640" y="676656"/>
            <a:ext cx="11091672" cy="640080"/>
          </a:xfrm>
          <a:prstGeom prst="rect">
            <a:avLst/>
          </a:prstGeom>
          <a:noFill/>
          <a:ln/>
        </p:spPr>
        <p:txBody>
          <a:bodyPr wrap="square" lIns="0" tIns="0" rIns="0" bIns="0" rtlCol="0" anchor="t"/>
          <a:lstStyle/>
          <a:p>
            <a:pPr algn="l" indent="0" marL="0">
              <a:buNone/>
            </a:pPr>
            <a:r>
              <a:rPr lang="en-US" sz="3000" b="1" dirty="0">
                <a:solidFill>
                  <a:schemeClr val="bg1"/>
                </a:solidFill>
              </a:rPr>
              <a:t>What this thesis will deliver</a:t>
            </a:r>
            <a:endParaRPr lang="en-US" sz="3000" dirty="0"/>
          </a:p>
        </p:txBody>
      </p:sp>
      <p:sp>
        <p:nvSpPr>
          <p:cNvPr id="4" name="text-172"/>
          <p:cNvSpPr txBox="1"/>
          <p:nvPr/>
        </p:nvSpPr>
        <p:spPr>
          <a:xfrm>
            <a:off x="548640" y="1645920"/>
            <a:ext cx="5943600" cy="365760"/>
          </a:xfrm>
          <a:prstGeom prst="rect">
            <a:avLst/>
          </a:prstGeom>
          <a:noFill/>
          <a:ln/>
        </p:spPr>
        <p:txBody>
          <a:bodyPr wrap="square" lIns="0" tIns="0" rIns="0" bIns="0" rtlCol="0" anchor="t"/>
          <a:lstStyle/>
          <a:p>
            <a:pPr indent="0" marL="0">
              <a:buNone/>
            </a:pPr>
            <a:r>
              <a:rPr lang="en-US" sz="1800" b="1" dirty="0">
                <a:solidFill>
                  <a:schemeClr val="accent4"/>
                </a:solidFill>
              </a:rPr>
              <a:t>Expected contributions</a:t>
            </a:r>
            <a:endParaRPr lang="en-US" sz="1800" dirty="0"/>
          </a:p>
        </p:txBody>
      </p:sp>
      <p:sp>
        <p:nvSpPr>
          <p:cNvPr id="5" name="dot-173"/>
          <p:cNvSpPr txBox="1"/>
          <p:nvPr/>
        </p:nvSpPr>
        <p:spPr>
          <a:xfrm>
            <a:off x="548640" y="2148840"/>
            <a:ext cx="365760" cy="365760"/>
          </a:xfrm>
          <a:prstGeom prst="ellipse">
            <a:avLst/>
          </a:prstGeom>
          <a:solidFill>
            <a:schemeClr val="accent4"/>
          </a:solid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6" name="text-174"/>
          <p:cNvSpPr txBox="1"/>
          <p:nvPr/>
        </p:nvSpPr>
        <p:spPr>
          <a:xfrm>
            <a:off x="1097280" y="2148840"/>
            <a:ext cx="5394960" cy="365760"/>
          </a:xfrm>
          <a:prstGeom prst="rect">
            <a:avLst/>
          </a:prstGeom>
          <a:noFill/>
          <a:ln/>
        </p:spPr>
        <p:txBody>
          <a:bodyPr wrap="square" lIns="0" tIns="0" rIns="0" bIns="0" rtlCol="0" anchor="ctr"/>
          <a:lstStyle/>
          <a:p>
            <a:pPr indent="0" marL="0">
              <a:buNone/>
            </a:pPr>
            <a:r>
              <a:rPr lang="en-US" sz="1500" dirty="0">
                <a:solidFill>
                  <a:schemeClr val="bg1"/>
                </a:solidFill>
              </a:rPr>
              <a:t>Evidence on density accuracy vs tail accuracy</a:t>
            </a:r>
            <a:endParaRPr lang="en-US" sz="1500" dirty="0"/>
          </a:p>
        </p:txBody>
      </p:sp>
      <p:sp>
        <p:nvSpPr>
          <p:cNvPr id="7" name="dot-175"/>
          <p:cNvSpPr txBox="1"/>
          <p:nvPr/>
        </p:nvSpPr>
        <p:spPr>
          <a:xfrm>
            <a:off x="548640" y="2752344"/>
            <a:ext cx="365760" cy="365760"/>
          </a:xfrm>
          <a:prstGeom prst="ellipse">
            <a:avLst/>
          </a:prstGeom>
          <a:solidFill>
            <a:schemeClr val="accent4"/>
          </a:solid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8" name="text-176"/>
          <p:cNvSpPr txBox="1"/>
          <p:nvPr/>
        </p:nvSpPr>
        <p:spPr>
          <a:xfrm>
            <a:off x="1097280" y="2752344"/>
            <a:ext cx="5394960" cy="365760"/>
          </a:xfrm>
          <a:prstGeom prst="rect">
            <a:avLst/>
          </a:prstGeom>
          <a:noFill/>
          <a:ln/>
        </p:spPr>
        <p:txBody>
          <a:bodyPr wrap="square" lIns="0" tIns="0" rIns="0" bIns="0" rtlCol="0" anchor="ctr"/>
          <a:lstStyle/>
          <a:p>
            <a:pPr indent="0" marL="0">
              <a:buNone/>
            </a:pPr>
            <a:r>
              <a:rPr lang="en-US" sz="1500" dirty="0">
                <a:solidFill>
                  <a:schemeClr val="bg1"/>
                </a:solidFill>
              </a:rPr>
              <a:t>A physics vs data-only ablation</a:t>
            </a:r>
            <a:endParaRPr lang="en-US" sz="1500" dirty="0"/>
          </a:p>
        </p:txBody>
      </p:sp>
      <p:sp>
        <p:nvSpPr>
          <p:cNvPr id="9" name="dot-177"/>
          <p:cNvSpPr txBox="1"/>
          <p:nvPr/>
        </p:nvSpPr>
        <p:spPr>
          <a:xfrm>
            <a:off x="548640" y="3355848"/>
            <a:ext cx="365760" cy="365760"/>
          </a:xfrm>
          <a:prstGeom prst="ellipse">
            <a:avLst/>
          </a:prstGeom>
          <a:solidFill>
            <a:schemeClr val="accent4"/>
          </a:solid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10" name="text-178"/>
          <p:cNvSpPr txBox="1"/>
          <p:nvPr/>
        </p:nvSpPr>
        <p:spPr>
          <a:xfrm>
            <a:off x="1097280" y="3355848"/>
            <a:ext cx="5394960" cy="365760"/>
          </a:xfrm>
          <a:prstGeom prst="rect">
            <a:avLst/>
          </a:prstGeom>
          <a:noFill/>
          <a:ln/>
        </p:spPr>
        <p:txBody>
          <a:bodyPr wrap="square" lIns="0" tIns="0" rIns="0" bIns="0" rtlCol="0" anchor="ctr"/>
          <a:lstStyle/>
          <a:p>
            <a:pPr indent="0" marL="0">
              <a:buNone/>
            </a:pPr>
            <a:r>
              <a:rPr lang="en-US" sz="1500" dirty="0">
                <a:solidFill>
                  <a:schemeClr val="bg1"/>
                </a:solidFill>
              </a:rPr>
              <a:t>VaR/ES calibration on two markets</a:t>
            </a:r>
            <a:endParaRPr lang="en-US" sz="1500" dirty="0"/>
          </a:p>
        </p:txBody>
      </p:sp>
      <p:sp>
        <p:nvSpPr>
          <p:cNvPr id="11" name="dot-179"/>
          <p:cNvSpPr txBox="1"/>
          <p:nvPr/>
        </p:nvSpPr>
        <p:spPr>
          <a:xfrm>
            <a:off x="548640" y="3959352"/>
            <a:ext cx="365760" cy="365760"/>
          </a:xfrm>
          <a:prstGeom prst="ellipse">
            <a:avLst/>
          </a:prstGeom>
          <a:solidFill>
            <a:schemeClr val="accent4"/>
          </a:solidFill>
          <a:ln/>
        </p:spPr>
        <p:txBody>
          <a:bodyPr wrap="square" lIns="0" tIns="0" rIns="0" bIns="0" rtlCol="0" anchor="ctr"/>
          <a:lstStyle/>
          <a:p>
            <a:pPr algn="ctr" indent="0" marL="0">
              <a:buNone/>
            </a:pPr>
            <a:r>
              <a:rPr lang="en-US" sz="1400" b="1" dirty="0">
                <a:solidFill>
                  <a:schemeClr val="tx1"/>
                </a:solidFill>
              </a:rPr>
              <a:t>4</a:t>
            </a:r>
            <a:endParaRPr lang="en-US" sz="1400" dirty="0"/>
          </a:p>
        </p:txBody>
      </p:sp>
      <p:sp>
        <p:nvSpPr>
          <p:cNvPr id="12" name="text-180"/>
          <p:cNvSpPr txBox="1"/>
          <p:nvPr/>
        </p:nvSpPr>
        <p:spPr>
          <a:xfrm>
            <a:off x="1097280" y="3959352"/>
            <a:ext cx="5394960" cy="365760"/>
          </a:xfrm>
          <a:prstGeom prst="rect">
            <a:avLst/>
          </a:prstGeom>
          <a:noFill/>
          <a:ln/>
        </p:spPr>
        <p:txBody>
          <a:bodyPr wrap="square" lIns="0" tIns="0" rIns="0" bIns="0" rtlCol="0" anchor="ctr"/>
          <a:lstStyle/>
          <a:p>
            <a:pPr indent="0" marL="0">
              <a:buNone/>
            </a:pPr>
            <a:r>
              <a:rPr lang="en-US" sz="1500" dirty="0">
                <a:solidFill>
                  <a:schemeClr val="bg1"/>
                </a:solidFill>
              </a:rPr>
              <a:t>A computational break-even point, if one exists</a:t>
            </a:r>
            <a:endParaRPr lang="en-US" sz="1500" dirty="0"/>
          </a:p>
        </p:txBody>
      </p:sp>
      <p:sp>
        <p:nvSpPr>
          <p:cNvPr id="13" name="dot-181"/>
          <p:cNvSpPr txBox="1"/>
          <p:nvPr/>
        </p:nvSpPr>
        <p:spPr>
          <a:xfrm>
            <a:off x="548640" y="4562856"/>
            <a:ext cx="365760" cy="365760"/>
          </a:xfrm>
          <a:prstGeom prst="ellipse">
            <a:avLst/>
          </a:prstGeom>
          <a:solidFill>
            <a:schemeClr val="accent4"/>
          </a:solidFill>
          <a:ln/>
        </p:spPr>
        <p:txBody>
          <a:bodyPr wrap="square" lIns="0" tIns="0" rIns="0" bIns="0" rtlCol="0" anchor="ctr"/>
          <a:lstStyle/>
          <a:p>
            <a:pPr algn="ctr" indent="0" marL="0">
              <a:buNone/>
            </a:pPr>
            <a:r>
              <a:rPr lang="en-US" sz="1400" b="1" dirty="0">
                <a:solidFill>
                  <a:schemeClr val="tx1"/>
                </a:solidFill>
              </a:rPr>
              <a:t>5</a:t>
            </a:r>
            <a:endParaRPr lang="en-US" sz="1400" dirty="0"/>
          </a:p>
        </p:txBody>
      </p:sp>
      <p:sp>
        <p:nvSpPr>
          <p:cNvPr id="14" name="text-182"/>
          <p:cNvSpPr txBox="1"/>
          <p:nvPr/>
        </p:nvSpPr>
        <p:spPr>
          <a:xfrm>
            <a:off x="1097280" y="4562856"/>
            <a:ext cx="5394960" cy="365760"/>
          </a:xfrm>
          <a:prstGeom prst="rect">
            <a:avLst/>
          </a:prstGeom>
          <a:noFill/>
          <a:ln/>
        </p:spPr>
        <p:txBody>
          <a:bodyPr wrap="square" lIns="0" tIns="0" rIns="0" bIns="0" rtlCol="0" anchor="ctr"/>
          <a:lstStyle/>
          <a:p>
            <a:pPr indent="0" marL="0">
              <a:buNone/>
            </a:pPr>
            <a:r>
              <a:rPr lang="en-US" sz="1500" dirty="0">
                <a:solidFill>
                  <a:schemeClr val="bg1"/>
                </a:solidFill>
              </a:rPr>
              <a:t>Conditions where simpler models remain preferable</a:t>
            </a:r>
            <a:endParaRPr lang="en-US" sz="1500" dirty="0"/>
          </a:p>
        </p:txBody>
      </p:sp>
      <p:sp>
        <p:nvSpPr>
          <p:cNvPr id="15" name="card-183"/>
          <p:cNvSpPr/>
          <p:nvPr/>
        </p:nvSpPr>
        <p:spPr>
          <a:xfrm>
            <a:off x="6949440" y="1645920"/>
            <a:ext cx="4690872" cy="3017520"/>
          </a:xfrm>
          <a:prstGeom prst="roundRect">
            <a:avLst>
              <a:gd name="adj" fmla="val 3636"/>
            </a:avLst>
          </a:prstGeom>
          <a:solidFill>
            <a:schemeClr val="accent3"/>
          </a:solidFill>
          <a:ln/>
        </p:spPr>
      </p:sp>
      <p:sp>
        <p:nvSpPr>
          <p:cNvPr id="16" name="text-184"/>
          <p:cNvSpPr txBox="1"/>
          <p:nvPr/>
        </p:nvSpPr>
        <p:spPr>
          <a:xfrm>
            <a:off x="7269480" y="1920240"/>
            <a:ext cx="4069080" cy="2651760"/>
          </a:xfrm>
          <a:prstGeom prst="rect">
            <a:avLst/>
          </a:prstGeom>
          <a:noFill/>
          <a:ln/>
        </p:spPr>
        <p:txBody>
          <a:bodyPr wrap="square" lIns="0" tIns="0" rIns="0" bIns="0" rtlCol="0" anchor="t"/>
          <a:lstStyle/>
          <a:p>
            <a:pPr indent="0" marL="0">
              <a:buNone/>
            </a:pPr>
            <a:r>
              <a:rPr lang="en-US" sz="1700" b="1" dirty="0">
                <a:solidFill>
                  <a:schemeClr val="bg1"/>
                </a:solidFill>
              </a:rPr>
              <a:t>Out of scope</a:t>
            </a:r>
            <a:endParaRPr lang="en-US" sz="1400" dirty="0"/>
          </a:p>
          <a:p>
            <a:pPr indent="0" marL="0">
              <a:spcAft>
                <a:spcPts val="1400"/>
              </a:spcAft>
              <a:buNone/>
            </a:pPr>
            <a:r>
              <a:rPr lang="en-US" sz="1400" dirty="0">
                <a:solidFill>
                  <a:schemeClr val="accent5"/>
                </a:solidFill>
              </a:rPr>
              <a:t>XVA and counterparty risk, American-option hedging, multi-asset portfolios — future work.</a:t>
            </a:r>
            <a:endParaRPr lang="en-US" sz="1400" dirty="0"/>
          </a:p>
          <a:p>
            <a:pPr indent="0" marL="0">
              <a:buNone/>
            </a:pPr>
            <a:r>
              <a:rPr lang="en-US" sz="1700" b="1" dirty="0">
                <a:solidFill>
                  <a:schemeClr val="bg1"/>
                </a:solidFill>
              </a:rPr>
              <a:t>Main risk</a:t>
            </a:r>
            <a:endParaRPr lang="en-US" sz="1400" dirty="0"/>
          </a:p>
          <a:p>
            <a:pPr indent="0" marL="0">
              <a:buNone/>
            </a:pPr>
            <a:r>
              <a:rPr lang="en-US" sz="1400" dirty="0">
                <a:solidFill>
                  <a:schemeClr val="accent5"/>
                </a:solidFill>
              </a:rPr>
              <a:t>Constant-parameter model may under-react to volatility clusters; mitigated by rolling re-estimation and a stochastic-volatility extension.</a:t>
            </a:r>
            <a:endParaRPr lang="en-US" sz="1400" dirty="0"/>
          </a:p>
        </p:txBody>
      </p:sp>
      <p:sp>
        <p:nvSpPr>
          <p:cNvPr id="17" name="text-185"/>
          <p:cNvSpPr txBox="1"/>
          <p:nvPr/>
        </p:nvSpPr>
        <p:spPr>
          <a:xfrm>
            <a:off x="548640" y="5532120"/>
            <a:ext cx="11091672" cy="502920"/>
          </a:xfrm>
          <a:prstGeom prst="rect">
            <a:avLst/>
          </a:prstGeom>
          <a:noFill/>
          <a:ln/>
        </p:spPr>
        <p:txBody>
          <a:bodyPr wrap="square" lIns="0" tIns="0" rIns="0" bIns="0" rtlCol="0" anchor="t"/>
          <a:lstStyle/>
          <a:p>
            <a:pPr indent="0" marL="0">
              <a:buNone/>
            </a:pPr>
            <a:r>
              <a:rPr lang="en-US" sz="2400" dirty="0">
                <a:solidFill>
                  <a:schemeClr val="bg1"/>
                </a:solidFill>
                <a:latin typeface="+mj-lt" pitchFamily="34" charset="0"/>
                <a:ea typeface="+mj-lt" pitchFamily="34" charset="-122"/>
                <a:cs typeface="+mj-lt" pitchFamily="34" charset="-120"/>
              </a:rPr>
              <a:t>Thank you — questions and feedback welcome.</a:t>
            </a:r>
            <a:endParaRPr lang="en-US" sz="24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8FA0C0"/>
                </a:solidFill>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Tail Risk">
  <a:themeElements>
    <a:clrScheme name="Tail Risk">
      <a:dk1>
        <a:srgbClr val="14213D"/>
      </a:dk1>
      <a:lt1>
        <a:srgbClr val="FFFFFF"/>
      </a:lt1>
      <a:dk2>
        <a:srgbClr val="3E4658"/>
      </a:dk2>
      <a:lt2>
        <a:srgbClr val="EEF1F6"/>
      </a:lt2>
      <a:accent1>
        <a:srgbClr val="B4501E"/>
      </a:accent1>
      <a:accent2>
        <a:srgbClr val="2F5E8C"/>
      </a:accent2>
      <a:accent3>
        <a:srgbClr val="1E2D4F"/>
      </a:accent3>
      <a:accent4>
        <a:srgbClr val="F0904F"/>
      </a:accent4>
      <a:accent5>
        <a:srgbClr val="C9D3E3"/>
      </a:accent5>
      <a:accent6>
        <a:srgbClr val="6B7280"/>
      </a:accent6>
      <a:hlink>
        <a:srgbClr val="2F5E8C"/>
      </a:hlink>
      <a:folHlink>
        <a:srgbClr val="6D2E46"/>
      </a:folHlink>
    </a:clrScheme>
    <a:fontScheme name="Tail Ris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PINNs for Financial Tail-Risk Estimation</dc:title>
  <dc:subject>PptxGenJS Presentation</dc:subject>
  <dc:creator>Aditya Siraskar, Utkarsh Sinha, Aditya Sharma</dc:creator>
  <cp:lastModifiedBy>Aditya Siraskar, Utkarsh Sinha, Aditya Sharma</cp:lastModifiedBy>
  <cp:revision>1</cp:revision>
  <dcterms:created xsi:type="dcterms:W3CDTF">2026-10-10T09:59:33Z</dcterms:created>
  <dcterms:modified xsi:type="dcterms:W3CDTF">2026-10-10T09:59:33Z</dcterms:modified>
</cp:coreProperties>
</file>