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9890ffd-b0a3-e618-3aa8-b1a9998bfaf5}">
          <p14:sldIdLst>
            <p14:sldId id="256"/>
            <p14:sldId id="257"/>
            <p14:sldId id="258"/>
            <p14:sldId id="259"/>
          </p14:sldIdLst>
        </p14:section>
        <p14:section name="Approach" id="{1b7d41e4-f64f-8000-6644-b89c8e4a7cf7}">
          <p14:sldIdLst>
            <p14:sldId id="260"/>
            <p14:sldId id="261"/>
            <p14:sldId id="262"/>
            <p14:sldId id="263"/>
          </p14:sldIdLst>
        </p14:section>
        <p14:section name="Results" id="{14cdad18-cae8-fca6-475b-2cece8a6e953}">
          <p14:sldIdLst>
            <p14:sldId id="264"/>
            <p14:sldId id="265"/>
            <p14:sldId id="266"/>
            <p14:sldId id="267"/>
            <p14:sldId id="268"/>
            <p14:sldId id="269"/>
          </p14:sldIdLst>
        </p14:section>
        <p14:section name="Conclusion" id="{f1dbe756-6095-e804-0ede-03004a40bd1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10-day ES error, % (log scale, median of 3 seeds)</a:t>
            </a:r>
          </a:p>
        </c:rich>
      </c:tx>
      <c:layout/>
      <c:overlay val="0"/>
    </c:title>
    <c:autoTitleDeleted val="0"/>
    <c:plotArea>
      <c:layout/>
      <c:barChart>
        <c:barDir val="bar"/>
        <c:grouping val="clustered"/>
        <c:varyColors val="0"/>
        <c:ser>
          <c:idx val="0"/>
          <c:order val="0"/>
          <c:tx>
            <c:strRef>
              <c:f>Sheet1!$B$1</c:f>
              <c:strCache>
                <c:ptCount val="1"/>
                <c:pt idx="0">
                  <c:v>10-day ES error (%)</c:v>
                </c:pt>
              </c:strCache>
            </c:strRef>
          </c:tx>
          <c:spPr>
            <a:solidFill>
              <a:srgbClr val="2563EB"/>
            </a:solidFill>
            <a:effectLst/>
          </c:spPr>
          <c:invertIfNegative val="0"/>
          <c:dLbls>
            <c:numFmt formatCode="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6B7280"/>
              </a:solidFill>
              <a:effectLst/>
            </c:spPr>
          </c:dPt>
          <c:dPt>
            <c:idx val="2"/>
            <c:invertIfNegative val="0"/>
            <c:bubble3D val="0"/>
            <c:spPr>
              <a:solidFill>
                <a:srgbClr val="F2A541"/>
              </a:solidFill>
              <a:effectLst/>
            </c:spPr>
          </c:dPt>
          <c:dPt>
            <c:idx val="3"/>
            <c:invertIfNegative val="0"/>
            <c:bubble3D val="0"/>
            <c:spPr>
              <a:solidFill>
                <a:srgbClr val="D62839"/>
              </a:solidFill>
              <a:effectLst/>
            </c:spPr>
          </c:dPt>
          <c:cat>
            <c:multiLvlStrRef>
              <c:f>Sheet1!$A$2:$A$5</c:f>
              <c:multiLvlStrCache>
                <c:ptCount val="4"/>
                <c:lvl>
                  <c:pt idx="0">
                    <c:v>Full design</c:v>
                  </c:pt>
                  <c:pt idx="1">
                    <c:v>No normalisation</c:v>
                  </c:pt>
                  <c:pt idx="2">
                    <c:v>8 crash points</c:v>
                  </c:pt>
                  <c:pt idx="3">
                    <c:v>Standard error (not relative)</c:v>
                  </c:pt>
                </c:lvl>
              </c:multiLvlStrCache>
            </c:multiLvlStrRef>
          </c:cat>
          <c:val>
            <c:numRef>
              <c:f>Sheet1!$B$2:$B$5</c:f>
              <c:numCache>
                <c:formatCode>General</c:formatCode>
                <c:ptCount val="4"/>
                <c:pt idx="0">
                  <c:v>0.065</c:v>
                </c:pt>
                <c:pt idx="1">
                  <c:v>0.09</c:v>
                </c:pt>
                <c:pt idx="2">
                  <c:v>0.52</c:v>
                </c:pt>
                <c:pt idx="3">
                  <c:v>148</c:v>
                </c:pt>
              </c:numCache>
            </c:numRef>
          </c:val>
        </c:ser>
        <c:dLbls>
          <c:numFmt formatCode="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At val="0.01"/>
        <c:auto val="1"/>
        <c:lblAlgn val="ctr"/>
        <c:noMultiLvlLbl val="1"/>
      </c:catAx>
      <c:valAx>
        <c:axId val="2094734552"/>
        <c:scaling>
          <c:logBase val="10"/>
          <c:orientation val="minMax"/>
          <c:max val="1000"/>
          <c:min val="0.01"/>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10-day ES error, % (log scale)</a:t>
            </a:r>
          </a:p>
        </c:rich>
      </c:tx>
      <c:layout/>
      <c:overlay val="0"/>
    </c:title>
    <c:autoTitleDeleted val="0"/>
    <c:plotArea>
      <c:layout/>
      <c:barChart>
        <c:barDir val="col"/>
        <c:grouping val="clustered"/>
        <c:varyColors val="0"/>
        <c:ser>
          <c:idx val="0"/>
          <c:order val="0"/>
          <c:tx>
            <c:strRef>
              <c:f>Sheet1!$B$1</c:f>
              <c:strCache>
                <c:ptCount val="1"/>
                <c:pt idx="0">
                  <c:v>PINN</c:v>
                </c:pt>
              </c:strCache>
            </c:strRef>
          </c:tx>
          <c:spPr>
            <a:solidFill>
              <a:srgbClr val="2563EB"/>
            </a:solidFill>
            <a:effectLst/>
          </c:spPr>
          <c:invertIfNegative val="0"/>
          <c:dLbls>
            <c:numFmt formatCode="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1 asset</c:v>
                  </c:pt>
                  <c:pt idx="1">
                    <c:v>2 assets</c:v>
                  </c:pt>
                  <c:pt idx="2">
                    <c:v>5 assets</c:v>
                  </c:pt>
                  <c:pt idx="3">
                    <c:v>10 assets</c:v>
                  </c:pt>
                </c:lvl>
              </c:multiLvlStrCache>
            </c:multiLvlStrRef>
          </c:cat>
          <c:val>
            <c:numRef>
              <c:f>Sheet1!$B$2:$B$5</c:f>
              <c:numCache>
                <c:formatCode>General</c:formatCode>
                <c:ptCount val="4"/>
                <c:pt idx="0">
                  <c:v>0.05</c:v>
                </c:pt>
                <c:pt idx="1">
                  <c:v>1</c:v>
                </c:pt>
                <c:pt idx="2">
                  <c:v>0.6</c:v>
                </c:pt>
                <c:pt idx="3">
                  <c:v>62</c:v>
                </c:pt>
              </c:numCache>
            </c:numRef>
          </c:val>
        </c:ser>
        <c:ser>
          <c:idx val="1"/>
          <c:order val="1"/>
          <c:tx>
            <c:strRef>
              <c:f>Sheet1!$C$1</c:f>
              <c:strCache>
                <c:ptCount val="1"/>
                <c:pt idx="0">
                  <c:v>Monte Carlo (same budget)</c:v>
                </c:pt>
              </c:strCache>
            </c:strRef>
          </c:tx>
          <c:spPr>
            <a:solidFill>
              <a:srgbClr val="2A9D8F"/>
            </a:solidFill>
            <a:effectLst/>
          </c:spPr>
          <c:invertIfNegative val="0"/>
          <c:dLbls>
            <c:numFmt formatCode="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1 asset</c:v>
                  </c:pt>
                  <c:pt idx="1">
                    <c:v>2 assets</c:v>
                  </c:pt>
                  <c:pt idx="2">
                    <c:v>5 assets</c:v>
                  </c:pt>
                  <c:pt idx="3">
                    <c:v>10 assets</c:v>
                  </c:pt>
                </c:lvl>
              </c:multiLvlStrCache>
            </c:multiLvlStrRef>
          </c:cat>
          <c:val>
            <c:numRef>
              <c:f>Sheet1!$C$2:$C$5</c:f>
              <c:numCache>
                <c:formatCode>General</c:formatCode>
                <c:ptCount val="4"/>
                <c:pt idx="0">
                  <c:v>0.22</c:v>
                </c:pt>
                <c:pt idx="1">
                  <c:v>1.6</c:v>
                </c:pt>
                <c:pt idx="2">
                  <c:v>0.4</c:v>
                </c:pt>
                <c:pt idx="3">
                  <c:v>0.8</c:v>
                </c:pt>
              </c:numCache>
            </c:numRef>
          </c:val>
        </c:ser>
        <c:dLbls>
          <c:numFmt formatCode="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At val="0.01"/>
        <c:auto val="1"/>
        <c:lblAlgn val="ctr"/>
        <c:noMultiLvlLbl val="1"/>
      </c:catAx>
      <c:valAx>
        <c:axId val="2094734552"/>
        <c:scaling>
          <c:logBase val="10"/>
          <c:orientation val="minMax"/>
          <c:max val="100"/>
          <c:min val="0.01"/>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mn-lt"/>
              </a:defRPr>
            </a:pPr>
            <a:r>
              <a:rPr sz="1200" b="0" i="0" u="none" strike="noStrike">
                <a:solidFill>
                  <a:srgbClr val="1F2937"/>
                </a:solidFill>
                <a:latin typeface="+mn-lt"/>
              </a:rPr>
              <a:t>1-day ES error, % (2 assets, log scale) vs training examples</a:t>
            </a:r>
          </a:p>
        </c:rich>
      </c:tx>
      <c:layout/>
      <c:overlay val="0"/>
    </c:title>
    <c:autoTitleDeleted val="0"/>
    <c:plotArea>
      <c:layout/>
      <c:lineChart>
        <c:varyColors val="0"/>
        <c:ser>
          <c:idx val="0"/>
          <c:order val="0"/>
          <c:tx>
            <c:strRef>
              <c:f>Sheet1!$B$1</c:f>
              <c:strCache>
                <c:ptCount val="1"/>
                <c:pt idx="0">
                  <c:v>Same AI, data only</c:v>
                </c:pt>
              </c:strCache>
            </c:strRef>
          </c:tx>
          <c:spPr>
            <a:solidFill>
              <a:srgbClr val="D62839"/>
            </a:solidFill>
            <a:ln w="38100" cap="flat">
              <a:solidFill>
                <a:srgbClr val="D62839"/>
              </a:solidFill>
              <a:prstDash val="solid"/>
              <a:round/>
            </a:ln>
            <a:effectLst/>
          </c:spPr>
          <c:invertIfNegative val="0"/>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c:symbol val="circle"/>
            <c:size val="7"/>
            <c:spPr>
              <a:solidFill>
                <a:srgbClr val="D62839"/>
              </a:solidFill>
              <a:ln w="9525" cap="flat">
                <a:solidFill>
                  <a:srgbClr val="D62839"/>
                </a:solidFill>
                <a:prstDash val="solid"/>
                <a:round/>
              </a:ln>
              <a:effectLst/>
            </c:spPr>
          </c:marker>
          <c:cat>
            <c:multiLvlStrRef>
              <c:f>Sheet1!$A$2:$A$5</c:f>
              <c:multiLvlStrCache>
                <c:ptCount val="4"/>
                <c:lvl>
                  <c:pt idx="0">
                    <c:v>1,000</c:v>
                  </c:pt>
                  <c:pt idx="1">
                    <c:v>10,000</c:v>
                  </c:pt>
                  <c:pt idx="2">
                    <c:v>100,000</c:v>
                  </c:pt>
                  <c:pt idx="3">
                    <c:v>1,000,000</c:v>
                  </c:pt>
                </c:lvl>
              </c:multiLvlStrCache>
            </c:multiLvlStrRef>
          </c:cat>
          <c:val>
            <c:numRef>
              <c:f>Sheet1!$B$2:$B$5</c:f>
              <c:numCache>
                <c:formatCode>General</c:formatCode>
                <c:ptCount val="4"/>
                <c:pt idx="0">
                  <c:v>21</c:v>
                </c:pt>
                <c:pt idx="1">
                  <c:v>13</c:v>
                </c:pt>
                <c:pt idx="2">
                  <c:v>5</c:v>
                </c:pt>
                <c:pt idx="3">
                  <c:v>1.3</c:v>
                </c:pt>
              </c:numCache>
            </c:numRef>
          </c:val>
          <c:smooth val="0"/>
        </c:ser>
        <c:ser>
          <c:idx val="1"/>
          <c:order val="1"/>
          <c:tx>
            <c:strRef>
              <c:f>Sheet1!$C$1</c:f>
              <c:strCache>
                <c:ptCount val="1"/>
                <c:pt idx="0">
                  <c:v>Monte Carlo on the same data</c:v>
                </c:pt>
              </c:strCache>
            </c:strRef>
          </c:tx>
          <c:spPr>
            <a:solidFill>
              <a:srgbClr val="2A9D8F"/>
            </a:solidFill>
            <a:ln w="38100" cap="flat">
              <a:solidFill>
                <a:srgbClr val="2A9D8F"/>
              </a:solidFill>
              <a:prstDash val="solid"/>
              <a:round/>
            </a:ln>
            <a:effectLst/>
          </c:spPr>
          <c:invertIfNegative val="0"/>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c:symbol val="circle"/>
            <c:size val="7"/>
            <c:spPr>
              <a:solidFill>
                <a:srgbClr val="2A9D8F"/>
              </a:solidFill>
              <a:ln w="9525" cap="flat">
                <a:solidFill>
                  <a:srgbClr val="2A9D8F"/>
                </a:solidFill>
                <a:prstDash val="solid"/>
                <a:round/>
              </a:ln>
              <a:effectLst/>
            </c:spPr>
          </c:marker>
          <c:cat>
            <c:multiLvlStrRef>
              <c:f>Sheet1!$A$2:$A$5</c:f>
              <c:multiLvlStrCache>
                <c:ptCount val="4"/>
                <c:lvl>
                  <c:pt idx="0">
                    <c:v>1,000</c:v>
                  </c:pt>
                  <c:pt idx="1">
                    <c:v>10,000</c:v>
                  </c:pt>
                  <c:pt idx="2">
                    <c:v>100,000</c:v>
                  </c:pt>
                  <c:pt idx="3">
                    <c:v>1,000,000</c:v>
                  </c:pt>
                </c:lvl>
              </c:multiLvlStrCache>
            </c:multiLvlStrRef>
          </c:cat>
          <c:val>
            <c:numRef>
              <c:f>Sheet1!$C$2:$C$5</c:f>
              <c:numCache>
                <c:formatCode>General</c:formatCode>
                <c:ptCount val="4"/>
                <c:pt idx="0">
                  <c:v>75</c:v>
                </c:pt>
                <c:pt idx="1">
                  <c:v>23</c:v>
                </c:pt>
                <c:pt idx="2">
                  <c:v>7.8</c:v>
                </c:pt>
                <c:pt idx="3">
                  <c:v>0.8</c:v>
                </c:pt>
              </c:numCache>
            </c:numRef>
          </c:val>
          <c:smooth val="0"/>
        </c:ser>
        <c:ser>
          <c:idx val="2"/>
          <c:order val="2"/>
          <c:tx>
            <c:strRef>
              <c:f>Sheet1!$D$1</c:f>
              <c:strCache>
                <c:ptCount val="1"/>
                <c:pt idx="0">
                  <c:v>PINN (zero data)</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c:symbol val="circle"/>
            <c:size val="7"/>
            <c:spPr>
              <a:solidFill>
                <a:srgbClr val="2563EB"/>
              </a:solidFill>
              <a:ln w="9525" cap="flat">
                <a:solidFill>
                  <a:srgbClr val="2563EB"/>
                </a:solidFill>
                <a:prstDash val="solid"/>
                <a:round/>
              </a:ln>
              <a:effectLst/>
            </c:spPr>
          </c:marker>
          <c:cat>
            <c:multiLvlStrRef>
              <c:f>Sheet1!$A$2:$A$5</c:f>
              <c:multiLvlStrCache>
                <c:ptCount val="4"/>
                <c:lvl>
                  <c:pt idx="0">
                    <c:v>1,000</c:v>
                  </c:pt>
                  <c:pt idx="1">
                    <c:v>10,000</c:v>
                  </c:pt>
                  <c:pt idx="2">
                    <c:v>100,000</c:v>
                  </c:pt>
                  <c:pt idx="3">
                    <c:v>1,000,000</c:v>
                  </c:pt>
                </c:lvl>
              </c:multiLvlStrCache>
            </c:multiLvlStrRef>
          </c:cat>
          <c:val>
            <c:numRef>
              <c:f>Sheet1!$D$2:$D$5</c:f>
              <c:numCache>
                <c:formatCode>General</c:formatCode>
                <c:ptCount val="4"/>
                <c:pt idx="0">
                  <c:v>1.3</c:v>
                </c:pt>
                <c:pt idx="1">
                  <c:v>1.3</c:v>
                </c:pt>
                <c:pt idx="2">
                  <c:v>1.3</c:v>
                </c:pt>
                <c:pt idx="3">
                  <c:v>1.3</c:v>
                </c:pt>
              </c:numCache>
            </c:numRef>
          </c:val>
          <c:smooth val="0"/>
        </c:ser>
        <c:dLbls>
          <c:numFmt formatCode="#,##0" sourceLinked="0"/>
          <c:txPr>
            <a:bodyPr/>
            <a:lstStyle/>
            <a:p>
              <a:pPr>
                <a:defRPr b="0" i="0" strike="noStrike" sz="1000" u="none">
                  <a:solidFill>
                    <a:srgbClr val="1F2937"/>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At val="0.1"/>
        <c:auto val="1"/>
        <c:lblAlgn val="ctr"/>
        <c:noMultiLvlLbl val="1"/>
      </c:catAx>
      <c:valAx>
        <c:axId val="2094734552"/>
        <c:scaling>
          <c:logBase val="10"/>
          <c:orientation val="minMax"/>
          <c:max val="100"/>
          <c:min val="0.1"/>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breath: we built an AI model that learns how markets crash from the equations of the market, and used it to measure extreme risk. We tested it honestly against the methods banks use, on simulated markets with a known answer and on eight years of real NIFTY and S&amp;P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says where the danger zone begins; Expected Shortfall says how bad things get once you are in it. Regulators moved to ES because VaR ignores how severe the worst losses are. The key point: both come from the probability curve of returns, so the whole problem becomes getting that curve right, especially its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Returns have fat tails, volatility clustering and jumps, so a model can get normal days right and still badly misjudge the extreme ones. We use the Merton jump-diffusion model: small random moves plus occasional crashes. It comes with an equation for the probability curve, and for this model we can also compute the exact answer, which is what makes our testing rigorous.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solvers chop space into a fine grid: excellent in one dimension, but the cost multiplies with each asset. Monte Carlo simulates scenarios: works in any dimension but converges slowly for rare events and must be redone for every new market condition. A physics-informed neural network is an AI that learns from the equation itself, like learning the law of gravity instead of memorising thousands of videos of thrown balls.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aim was not to prove the PINN wins. It was a fair test with an exact answer key at every step, so a finding like 'the old method is better here' is a valid result. Five questions: tail accuracy, real-data accuracy, the value of the physics, scaling with assets,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data gives us an answer key: for this model the exact risk is known, so we measure true errors. Real data tests practical value: five large NIFTY stocks and five US sector funds, fitted on 2006 to 2017 and tested on 2018 to 2026, including the COVID crash. We tested a plain basket and the basket with a sold put option, like a trading desk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PINN is trained by penalising three things: breaking the equation, missing the known starting point, and probabilities not adding to one. The design choices are what made it work for tail risk. The most important is measuring error in relative terms: a normal PINN ignores the tail because probabilities there are tiny. Taking logs turns tiny numbers into ordinary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moved from simple to hard, and never went to the next stage until the current one was validated against the exact answer. One asset to fix the design, then more assets, then one model for many market conditions, then real data, and finally the test of whether the physics actually helps, plus deliberate attempts to break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one asset, every VaR and ES number was within 1% of the exact answer. We then removed one design choice at a time. Without relative errors, the 10-day error jumps to between 57 and 152 percent, so that single choice separates useless from excellent. A popular trick, focusing training on the tail, gave no benefit. Honest note: for one asset, the classic grid solver is faster and more accurate; this stage shows the PINN works, not that it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same network and training time for 1, 2, 5 and 10 assets. Up to five assets the error stays around 1 percent, comparable to Monte Carlo, while grid methods are already impractical. At ten assets it breaks: the error grows to 62 percent at ten days. We report that honestly as the breakdown point rather than tuning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'amortised' model: one network that has learned a whole range of market conditions. Accuracy is good, and it gives each asset's contribution to risk almost for free. But simulation was faster per question, so we found no break-even point. That is because the Merton model is very cheap to simulate; the PINN's speed advantage would only show for complex models that are slow to simulate. We state this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real data the PINN reproduced its own market model almost perfectly, with the same breach days. It beat the bell-curve and historical methods and passed the main 99% test. But volatility-based models like DCC, filtered historical simulation and GARCH-EVT scored better. The reason is the market model, which is simpler than real markets, not the AI: a better AI cannot fix a simpler model. We also found and fixed a real failure where a far-off scenario took over one day's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result for 'does the physics help'. We trained the exact same AI on data only. It needs between a hundred thousand and a million examples to match the PINN, which used none. Real markets give a few thousand daily observations, where the data-only AI is 5 to 60 percent wrong. Caveat: if you know the model, you can simulate data; the PINN's real edge is a smooth, ready-made risk curve for all times and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every comparison. It wins where grids cannot run, against the same AI without physics, and against simple risk models on real data; it even survived a crisis-level crash rate we expected to break it. It loses to grids in one dimension, to Monte Carlo on speed, and to the best volatility models on real data. It breaks at ten assets, for very short horizons, and far outside its training region, which is why we added a trust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Small design choices beat a bigger network. The physics replaces about a million data points, which matters because crashes are rare. The method scales to five assets where grids fail, but stops at ten. And on real data, the market model, not the AI, limits accuracy, which tells future work exactly what to improve. Thank the interviewer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lstStyle>
            <a:lvl1pPr indent="0" marL="0">
              <a:buNone/>
              <a:defRPr lang="en-US" sz="1600" dirty="0">
                <a:solidFill>
                  <a:srgbClr val="CADCFC"/>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371600"/>
          </a:xfrm>
          <a:prstGeom prst="rect">
            <a:avLst/>
          </a:prstGeom>
          <a:noFill/>
          <a:ln/>
        </p:spPr>
        <p:txBody>
          <a:bodyPr wrap="square" rtlCol="0" anchor="b"/>
          <a:lstStyle/>
          <a:p>
            <a:pPr algn="l" indent="0" marL="0">
              <a:buNone/>
            </a:pPr>
            <a:r>
              <a:rPr lang="en-US" sz="3600" b="1" dirty="0">
                <a:solidFill>
                  <a:schemeClr val="bg1"/>
                </a:solidFill>
              </a:rPr>
              <a:t>Physics-Informed Neural Networks for Financial Tail-Risk Estimation</a:t>
            </a:r>
            <a:endParaRPr lang="en-US" sz="3600" dirty="0"/>
          </a:p>
        </p:txBody>
      </p:sp>
      <p:sp>
        <p:nvSpPr>
          <p:cNvPr id="3" name="Text 0"/>
          <p:cNvSpPr/>
          <p:nvPr>
            <p:ph idx="101" type="body" hasCustomPrompt="1"/>
          </p:nvPr>
        </p:nvSpPr>
        <p:spPr>
          <a:xfrm>
            <a:off x="548640" y="2834640"/>
            <a:ext cx="8046720" cy="1097280"/>
          </a:xfrm>
          <a:prstGeom prst="rect">
            <a:avLst/>
          </a:prstGeom>
          <a:noFill/>
          <a:ln/>
        </p:spPr>
        <p:txBody>
          <a:bodyPr wrap="square" rtlCol="0" anchor="t"/>
          <a:lstStyle/>
          <a:p>
            <a:pPr indent="0" marL="0">
              <a:buNone/>
            </a:pPr>
            <a:r>
              <a:rPr lang="en-US" sz="1600" dirty="0">
                <a:solidFill>
                  <a:srgbClr val="CADCFC"/>
                </a:solidFill>
              </a:rPr>
              <a:t>Aditya Siraskar · Utkarsh Sinha · Aditya Sharma</a:t>
            </a:r>
            <a:endParaRPr lang="en-US" sz="1600" dirty="0"/>
          </a:p>
          <a:p>
            <a:pPr indent="0" marL="0">
              <a:buNone/>
            </a:pPr>
            <a:r>
              <a:rPr lang="en-US" sz="1300" dirty="0">
                <a:solidFill>
                  <a:srgbClr val="CADCFC"/>
                </a:solidFill>
              </a:rPr>
              <a:t>M.Tech Research Project · Department of Data Science, MPSTME</a:t>
            </a:r>
            <a:endParaRPr lang="en-US" sz="1600" dirty="0"/>
          </a:p>
        </p:txBody>
      </p:sp>
      <p:sp>
        <p:nvSpPr>
          <p:cNvPr id="4" name="title circle"/>
          <p:cNvSpPr/>
          <p:nvPr/>
        </p:nvSpPr>
        <p:spPr>
          <a:xfrm>
            <a:off x="548640" y="502920"/>
            <a:ext cx="685800" cy="685800"/>
          </a:xfrm>
          <a:prstGeom prst="ellipse">
            <a:avLst/>
          </a:prstGeom>
          <a:solidFill>
            <a:srgbClr val="D62839"/>
          </a:solidFill>
          <a:ln w="12700">
            <a:solidFill>
              <a:srgbClr val="D62839"/>
            </a:solidFill>
            <a:prstDash val="solid"/>
          </a:ln>
        </p:spPr>
      </p:sp>
      <p:pic>
        <p:nvPicPr>
          <p:cNvPr id="5" name="title icon" descr="preencoded.png">    </p:cNvPr>
          <p:cNvPicPr>
            <a:picLocks noChangeAspect="1"/>
          </p:cNvPicPr>
          <p:nvPr/>
        </p:nvPicPr>
        <p:blipFill>
          <a:blip r:embed="rId1"/>
          <a:stretch>
            <a:fillRect/>
          </a:stretch>
        </p:blipFill>
        <p:spPr>
          <a:xfrm>
            <a:off x="720090" y="674370"/>
            <a:ext cx="342900" cy="342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Banks fail on the worst days, not average ones</a:t>
            </a:r>
            <a:endParaRPr lang="en-US" sz="2800" dirty="0"/>
          </a:p>
        </p:txBody>
      </p:sp>
      <p:sp>
        <p:nvSpPr>
          <p:cNvPr id="3" name="Text 1"/>
          <p:cNvSpPr txBox="1"/>
          <p:nvPr/>
        </p:nvSpPr>
        <p:spPr>
          <a:xfrm>
            <a:off x="457200" y="1005840"/>
            <a:ext cx="8229600" cy="457200"/>
          </a:xfrm>
          <a:prstGeom prst="rect">
            <a:avLst/>
          </a:prstGeom>
          <a:noFill/>
          <a:ln/>
        </p:spPr>
        <p:txBody>
          <a:bodyPr wrap="square" lIns="0" tIns="0" rIns="0" bIns="0" rtlCol="0" anchor="t"/>
          <a:lstStyle/>
          <a:p>
            <a:pPr indent="0" marL="0">
              <a:buNone/>
            </a:pPr>
            <a:r>
              <a:rPr lang="en-US" sz="1500" dirty="0">
                <a:solidFill>
                  <a:schemeClr val="tx1"/>
                </a:solidFill>
              </a:rPr>
              <a:t>Tail risk is the risk of rare, extreme losses: the thin edges of the distribution of daily returns.</a:t>
            </a:r>
            <a:endParaRPr lang="en-US" sz="1500" dirty="0"/>
          </a:p>
        </p:txBody>
      </p:sp>
      <p:sp>
        <p:nvSpPr>
          <p:cNvPr id="4" name="risk card 0"/>
          <p:cNvSpPr/>
          <p:nvPr/>
        </p:nvSpPr>
        <p:spPr>
          <a:xfrm>
            <a:off x="457200" y="1645920"/>
            <a:ext cx="4023360" cy="1920240"/>
          </a:xfrm>
          <a:prstGeom prst="roundRect">
            <a:avLst>
              <a:gd name="adj" fmla="val 381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risk 0 circle"/>
          <p:cNvSpPr/>
          <p:nvPr/>
        </p:nvSpPr>
        <p:spPr>
          <a:xfrm>
            <a:off x="731520" y="1874520"/>
            <a:ext cx="548640" cy="548640"/>
          </a:xfrm>
          <a:prstGeom prst="ellipse">
            <a:avLst/>
          </a:prstGeom>
          <a:solidFill>
            <a:srgbClr val="2563EB"/>
          </a:solidFill>
          <a:ln w="12700">
            <a:solidFill>
              <a:srgbClr val="2563EB"/>
            </a:solidFill>
            <a:prstDash val="solid"/>
          </a:ln>
        </p:spPr>
      </p:sp>
      <p:pic>
        <p:nvPicPr>
          <p:cNvPr id="6" name="risk 0 icon" descr="preencoded.png">    </p:cNvPr>
          <p:cNvPicPr>
            <a:picLocks noChangeAspect="1"/>
          </p:cNvPicPr>
          <p:nvPr/>
        </p:nvPicPr>
        <p:blipFill>
          <a:blip r:embed="rId1"/>
          <a:stretch>
            <a:fillRect/>
          </a:stretch>
        </p:blipFill>
        <p:spPr>
          <a:xfrm>
            <a:off x="868680" y="2011680"/>
            <a:ext cx="274320" cy="274320"/>
          </a:xfrm>
          <a:prstGeom prst="rect">
            <a:avLst/>
          </a:prstGeom>
        </p:spPr>
      </p:pic>
      <p:sp>
        <p:nvSpPr>
          <p:cNvPr id="7" name="Text 4"/>
          <p:cNvSpPr txBox="1"/>
          <p:nvPr/>
        </p:nvSpPr>
        <p:spPr>
          <a:xfrm>
            <a:off x="1463040" y="1874520"/>
            <a:ext cx="2834640" cy="320040"/>
          </a:xfrm>
          <a:prstGeom prst="rect">
            <a:avLst/>
          </a:prstGeom>
          <a:noFill/>
          <a:ln/>
        </p:spPr>
        <p:txBody>
          <a:bodyPr wrap="square" lIns="0" tIns="0" rIns="0" bIns="0" rtlCol="0" anchor="t"/>
          <a:lstStyle/>
          <a:p>
            <a:pPr indent="0" marL="0">
              <a:buNone/>
            </a:pPr>
            <a:r>
              <a:rPr lang="en-US" sz="1800" b="1" dirty="0">
                <a:solidFill>
                  <a:schemeClr val="tx2"/>
                </a:solidFill>
              </a:rPr>
              <a:t>Value at Risk (VaR)</a:t>
            </a:r>
            <a:endParaRPr lang="en-US" sz="1800" dirty="0"/>
          </a:p>
        </p:txBody>
      </p:sp>
      <p:sp>
        <p:nvSpPr>
          <p:cNvPr id="8" name="Text 5"/>
          <p:cNvSpPr txBox="1"/>
          <p:nvPr/>
        </p:nvSpPr>
        <p:spPr>
          <a:xfrm>
            <a:off x="1463040" y="2194560"/>
            <a:ext cx="2834640" cy="274320"/>
          </a:xfrm>
          <a:prstGeom prst="rect">
            <a:avLst/>
          </a:prstGeom>
          <a:noFill/>
          <a:ln/>
        </p:spPr>
        <p:txBody>
          <a:bodyPr wrap="square" lIns="0" tIns="0" rIns="0" bIns="0" rtlCol="0" anchor="t"/>
          <a:lstStyle/>
          <a:p>
            <a:pPr indent="0" marL="0">
              <a:buNone/>
            </a:pPr>
            <a:r>
              <a:rPr lang="en-US" sz="1300" i="1" dirty="0">
                <a:solidFill>
                  <a:srgbClr val="2563EB"/>
                </a:solidFill>
              </a:rPr>
              <a:t>Where does the danger zone start?</a:t>
            </a:r>
            <a:endParaRPr lang="en-US" sz="1300" dirty="0"/>
          </a:p>
        </p:txBody>
      </p:sp>
      <p:sp>
        <p:nvSpPr>
          <p:cNvPr id="9" name="Text 6"/>
          <p:cNvSpPr txBox="1"/>
          <p:nvPr/>
        </p:nvSpPr>
        <p:spPr>
          <a:xfrm>
            <a:off x="731520" y="2697480"/>
            <a:ext cx="3474720" cy="1188720"/>
          </a:xfrm>
          <a:prstGeom prst="rect">
            <a:avLst/>
          </a:prstGeom>
          <a:noFill/>
          <a:ln/>
        </p:spPr>
        <p:txBody>
          <a:bodyPr wrap="square" lIns="0" tIns="0" rIns="0" bIns="0" rtlCol="0" anchor="t"/>
          <a:lstStyle/>
          <a:p>
            <a:pPr indent="0" marL="0">
              <a:buNone/>
            </a:pPr>
            <a:r>
              <a:rPr lang="en-US" sz="1400" dirty="0">
                <a:solidFill>
                  <a:schemeClr val="tx1"/>
                </a:solidFill>
              </a:rPr>
              <a:t>"On 99 days out of 100 we will not lose more than this amount."</a:t>
            </a:r>
            <a:endParaRPr lang="en-US" sz="1400" dirty="0"/>
          </a:p>
        </p:txBody>
      </p:sp>
      <p:sp>
        <p:nvSpPr>
          <p:cNvPr id="10" name="risk card 1"/>
          <p:cNvSpPr/>
          <p:nvPr/>
        </p:nvSpPr>
        <p:spPr>
          <a:xfrm>
            <a:off x="4663440" y="1645920"/>
            <a:ext cx="4023360" cy="1920240"/>
          </a:xfrm>
          <a:prstGeom prst="roundRect">
            <a:avLst>
              <a:gd name="adj" fmla="val 381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1" name="risk 1 circle"/>
          <p:cNvSpPr/>
          <p:nvPr/>
        </p:nvSpPr>
        <p:spPr>
          <a:xfrm>
            <a:off x="4937760" y="1874520"/>
            <a:ext cx="548640" cy="548640"/>
          </a:xfrm>
          <a:prstGeom prst="ellipse">
            <a:avLst/>
          </a:prstGeom>
          <a:solidFill>
            <a:srgbClr val="D62839"/>
          </a:solidFill>
          <a:ln w="12700">
            <a:solidFill>
              <a:srgbClr val="D62839"/>
            </a:solidFill>
            <a:prstDash val="solid"/>
          </a:ln>
        </p:spPr>
      </p:sp>
      <p:pic>
        <p:nvPicPr>
          <p:cNvPr id="12" name="risk 1 icon" descr="preencoded.png">    </p:cNvPr>
          <p:cNvPicPr>
            <a:picLocks noChangeAspect="1"/>
          </p:cNvPicPr>
          <p:nvPr/>
        </p:nvPicPr>
        <p:blipFill>
          <a:blip r:embed="rId2"/>
          <a:stretch>
            <a:fillRect/>
          </a:stretch>
        </p:blipFill>
        <p:spPr>
          <a:xfrm>
            <a:off x="5074920" y="2011680"/>
            <a:ext cx="274320" cy="274320"/>
          </a:xfrm>
          <a:prstGeom prst="rect">
            <a:avLst/>
          </a:prstGeom>
        </p:spPr>
      </p:pic>
      <p:sp>
        <p:nvSpPr>
          <p:cNvPr id="13" name="Text 9"/>
          <p:cNvSpPr txBox="1"/>
          <p:nvPr/>
        </p:nvSpPr>
        <p:spPr>
          <a:xfrm>
            <a:off x="5669280" y="1874520"/>
            <a:ext cx="2834640" cy="320040"/>
          </a:xfrm>
          <a:prstGeom prst="rect">
            <a:avLst/>
          </a:prstGeom>
          <a:noFill/>
          <a:ln/>
        </p:spPr>
        <p:txBody>
          <a:bodyPr wrap="square" lIns="0" tIns="0" rIns="0" bIns="0" rtlCol="0" anchor="t"/>
          <a:lstStyle/>
          <a:p>
            <a:pPr indent="0" marL="0">
              <a:buNone/>
            </a:pPr>
            <a:r>
              <a:rPr lang="en-US" sz="1800" b="1" dirty="0">
                <a:solidFill>
                  <a:schemeClr val="tx2"/>
                </a:solidFill>
              </a:rPr>
              <a:t>Expected Shortfall (ES)</a:t>
            </a:r>
            <a:endParaRPr lang="en-US" sz="1800" dirty="0"/>
          </a:p>
        </p:txBody>
      </p:sp>
      <p:sp>
        <p:nvSpPr>
          <p:cNvPr id="14" name="Text 10"/>
          <p:cNvSpPr txBox="1"/>
          <p:nvPr/>
        </p:nvSpPr>
        <p:spPr>
          <a:xfrm>
            <a:off x="5669280" y="2194560"/>
            <a:ext cx="2834640" cy="274320"/>
          </a:xfrm>
          <a:prstGeom prst="rect">
            <a:avLst/>
          </a:prstGeom>
          <a:noFill/>
          <a:ln/>
        </p:spPr>
        <p:txBody>
          <a:bodyPr wrap="square" lIns="0" tIns="0" rIns="0" bIns="0" rtlCol="0" anchor="t"/>
          <a:lstStyle/>
          <a:p>
            <a:pPr indent="0" marL="0">
              <a:buNone/>
            </a:pPr>
            <a:r>
              <a:rPr lang="en-US" sz="1300" i="1" dirty="0">
                <a:solidFill>
                  <a:srgbClr val="D62839"/>
                </a:solidFill>
              </a:rPr>
              <a:t>How deep does it go?</a:t>
            </a:r>
            <a:endParaRPr lang="en-US" sz="1300" dirty="0"/>
          </a:p>
        </p:txBody>
      </p:sp>
      <p:sp>
        <p:nvSpPr>
          <p:cNvPr id="15" name="Text 11"/>
          <p:cNvSpPr txBox="1"/>
          <p:nvPr/>
        </p:nvSpPr>
        <p:spPr>
          <a:xfrm>
            <a:off x="4937760" y="2697480"/>
            <a:ext cx="3474720" cy="1188720"/>
          </a:xfrm>
          <a:prstGeom prst="rect">
            <a:avLst/>
          </a:prstGeom>
          <a:noFill/>
          <a:ln/>
        </p:spPr>
        <p:txBody>
          <a:bodyPr wrap="square" lIns="0" tIns="0" rIns="0" bIns="0" rtlCol="0" anchor="t"/>
          <a:lstStyle/>
          <a:p>
            <a:pPr indent="0" marL="0">
              <a:buNone/>
            </a:pPr>
            <a:r>
              <a:rPr lang="en-US" sz="1400" dirty="0">
                <a:solidFill>
                  <a:schemeClr val="tx1"/>
                </a:solidFill>
              </a:rPr>
              <a:t>"On that 1 bad day in 100, this is the average loss." Used by Basel rules (97.5% ES) for bank capital.</a:t>
            </a:r>
            <a:endParaRPr lang="en-US" sz="1400" dirty="0"/>
          </a:p>
        </p:txBody>
      </p:sp>
      <p:sp>
        <p:nvSpPr>
          <p:cNvPr id="16" name="Text 12"/>
          <p:cNvSpPr txBox="1"/>
          <p:nvPr/>
        </p:nvSpPr>
        <p:spPr>
          <a:xfrm>
            <a:off x="457200" y="3840480"/>
            <a:ext cx="8229600" cy="365760"/>
          </a:xfrm>
          <a:prstGeom prst="rect">
            <a:avLst/>
          </a:prstGeom>
          <a:noFill/>
          <a:ln/>
        </p:spPr>
        <p:txBody>
          <a:bodyPr wrap="square" lIns="0" tIns="0" rIns="0" bIns="0" rtlCol="0" anchor="t"/>
          <a:lstStyle/>
          <a:p>
            <a:pPr indent="0" marL="0">
              <a:buNone/>
            </a:pPr>
            <a:r>
              <a:rPr lang="en-US" sz="1500" b="1" dirty="0">
                <a:solidFill>
                  <a:schemeClr val="tx2"/>
                </a:solidFill>
              </a:rPr>
              <a:t>If we know the full probability curve of returns, both numbers can be read straight off it.</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Real markets crash, so the bell curve fails</a:t>
            </a:r>
            <a:endParaRPr lang="en-US" sz="2800" dirty="0"/>
          </a:p>
        </p:txBody>
      </p:sp>
      <p:sp>
        <p:nvSpPr>
          <p:cNvPr id="3" name="fact 0 circle"/>
          <p:cNvSpPr/>
          <p:nvPr/>
        </p:nvSpPr>
        <p:spPr>
          <a:xfrm>
            <a:off x="457200" y="1097280"/>
            <a:ext cx="548640" cy="548640"/>
          </a:xfrm>
          <a:prstGeom prst="ellipse">
            <a:avLst/>
          </a:prstGeom>
          <a:solidFill>
            <a:srgbClr val="D62839"/>
          </a:solidFill>
          <a:ln w="12700">
            <a:solidFill>
              <a:srgbClr val="D62839"/>
            </a:solidFill>
            <a:prstDash val="solid"/>
          </a:ln>
        </p:spPr>
      </p:sp>
      <p:pic>
        <p:nvPicPr>
          <p:cNvPr id="4" name="fact 0 icon" descr="preencoded.png">    </p:cNvPr>
          <p:cNvPicPr>
            <a:picLocks noChangeAspect="1"/>
          </p:cNvPicPr>
          <p:nvPr/>
        </p:nvPicPr>
        <p:blipFill>
          <a:blip r:embed="rId1"/>
          <a:stretch>
            <a:fillRect/>
          </a:stretch>
        </p:blipFill>
        <p:spPr>
          <a:xfrm>
            <a:off x="594360" y="1234440"/>
            <a:ext cx="274320" cy="274320"/>
          </a:xfrm>
          <a:prstGeom prst="rect">
            <a:avLst/>
          </a:prstGeom>
        </p:spPr>
      </p:pic>
      <p:sp>
        <p:nvSpPr>
          <p:cNvPr id="5" name="Text 2"/>
          <p:cNvSpPr txBox="1"/>
          <p:nvPr/>
        </p:nvSpPr>
        <p:spPr>
          <a:xfrm>
            <a:off x="1188720" y="1097280"/>
            <a:ext cx="3108960" cy="274320"/>
          </a:xfrm>
          <a:prstGeom prst="rect">
            <a:avLst/>
          </a:prstGeom>
          <a:noFill/>
          <a:ln/>
        </p:spPr>
        <p:txBody>
          <a:bodyPr wrap="square" lIns="0" tIns="0" rIns="0" bIns="0" rtlCol="0" anchor="t"/>
          <a:lstStyle/>
          <a:p>
            <a:pPr indent="0" marL="0">
              <a:buNone/>
            </a:pPr>
            <a:r>
              <a:rPr lang="en-US" sz="1600" b="1" dirty="0">
                <a:solidFill>
                  <a:schemeClr val="tx2"/>
                </a:solidFill>
              </a:rPr>
              <a:t>Fat tails</a:t>
            </a:r>
            <a:endParaRPr lang="en-US" sz="1600" dirty="0"/>
          </a:p>
        </p:txBody>
      </p:sp>
      <p:sp>
        <p:nvSpPr>
          <p:cNvPr id="6" name="Text 3"/>
          <p:cNvSpPr txBox="1"/>
          <p:nvPr/>
        </p:nvSpPr>
        <p:spPr>
          <a:xfrm>
            <a:off x="1188720" y="1389888"/>
            <a:ext cx="3108960" cy="457200"/>
          </a:xfrm>
          <a:prstGeom prst="rect">
            <a:avLst/>
          </a:prstGeom>
          <a:noFill/>
          <a:ln/>
        </p:spPr>
        <p:txBody>
          <a:bodyPr wrap="square" lIns="0" tIns="0" rIns="0" bIns="0" rtlCol="0" anchor="t"/>
          <a:lstStyle/>
          <a:p>
            <a:pPr indent="0" marL="0">
              <a:buNone/>
            </a:pPr>
            <a:r>
              <a:rPr lang="en-US" sz="1300" dirty="0">
                <a:solidFill>
                  <a:schemeClr val="tx1"/>
                </a:solidFill>
              </a:rPr>
              <a:t>Extreme days happen far more often than a bell curve predicts.</a:t>
            </a:r>
            <a:endParaRPr lang="en-US" sz="1300" dirty="0"/>
          </a:p>
        </p:txBody>
      </p:sp>
      <p:sp>
        <p:nvSpPr>
          <p:cNvPr id="7" name="fact 1 circle"/>
          <p:cNvSpPr/>
          <p:nvPr/>
        </p:nvSpPr>
        <p:spPr>
          <a:xfrm>
            <a:off x="457200" y="2011680"/>
            <a:ext cx="548640" cy="548640"/>
          </a:xfrm>
          <a:prstGeom prst="ellipse">
            <a:avLst/>
          </a:prstGeom>
          <a:solidFill>
            <a:srgbClr val="D62839"/>
          </a:solidFill>
          <a:ln w="12700">
            <a:solidFill>
              <a:srgbClr val="D62839"/>
            </a:solidFill>
            <a:prstDash val="solid"/>
          </a:ln>
        </p:spPr>
      </p:sp>
      <p:pic>
        <p:nvPicPr>
          <p:cNvPr id="8" name="fact 1 icon" descr="preencoded.png">    </p:cNvPr>
          <p:cNvPicPr>
            <a:picLocks noChangeAspect="1"/>
          </p:cNvPicPr>
          <p:nvPr/>
        </p:nvPicPr>
        <p:blipFill>
          <a:blip r:embed="rId2"/>
          <a:stretch>
            <a:fillRect/>
          </a:stretch>
        </p:blipFill>
        <p:spPr>
          <a:xfrm>
            <a:off x="594360" y="2148840"/>
            <a:ext cx="274320" cy="274320"/>
          </a:xfrm>
          <a:prstGeom prst="rect">
            <a:avLst/>
          </a:prstGeom>
        </p:spPr>
      </p:pic>
      <p:sp>
        <p:nvSpPr>
          <p:cNvPr id="9" name="Text 5"/>
          <p:cNvSpPr txBox="1"/>
          <p:nvPr/>
        </p:nvSpPr>
        <p:spPr>
          <a:xfrm>
            <a:off x="1188720" y="2011680"/>
            <a:ext cx="3108960" cy="274320"/>
          </a:xfrm>
          <a:prstGeom prst="rect">
            <a:avLst/>
          </a:prstGeom>
          <a:noFill/>
          <a:ln/>
        </p:spPr>
        <p:txBody>
          <a:bodyPr wrap="square" lIns="0" tIns="0" rIns="0" bIns="0" rtlCol="0" anchor="t"/>
          <a:lstStyle/>
          <a:p>
            <a:pPr indent="0" marL="0">
              <a:buNone/>
            </a:pPr>
            <a:r>
              <a:rPr lang="en-US" sz="1600" b="1" dirty="0">
                <a:solidFill>
                  <a:schemeClr val="tx2"/>
                </a:solidFill>
              </a:rPr>
              <a:t>Volatility clusters</a:t>
            </a:r>
            <a:endParaRPr lang="en-US" sz="1600" dirty="0"/>
          </a:p>
        </p:txBody>
      </p:sp>
      <p:sp>
        <p:nvSpPr>
          <p:cNvPr id="10" name="Text 6"/>
          <p:cNvSpPr txBox="1"/>
          <p:nvPr/>
        </p:nvSpPr>
        <p:spPr>
          <a:xfrm>
            <a:off x="1188720" y="2304288"/>
            <a:ext cx="3108960" cy="457200"/>
          </a:xfrm>
          <a:prstGeom prst="rect">
            <a:avLst/>
          </a:prstGeom>
          <a:noFill/>
          <a:ln/>
        </p:spPr>
        <p:txBody>
          <a:bodyPr wrap="square" lIns="0" tIns="0" rIns="0" bIns="0" rtlCol="0" anchor="t"/>
          <a:lstStyle/>
          <a:p>
            <a:pPr indent="0" marL="0">
              <a:buNone/>
            </a:pPr>
            <a:r>
              <a:rPr lang="en-US" sz="1300" dirty="0">
                <a:solidFill>
                  <a:schemeClr val="tx1"/>
                </a:solidFill>
              </a:rPr>
              <a:t>Calm and stormy periods come in streaks.</a:t>
            </a:r>
            <a:endParaRPr lang="en-US" sz="1300" dirty="0"/>
          </a:p>
        </p:txBody>
      </p:sp>
      <p:sp>
        <p:nvSpPr>
          <p:cNvPr id="11" name="fact 2 circle"/>
          <p:cNvSpPr/>
          <p:nvPr/>
        </p:nvSpPr>
        <p:spPr>
          <a:xfrm>
            <a:off x="457200" y="2926080"/>
            <a:ext cx="548640" cy="548640"/>
          </a:xfrm>
          <a:prstGeom prst="ellipse">
            <a:avLst/>
          </a:prstGeom>
          <a:solidFill>
            <a:srgbClr val="D62839"/>
          </a:solidFill>
          <a:ln w="12700">
            <a:solidFill>
              <a:srgbClr val="D62839"/>
            </a:solidFill>
            <a:prstDash val="solid"/>
          </a:ln>
        </p:spPr>
      </p:sp>
      <p:pic>
        <p:nvPicPr>
          <p:cNvPr id="12" name="fact 2 icon" descr="preencoded.png">    </p:cNvPr>
          <p:cNvPicPr>
            <a:picLocks noChangeAspect="1"/>
          </p:cNvPicPr>
          <p:nvPr/>
        </p:nvPicPr>
        <p:blipFill>
          <a:blip r:embed="rId3"/>
          <a:stretch>
            <a:fillRect/>
          </a:stretch>
        </p:blipFill>
        <p:spPr>
          <a:xfrm>
            <a:off x="594360" y="3063240"/>
            <a:ext cx="274320" cy="274320"/>
          </a:xfrm>
          <a:prstGeom prst="rect">
            <a:avLst/>
          </a:prstGeom>
        </p:spPr>
      </p:pic>
      <p:sp>
        <p:nvSpPr>
          <p:cNvPr id="13" name="Text 8"/>
          <p:cNvSpPr txBox="1"/>
          <p:nvPr/>
        </p:nvSpPr>
        <p:spPr>
          <a:xfrm>
            <a:off x="1188720" y="2926080"/>
            <a:ext cx="3108960" cy="274320"/>
          </a:xfrm>
          <a:prstGeom prst="rect">
            <a:avLst/>
          </a:prstGeom>
          <a:noFill/>
          <a:ln/>
        </p:spPr>
        <p:txBody>
          <a:bodyPr wrap="square" lIns="0" tIns="0" rIns="0" bIns="0" rtlCol="0" anchor="t"/>
          <a:lstStyle/>
          <a:p>
            <a:pPr indent="0" marL="0">
              <a:buNone/>
            </a:pPr>
            <a:r>
              <a:rPr lang="en-US" sz="1600" b="1" dirty="0">
                <a:solidFill>
                  <a:schemeClr val="tx2"/>
                </a:solidFill>
              </a:rPr>
              <a:t>Sudden jumps</a:t>
            </a:r>
            <a:endParaRPr lang="en-US" sz="1600" dirty="0"/>
          </a:p>
        </p:txBody>
      </p:sp>
      <p:sp>
        <p:nvSpPr>
          <p:cNvPr id="14" name="Text 9"/>
          <p:cNvSpPr txBox="1"/>
          <p:nvPr/>
        </p:nvSpPr>
        <p:spPr>
          <a:xfrm>
            <a:off x="1188720" y="3218688"/>
            <a:ext cx="3108960" cy="457200"/>
          </a:xfrm>
          <a:prstGeom prst="rect">
            <a:avLst/>
          </a:prstGeom>
          <a:noFill/>
          <a:ln/>
        </p:spPr>
        <p:txBody>
          <a:bodyPr wrap="square" lIns="0" tIns="0" rIns="0" bIns="0" rtlCol="0" anchor="t"/>
          <a:lstStyle/>
          <a:p>
            <a:pPr indent="0" marL="0">
              <a:buNone/>
            </a:pPr>
            <a:r>
              <a:rPr lang="en-US" sz="1300" dirty="0">
                <a:solidFill>
                  <a:schemeClr val="tx1"/>
                </a:solidFill>
              </a:rPr>
              <a:t>Crashes are leaps, not smooth slides (2008, COVID).</a:t>
            </a:r>
            <a:endParaRPr lang="en-US" sz="1300" dirty="0"/>
          </a:p>
        </p:txBody>
      </p:sp>
      <p:sp>
        <p:nvSpPr>
          <p:cNvPr id="15" name="model card"/>
          <p:cNvSpPr/>
          <p:nvPr/>
        </p:nvSpPr>
        <p:spPr>
          <a:xfrm>
            <a:off x="4663440" y="1097280"/>
            <a:ext cx="4023360" cy="2560320"/>
          </a:xfrm>
          <a:prstGeom prst="roundRect">
            <a:avLst>
              <a:gd name="adj" fmla="val 2857"/>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16" name="Text 11"/>
          <p:cNvSpPr txBox="1"/>
          <p:nvPr/>
        </p:nvSpPr>
        <p:spPr>
          <a:xfrm>
            <a:off x="4937760" y="1280160"/>
            <a:ext cx="3566160" cy="320040"/>
          </a:xfrm>
          <a:prstGeom prst="rect">
            <a:avLst/>
          </a:prstGeom>
          <a:noFill/>
          <a:ln/>
        </p:spPr>
        <p:txBody>
          <a:bodyPr wrap="square" lIns="0" tIns="0" rIns="0" bIns="0" rtlCol="0" anchor="t"/>
          <a:lstStyle/>
          <a:p>
            <a:pPr indent="0" marL="0">
              <a:buNone/>
            </a:pPr>
            <a:r>
              <a:rPr lang="en-US" sz="1700" b="1" dirty="0">
                <a:solidFill>
                  <a:schemeClr val="bg1"/>
                </a:solidFill>
              </a:rPr>
              <a:t>Our market model: jump-diffusion</a:t>
            </a:r>
            <a:endParaRPr lang="en-US" sz="1700" dirty="0"/>
          </a:p>
        </p:txBody>
      </p:sp>
      <p:sp>
        <p:nvSpPr>
          <p:cNvPr id="17" name="Text 12"/>
          <p:cNvSpPr txBox="1"/>
          <p:nvPr/>
        </p:nvSpPr>
        <p:spPr>
          <a:xfrm>
            <a:off x="4937760" y="1737360"/>
            <a:ext cx="3566160" cy="1828800"/>
          </a:xfrm>
          <a:prstGeom prst="rect">
            <a:avLst/>
          </a:prstGeom>
          <a:noFill/>
          <a:ln/>
        </p:spPr>
        <p:txBody>
          <a:bodyPr wrap="square" lIns="0" tIns="0" rIns="0" bIns="0" rtlCol="0" anchor="t"/>
          <a:lstStyle/>
          <a:p>
            <a:pPr indent="0" marL="0">
              <a:spcAft>
                <a:spcPts val="400"/>
              </a:spcAft>
              <a:buNone/>
            </a:pPr>
            <a:r>
              <a:rPr lang="en-US" sz="1400" b="1" dirty="0">
                <a:solidFill>
                  <a:srgbClr val="CADCFC"/>
                </a:solidFill>
              </a:rPr>
              <a:t>Diffusion: </a:t>
            </a:r>
            <a:pPr indent="0" marL="0">
              <a:spcAft>
                <a:spcPts val="400"/>
              </a:spcAft>
              <a:buNone/>
            </a:pPr>
            <a:r>
              <a:rPr lang="en-US" sz="1400" dirty="0">
                <a:solidFill>
                  <a:schemeClr val="bg1"/>
                </a:solidFill>
              </a:rPr>
              <a:t>everyday small random wiggles</a:t>
            </a:r>
            <a:endParaRPr lang="en-US" sz="1400" dirty="0"/>
          </a:p>
          <a:p>
            <a:pPr indent="0" marL="0">
              <a:spcAft>
                <a:spcPts val="400"/>
              </a:spcAft>
              <a:buNone/>
            </a:pPr>
            <a:r>
              <a:rPr lang="en-US" sz="1400" b="1" dirty="0">
                <a:solidFill>
                  <a:srgbClr val="FF8A95"/>
                </a:solidFill>
              </a:rPr>
              <a:t>Jumps: </a:t>
            </a:r>
            <a:pPr indent="0" marL="0">
              <a:spcAft>
                <a:spcPts val="400"/>
              </a:spcAft>
              <a:buNone/>
            </a:pPr>
            <a:r>
              <a:rPr lang="en-US" sz="1400" dirty="0">
                <a:solidFill>
                  <a:schemeClr val="bg1"/>
                </a:solidFill>
              </a:rPr>
              <a:t>occasional sudden shocks (crashes)</a:t>
            </a:r>
            <a:endParaRPr lang="en-US" sz="1400" dirty="0"/>
          </a:p>
          <a:p>
            <a:pPr indent="0" marL="0">
              <a:spcAft>
                <a:spcPts val="400"/>
              </a:spcAft>
              <a:buNone/>
            </a:pPr>
            <a:r>
              <a:rPr lang="en-US" sz="600" dirty="0">
                <a:solidFill>
                  <a:schemeClr val="bg1"/>
                </a:solidFill>
              </a:rPr>
              <a:t> </a:t>
            </a:r>
            <a:endParaRPr lang="en-US" sz="1400" dirty="0"/>
          </a:p>
          <a:p>
            <a:pPr indent="0" marL="0">
              <a:spcAft>
                <a:spcPts val="400"/>
              </a:spcAft>
              <a:buNone/>
            </a:pPr>
            <a:r>
              <a:rPr lang="en-US" sz="1400" dirty="0">
                <a:solidFill>
                  <a:schemeClr val="bg1"/>
                </a:solidFill>
              </a:rPr>
              <a:t>Its equation tells us how the probability of every possible return spreads over time. Solve it, and VaR and ES follow.</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Three ways to solve the market equation</a:t>
            </a:r>
            <a:endParaRPr lang="en-US" sz="2800" dirty="0"/>
          </a:p>
        </p:txBody>
      </p:sp>
      <p:sp>
        <p:nvSpPr>
          <p:cNvPr id="3" name="method 0"/>
          <p:cNvSpPr/>
          <p:nvPr/>
        </p:nvSpPr>
        <p:spPr>
          <a:xfrm>
            <a:off x="457200" y="1097280"/>
            <a:ext cx="2606040" cy="3383280"/>
          </a:xfrm>
          <a:prstGeom prst="roundRect">
            <a:avLst>
              <a:gd name="adj" fmla="val 280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 name="method 0 circle"/>
          <p:cNvSpPr/>
          <p:nvPr/>
        </p:nvSpPr>
        <p:spPr>
          <a:xfrm>
            <a:off x="685800" y="1280160"/>
            <a:ext cx="548640" cy="548640"/>
          </a:xfrm>
          <a:prstGeom prst="ellipse">
            <a:avLst/>
          </a:prstGeom>
          <a:solidFill>
            <a:srgbClr val="F2A541"/>
          </a:solidFill>
          <a:ln w="12700">
            <a:solidFill>
              <a:srgbClr val="F2A541"/>
            </a:solidFill>
            <a:prstDash val="solid"/>
          </a:ln>
        </p:spPr>
      </p:sp>
      <p:pic>
        <p:nvPicPr>
          <p:cNvPr id="5" name="method 0 icon" descr="preencoded.png">    </p:cNvPr>
          <p:cNvPicPr>
            <a:picLocks noChangeAspect="1"/>
          </p:cNvPicPr>
          <p:nvPr/>
        </p:nvPicPr>
        <p:blipFill>
          <a:blip r:embed="rId1"/>
          <a:stretch>
            <a:fillRect/>
          </a:stretch>
        </p:blipFill>
        <p:spPr>
          <a:xfrm>
            <a:off x="822960" y="1417320"/>
            <a:ext cx="274320" cy="274320"/>
          </a:xfrm>
          <a:prstGeom prst="rect">
            <a:avLst/>
          </a:prstGeom>
        </p:spPr>
      </p:pic>
      <p:sp>
        <p:nvSpPr>
          <p:cNvPr id="6" name="Text 3"/>
          <p:cNvSpPr txBox="1"/>
          <p:nvPr/>
        </p:nvSpPr>
        <p:spPr>
          <a:xfrm>
            <a:off x="1371600" y="1417320"/>
            <a:ext cx="1600200" cy="320040"/>
          </a:xfrm>
          <a:prstGeom prst="rect">
            <a:avLst/>
          </a:prstGeom>
          <a:noFill/>
          <a:ln/>
        </p:spPr>
        <p:txBody>
          <a:bodyPr wrap="square" lIns="0" tIns="0" rIns="0" bIns="0" rtlCol="0" anchor="t"/>
          <a:lstStyle/>
          <a:p>
            <a:pPr indent="0" marL="0">
              <a:buNone/>
            </a:pPr>
            <a:r>
              <a:rPr lang="en-US" sz="1700" b="1" dirty="0">
                <a:solidFill>
                  <a:schemeClr val="tx2"/>
                </a:solidFill>
              </a:rPr>
              <a:t>Grid solver</a:t>
            </a:r>
            <a:endParaRPr lang="en-US" sz="1700" dirty="0"/>
          </a:p>
        </p:txBody>
      </p:sp>
      <p:sp>
        <p:nvSpPr>
          <p:cNvPr id="7" name="Text 4"/>
          <p:cNvSpPr txBox="1"/>
          <p:nvPr/>
        </p:nvSpPr>
        <p:spPr>
          <a:xfrm>
            <a:off x="685800" y="2057400"/>
            <a:ext cx="2194560" cy="228600"/>
          </a:xfrm>
          <a:prstGeom prst="rect">
            <a:avLst/>
          </a:prstGeom>
          <a:noFill/>
          <a:ln/>
        </p:spPr>
        <p:txBody>
          <a:bodyPr wrap="square" lIns="0" tIns="0" rIns="0" bIns="0" rtlCol="0" anchor="t"/>
          <a:lstStyle/>
          <a:p>
            <a:pPr indent="0" marL="0">
              <a:buNone/>
            </a:pPr>
            <a:r>
              <a:rPr lang="en-US" sz="1200" b="1" dirty="0">
                <a:solidFill>
                  <a:schemeClr val="accent3"/>
                </a:solidFill>
              </a:rPr>
              <a:t>Strength</a:t>
            </a:r>
            <a:endParaRPr lang="en-US" sz="1200" dirty="0"/>
          </a:p>
        </p:txBody>
      </p:sp>
      <p:sp>
        <p:nvSpPr>
          <p:cNvPr id="8" name="Text 5"/>
          <p:cNvSpPr txBox="1"/>
          <p:nvPr/>
        </p:nvSpPr>
        <p:spPr>
          <a:xfrm>
            <a:off x="685800" y="2286000"/>
            <a:ext cx="2194560" cy="685800"/>
          </a:xfrm>
          <a:prstGeom prst="rect">
            <a:avLst/>
          </a:prstGeom>
          <a:noFill/>
          <a:ln/>
        </p:spPr>
        <p:txBody>
          <a:bodyPr wrap="square" lIns="0" tIns="0" rIns="0" bIns="0" rtlCol="0" anchor="t"/>
          <a:lstStyle/>
          <a:p>
            <a:pPr indent="0" marL="0">
              <a:buNone/>
            </a:pPr>
            <a:r>
              <a:rPr lang="en-US" sz="1300" dirty="0">
                <a:solidFill>
                  <a:schemeClr val="tx1"/>
                </a:solidFill>
              </a:rPr>
              <a:t>Very accurate</a:t>
            </a:r>
            <a:endParaRPr lang="en-US" sz="1300" dirty="0"/>
          </a:p>
        </p:txBody>
      </p:sp>
      <p:sp>
        <p:nvSpPr>
          <p:cNvPr id="9" name="Text 6"/>
          <p:cNvSpPr txBox="1"/>
          <p:nvPr/>
        </p:nvSpPr>
        <p:spPr>
          <a:xfrm>
            <a:off x="685800" y="3017520"/>
            <a:ext cx="2194560" cy="228600"/>
          </a:xfrm>
          <a:prstGeom prst="rect">
            <a:avLst/>
          </a:prstGeom>
          <a:noFill/>
          <a:ln/>
        </p:spPr>
        <p:txBody>
          <a:bodyPr wrap="square" lIns="0" tIns="0" rIns="0" bIns="0" rtlCol="0" anchor="t"/>
          <a:lstStyle/>
          <a:p>
            <a:pPr indent="0" marL="0">
              <a:buNone/>
            </a:pPr>
            <a:r>
              <a:rPr lang="en-US" sz="1200" b="1" dirty="0">
                <a:solidFill>
                  <a:schemeClr val="accent2"/>
                </a:solidFill>
              </a:rPr>
              <a:t>Weakness</a:t>
            </a:r>
            <a:endParaRPr lang="en-US" sz="1200" dirty="0"/>
          </a:p>
        </p:txBody>
      </p:sp>
      <p:sp>
        <p:nvSpPr>
          <p:cNvPr id="10" name="Text 7"/>
          <p:cNvSpPr txBox="1"/>
          <p:nvPr/>
        </p:nvSpPr>
        <p:spPr>
          <a:xfrm>
            <a:off x="685800" y="3246120"/>
            <a:ext cx="2194560" cy="1097280"/>
          </a:xfrm>
          <a:prstGeom prst="rect">
            <a:avLst/>
          </a:prstGeom>
          <a:noFill/>
          <a:ln/>
        </p:spPr>
        <p:txBody>
          <a:bodyPr wrap="square" lIns="0" tIns="0" rIns="0" bIns="0" rtlCol="0" anchor="t"/>
          <a:lstStyle/>
          <a:p>
            <a:pPr indent="0" marL="0">
              <a:buNone/>
            </a:pPr>
            <a:r>
              <a:rPr lang="en-US" sz="1300" dirty="0">
                <a:solidFill>
                  <a:schemeClr val="tx1"/>
                </a:solidFill>
              </a:rPr>
              <a:t>Cost explodes with assets: 0.3 s for 1 asset, 55 s for 2, impossible for 10</a:t>
            </a:r>
            <a:endParaRPr lang="en-US" sz="1300" dirty="0"/>
          </a:p>
        </p:txBody>
      </p:sp>
      <p:sp>
        <p:nvSpPr>
          <p:cNvPr id="11" name="method 1"/>
          <p:cNvSpPr/>
          <p:nvPr/>
        </p:nvSpPr>
        <p:spPr>
          <a:xfrm>
            <a:off x="3246120" y="1097280"/>
            <a:ext cx="2606040" cy="3383280"/>
          </a:xfrm>
          <a:prstGeom prst="roundRect">
            <a:avLst>
              <a:gd name="adj" fmla="val 280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2" name="method 1 circle"/>
          <p:cNvSpPr/>
          <p:nvPr/>
        </p:nvSpPr>
        <p:spPr>
          <a:xfrm>
            <a:off x="3474720" y="1280160"/>
            <a:ext cx="548640" cy="548640"/>
          </a:xfrm>
          <a:prstGeom prst="ellipse">
            <a:avLst/>
          </a:prstGeom>
          <a:solidFill>
            <a:srgbClr val="2A9D8F"/>
          </a:solidFill>
          <a:ln w="12700">
            <a:solidFill>
              <a:srgbClr val="2A9D8F"/>
            </a:solidFill>
            <a:prstDash val="solid"/>
          </a:ln>
        </p:spPr>
      </p:sp>
      <p:pic>
        <p:nvPicPr>
          <p:cNvPr id="13" name="method 1 icon" descr="preencoded.png">    </p:cNvPr>
          <p:cNvPicPr>
            <a:picLocks noChangeAspect="1"/>
          </p:cNvPicPr>
          <p:nvPr/>
        </p:nvPicPr>
        <p:blipFill>
          <a:blip r:embed="rId2"/>
          <a:stretch>
            <a:fillRect/>
          </a:stretch>
        </p:blipFill>
        <p:spPr>
          <a:xfrm>
            <a:off x="3611880" y="1417320"/>
            <a:ext cx="274320" cy="274320"/>
          </a:xfrm>
          <a:prstGeom prst="rect">
            <a:avLst/>
          </a:prstGeom>
        </p:spPr>
      </p:pic>
      <p:sp>
        <p:nvSpPr>
          <p:cNvPr id="14" name="Text 10"/>
          <p:cNvSpPr txBox="1"/>
          <p:nvPr/>
        </p:nvSpPr>
        <p:spPr>
          <a:xfrm>
            <a:off x="4160520" y="1417320"/>
            <a:ext cx="1600200" cy="320040"/>
          </a:xfrm>
          <a:prstGeom prst="rect">
            <a:avLst/>
          </a:prstGeom>
          <a:noFill/>
          <a:ln/>
        </p:spPr>
        <p:txBody>
          <a:bodyPr wrap="square" lIns="0" tIns="0" rIns="0" bIns="0" rtlCol="0" anchor="t"/>
          <a:lstStyle/>
          <a:p>
            <a:pPr indent="0" marL="0">
              <a:buNone/>
            </a:pPr>
            <a:r>
              <a:rPr lang="en-US" sz="1700" b="1" dirty="0">
                <a:solidFill>
                  <a:schemeClr val="tx2"/>
                </a:solidFill>
              </a:rPr>
              <a:t>Monte Carlo</a:t>
            </a:r>
            <a:endParaRPr lang="en-US" sz="1700" dirty="0"/>
          </a:p>
        </p:txBody>
      </p:sp>
      <p:sp>
        <p:nvSpPr>
          <p:cNvPr id="15" name="Text 11"/>
          <p:cNvSpPr txBox="1"/>
          <p:nvPr/>
        </p:nvSpPr>
        <p:spPr>
          <a:xfrm>
            <a:off x="3474720" y="2057400"/>
            <a:ext cx="2194560" cy="228600"/>
          </a:xfrm>
          <a:prstGeom prst="rect">
            <a:avLst/>
          </a:prstGeom>
          <a:noFill/>
          <a:ln/>
        </p:spPr>
        <p:txBody>
          <a:bodyPr wrap="square" lIns="0" tIns="0" rIns="0" bIns="0" rtlCol="0" anchor="t"/>
          <a:lstStyle/>
          <a:p>
            <a:pPr indent="0" marL="0">
              <a:buNone/>
            </a:pPr>
            <a:r>
              <a:rPr lang="en-US" sz="1200" b="1" dirty="0">
                <a:solidFill>
                  <a:schemeClr val="accent3"/>
                </a:solidFill>
              </a:rPr>
              <a:t>Strength</a:t>
            </a:r>
            <a:endParaRPr lang="en-US" sz="1200" dirty="0"/>
          </a:p>
        </p:txBody>
      </p:sp>
      <p:sp>
        <p:nvSpPr>
          <p:cNvPr id="16" name="Text 12"/>
          <p:cNvSpPr txBox="1"/>
          <p:nvPr/>
        </p:nvSpPr>
        <p:spPr>
          <a:xfrm>
            <a:off x="3474720" y="2286000"/>
            <a:ext cx="2194560" cy="685800"/>
          </a:xfrm>
          <a:prstGeom prst="rect">
            <a:avLst/>
          </a:prstGeom>
          <a:noFill/>
          <a:ln/>
        </p:spPr>
        <p:txBody>
          <a:bodyPr wrap="square" lIns="0" tIns="0" rIns="0" bIns="0" rtlCol="0" anchor="t"/>
          <a:lstStyle/>
          <a:p>
            <a:pPr indent="0" marL="0">
              <a:buNone/>
            </a:pPr>
            <a:r>
              <a:rPr lang="en-US" sz="1300" dirty="0">
                <a:solidFill>
                  <a:schemeClr val="tx1"/>
                </a:solidFill>
              </a:rPr>
              <a:t>Works for any number of assets</a:t>
            </a:r>
            <a:endParaRPr lang="en-US" sz="1300" dirty="0"/>
          </a:p>
        </p:txBody>
      </p:sp>
      <p:sp>
        <p:nvSpPr>
          <p:cNvPr id="17" name="Text 13"/>
          <p:cNvSpPr txBox="1"/>
          <p:nvPr/>
        </p:nvSpPr>
        <p:spPr>
          <a:xfrm>
            <a:off x="3474720" y="3017520"/>
            <a:ext cx="2194560" cy="228600"/>
          </a:xfrm>
          <a:prstGeom prst="rect">
            <a:avLst/>
          </a:prstGeom>
          <a:noFill/>
          <a:ln/>
        </p:spPr>
        <p:txBody>
          <a:bodyPr wrap="square" lIns="0" tIns="0" rIns="0" bIns="0" rtlCol="0" anchor="t"/>
          <a:lstStyle/>
          <a:p>
            <a:pPr indent="0" marL="0">
              <a:buNone/>
            </a:pPr>
            <a:r>
              <a:rPr lang="en-US" sz="1200" b="1" dirty="0">
                <a:solidFill>
                  <a:schemeClr val="accent2"/>
                </a:solidFill>
              </a:rPr>
              <a:t>Weakness</a:t>
            </a:r>
            <a:endParaRPr lang="en-US" sz="1200" dirty="0"/>
          </a:p>
        </p:txBody>
      </p:sp>
      <p:sp>
        <p:nvSpPr>
          <p:cNvPr id="18" name="Text 14"/>
          <p:cNvSpPr txBox="1"/>
          <p:nvPr/>
        </p:nvSpPr>
        <p:spPr>
          <a:xfrm>
            <a:off x="3474720" y="3246120"/>
            <a:ext cx="2194560" cy="1097280"/>
          </a:xfrm>
          <a:prstGeom prst="rect">
            <a:avLst/>
          </a:prstGeom>
          <a:noFill/>
          <a:ln/>
        </p:spPr>
        <p:txBody>
          <a:bodyPr wrap="square" lIns="0" tIns="0" rIns="0" bIns="0" rtlCol="0" anchor="t"/>
          <a:lstStyle/>
          <a:p>
            <a:pPr indent="0" marL="0">
              <a:buNone/>
            </a:pPr>
            <a:r>
              <a:rPr lang="en-US" sz="1300" dirty="0">
                <a:solidFill>
                  <a:schemeClr val="tx1"/>
                </a:solidFill>
              </a:rPr>
              <a:t>Needs huge numbers of scenarios for rare events; rerun when markets change</a:t>
            </a:r>
            <a:endParaRPr lang="en-US" sz="1300" dirty="0"/>
          </a:p>
        </p:txBody>
      </p:sp>
      <p:sp>
        <p:nvSpPr>
          <p:cNvPr id="19" name="method 2"/>
          <p:cNvSpPr/>
          <p:nvPr/>
        </p:nvSpPr>
        <p:spPr>
          <a:xfrm>
            <a:off x="6035040" y="1097280"/>
            <a:ext cx="2606040" cy="3383280"/>
          </a:xfrm>
          <a:prstGeom prst="roundRect">
            <a:avLst>
              <a:gd name="adj" fmla="val 280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0" name="method 2 circle"/>
          <p:cNvSpPr/>
          <p:nvPr/>
        </p:nvSpPr>
        <p:spPr>
          <a:xfrm>
            <a:off x="6263640" y="1280160"/>
            <a:ext cx="548640" cy="548640"/>
          </a:xfrm>
          <a:prstGeom prst="ellipse">
            <a:avLst/>
          </a:prstGeom>
          <a:solidFill>
            <a:srgbClr val="2563EB"/>
          </a:solidFill>
          <a:ln w="12700">
            <a:solidFill>
              <a:srgbClr val="2563EB"/>
            </a:solidFill>
            <a:prstDash val="solid"/>
          </a:ln>
        </p:spPr>
      </p:sp>
      <p:pic>
        <p:nvPicPr>
          <p:cNvPr id="21" name="method 2 icon" descr="preencoded.png">    </p:cNvPr>
          <p:cNvPicPr>
            <a:picLocks noChangeAspect="1"/>
          </p:cNvPicPr>
          <p:nvPr/>
        </p:nvPicPr>
        <p:blipFill>
          <a:blip r:embed="rId3"/>
          <a:stretch>
            <a:fillRect/>
          </a:stretch>
        </p:blipFill>
        <p:spPr>
          <a:xfrm>
            <a:off x="6400800" y="1417320"/>
            <a:ext cx="274320" cy="274320"/>
          </a:xfrm>
          <a:prstGeom prst="rect">
            <a:avLst/>
          </a:prstGeom>
        </p:spPr>
      </p:pic>
      <p:sp>
        <p:nvSpPr>
          <p:cNvPr id="22" name="Text 17"/>
          <p:cNvSpPr txBox="1"/>
          <p:nvPr/>
        </p:nvSpPr>
        <p:spPr>
          <a:xfrm>
            <a:off x="6949440" y="1417320"/>
            <a:ext cx="1600200" cy="320040"/>
          </a:xfrm>
          <a:prstGeom prst="rect">
            <a:avLst/>
          </a:prstGeom>
          <a:noFill/>
          <a:ln/>
        </p:spPr>
        <p:txBody>
          <a:bodyPr wrap="square" lIns="0" tIns="0" rIns="0" bIns="0" rtlCol="0" anchor="t"/>
          <a:lstStyle/>
          <a:p>
            <a:pPr indent="0" marL="0">
              <a:buNone/>
            </a:pPr>
            <a:r>
              <a:rPr lang="en-US" sz="1700" b="1" dirty="0">
                <a:solidFill>
                  <a:schemeClr val="tx2"/>
                </a:solidFill>
              </a:rPr>
              <a:t>PINN (ours)</a:t>
            </a:r>
            <a:endParaRPr lang="en-US" sz="1700" dirty="0"/>
          </a:p>
        </p:txBody>
      </p:sp>
      <p:sp>
        <p:nvSpPr>
          <p:cNvPr id="23" name="Text 18"/>
          <p:cNvSpPr txBox="1"/>
          <p:nvPr/>
        </p:nvSpPr>
        <p:spPr>
          <a:xfrm>
            <a:off x="6263640" y="2057400"/>
            <a:ext cx="2194560" cy="228600"/>
          </a:xfrm>
          <a:prstGeom prst="rect">
            <a:avLst/>
          </a:prstGeom>
          <a:noFill/>
          <a:ln/>
        </p:spPr>
        <p:txBody>
          <a:bodyPr wrap="square" lIns="0" tIns="0" rIns="0" bIns="0" rtlCol="0" anchor="t"/>
          <a:lstStyle/>
          <a:p>
            <a:pPr indent="0" marL="0">
              <a:buNone/>
            </a:pPr>
            <a:r>
              <a:rPr lang="en-US" sz="1200" b="1" dirty="0">
                <a:solidFill>
                  <a:schemeClr val="accent3"/>
                </a:solidFill>
              </a:rPr>
              <a:t>Strength</a:t>
            </a:r>
            <a:endParaRPr lang="en-US" sz="1200" dirty="0"/>
          </a:p>
        </p:txBody>
      </p:sp>
      <p:sp>
        <p:nvSpPr>
          <p:cNvPr id="24" name="Text 19"/>
          <p:cNvSpPr txBox="1"/>
          <p:nvPr/>
        </p:nvSpPr>
        <p:spPr>
          <a:xfrm>
            <a:off x="6263640" y="2286000"/>
            <a:ext cx="2194560" cy="685800"/>
          </a:xfrm>
          <a:prstGeom prst="rect">
            <a:avLst/>
          </a:prstGeom>
          <a:noFill/>
          <a:ln/>
        </p:spPr>
        <p:txBody>
          <a:bodyPr wrap="square" lIns="0" tIns="0" rIns="0" bIns="0" rtlCol="0" anchor="t"/>
          <a:lstStyle/>
          <a:p>
            <a:pPr indent="0" marL="0">
              <a:buNone/>
            </a:pPr>
            <a:r>
              <a:rPr lang="en-US" sz="1300" dirty="0">
                <a:solidFill>
                  <a:schemeClr val="tx1"/>
                </a:solidFill>
              </a:rPr>
              <a:t>No grid; one model can learn many market conditions</a:t>
            </a:r>
            <a:endParaRPr lang="en-US" sz="1300" dirty="0"/>
          </a:p>
        </p:txBody>
      </p:sp>
      <p:sp>
        <p:nvSpPr>
          <p:cNvPr id="25" name="Text 20"/>
          <p:cNvSpPr txBox="1"/>
          <p:nvPr/>
        </p:nvSpPr>
        <p:spPr>
          <a:xfrm>
            <a:off x="6263640" y="3017520"/>
            <a:ext cx="2194560" cy="228600"/>
          </a:xfrm>
          <a:prstGeom prst="rect">
            <a:avLst/>
          </a:prstGeom>
          <a:noFill/>
          <a:ln/>
        </p:spPr>
        <p:txBody>
          <a:bodyPr wrap="square" lIns="0" tIns="0" rIns="0" bIns="0" rtlCol="0" anchor="t"/>
          <a:lstStyle/>
          <a:p>
            <a:pPr indent="0" marL="0">
              <a:buNone/>
            </a:pPr>
            <a:r>
              <a:rPr lang="en-US" sz="1200" b="1" dirty="0">
                <a:solidFill>
                  <a:schemeClr val="accent2"/>
                </a:solidFill>
              </a:rPr>
              <a:t>Weakness</a:t>
            </a:r>
            <a:endParaRPr lang="en-US" sz="1200" dirty="0"/>
          </a:p>
        </p:txBody>
      </p:sp>
      <p:sp>
        <p:nvSpPr>
          <p:cNvPr id="26" name="Text 21"/>
          <p:cNvSpPr txBox="1"/>
          <p:nvPr/>
        </p:nvSpPr>
        <p:spPr>
          <a:xfrm>
            <a:off x="6263640" y="3246120"/>
            <a:ext cx="2194560" cy="1097280"/>
          </a:xfrm>
          <a:prstGeom prst="rect">
            <a:avLst/>
          </a:prstGeom>
          <a:noFill/>
          <a:ln/>
        </p:spPr>
        <p:txBody>
          <a:bodyPr wrap="square" lIns="0" tIns="0" rIns="0" bIns="0" rtlCol="0" anchor="t"/>
          <a:lstStyle/>
          <a:p>
            <a:pPr indent="0" marL="0">
              <a:buNone/>
            </a:pPr>
            <a:r>
              <a:rPr lang="en-US" sz="1300" dirty="0">
                <a:solidFill>
                  <a:schemeClr val="tx1"/>
                </a:solidFill>
              </a:rPr>
              <a:t>Training takes time; untested where it never trained</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Objective: an honest test, not a sales pitch</a:t>
            </a:r>
            <a:endParaRPr lang="en-US" sz="2800" dirty="0"/>
          </a:p>
        </p:txBody>
      </p:sp>
      <p:sp>
        <p:nvSpPr>
          <p:cNvPr id="3" name="question card"/>
          <p:cNvSpPr/>
          <p:nvPr/>
        </p:nvSpPr>
        <p:spPr>
          <a:xfrm>
            <a:off x="457200" y="1051560"/>
            <a:ext cx="8229600" cy="731520"/>
          </a:xfrm>
          <a:prstGeom prst="roundRect">
            <a:avLst>
              <a:gd name="adj" fmla="val 10000"/>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85800" y="1143000"/>
            <a:ext cx="7772400" cy="5486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When does a PINN measure tail risk better than traditional methods, and when is it not worth it?</a:t>
            </a:r>
            <a:endParaRPr lang="en-US" sz="1700" dirty="0"/>
          </a:p>
        </p:txBody>
      </p:sp>
      <p:sp>
        <p:nvSpPr>
          <p:cNvPr id="5" name="rq tag 0"/>
          <p:cNvSpPr/>
          <p:nvPr/>
        </p:nvSpPr>
        <p:spPr>
          <a:xfrm>
            <a:off x="457200" y="1965960"/>
            <a:ext cx="731520" cy="384048"/>
          </a:xfrm>
          <a:prstGeom prst="roundRect">
            <a:avLst>
              <a:gd name="adj" fmla="val 14286"/>
            </a:avLst>
          </a:prstGeom>
          <a:solidFill>
            <a:srgbClr val="2563EB"/>
          </a:solidFill>
          <a:ln w="12700">
            <a:solidFill>
              <a:srgbClr val="2563EB"/>
            </a:solidFill>
            <a:prstDash val="solid"/>
          </a:ln>
        </p:spPr>
      </p:sp>
      <p:sp>
        <p:nvSpPr>
          <p:cNvPr id="6" name="Text 4"/>
          <p:cNvSpPr txBox="1"/>
          <p:nvPr/>
        </p:nvSpPr>
        <p:spPr>
          <a:xfrm>
            <a:off x="457200" y="1965960"/>
            <a:ext cx="731520" cy="384048"/>
          </a:xfrm>
          <a:prstGeom prst="rect">
            <a:avLst/>
          </a:prstGeom>
          <a:noFill/>
          <a:ln/>
        </p:spPr>
        <p:txBody>
          <a:bodyPr wrap="square" lIns="0" tIns="0" rIns="0" bIns="0" rtlCol="0" anchor="ctr"/>
          <a:lstStyle/>
          <a:p>
            <a:pPr algn="ctr" indent="0" marL="0">
              <a:buNone/>
            </a:pPr>
            <a:r>
              <a:rPr lang="en-US" sz="1400" b="1" dirty="0">
                <a:solidFill>
                  <a:schemeClr val="bg1"/>
                </a:solidFill>
              </a:rPr>
              <a:t>RQ1</a:t>
            </a:r>
            <a:endParaRPr lang="en-US" sz="1400" dirty="0"/>
          </a:p>
        </p:txBody>
      </p:sp>
      <p:sp>
        <p:nvSpPr>
          <p:cNvPr id="7" name="Text 5"/>
          <p:cNvSpPr txBox="1"/>
          <p:nvPr/>
        </p:nvSpPr>
        <p:spPr>
          <a:xfrm>
            <a:off x="1371600" y="1965960"/>
            <a:ext cx="7315200" cy="384048"/>
          </a:xfrm>
          <a:prstGeom prst="rect">
            <a:avLst/>
          </a:prstGeom>
          <a:noFill/>
          <a:ln/>
        </p:spPr>
        <p:txBody>
          <a:bodyPr wrap="square" lIns="0" tIns="0" rIns="0" bIns="0" rtlCol="0" anchor="ctr"/>
          <a:lstStyle/>
          <a:p>
            <a:pPr indent="0" marL="0">
              <a:buNone/>
            </a:pPr>
            <a:r>
              <a:rPr lang="en-US" sz="1400" dirty="0">
                <a:solidFill>
                  <a:schemeClr val="tx1"/>
                </a:solidFill>
              </a:rPr>
              <a:t>Does it get the extreme cases right, not just the normal ones?</a:t>
            </a:r>
            <a:endParaRPr lang="en-US" sz="1400" dirty="0"/>
          </a:p>
        </p:txBody>
      </p:sp>
      <p:sp>
        <p:nvSpPr>
          <p:cNvPr id="8" name="rq tag 1"/>
          <p:cNvSpPr/>
          <p:nvPr/>
        </p:nvSpPr>
        <p:spPr>
          <a:xfrm>
            <a:off x="457200" y="2468880"/>
            <a:ext cx="731520" cy="384048"/>
          </a:xfrm>
          <a:prstGeom prst="roundRect">
            <a:avLst>
              <a:gd name="adj" fmla="val 14286"/>
            </a:avLst>
          </a:prstGeom>
          <a:solidFill>
            <a:srgbClr val="2563EB"/>
          </a:solidFill>
          <a:ln w="12700">
            <a:solidFill>
              <a:srgbClr val="2563EB"/>
            </a:solidFill>
            <a:prstDash val="solid"/>
          </a:ln>
        </p:spPr>
      </p:sp>
      <p:sp>
        <p:nvSpPr>
          <p:cNvPr id="9" name="Text 7"/>
          <p:cNvSpPr txBox="1"/>
          <p:nvPr/>
        </p:nvSpPr>
        <p:spPr>
          <a:xfrm>
            <a:off x="457200" y="2468880"/>
            <a:ext cx="731520" cy="384048"/>
          </a:xfrm>
          <a:prstGeom prst="rect">
            <a:avLst/>
          </a:prstGeom>
          <a:noFill/>
          <a:ln/>
        </p:spPr>
        <p:txBody>
          <a:bodyPr wrap="square" lIns="0" tIns="0" rIns="0" bIns="0" rtlCol="0" anchor="ctr"/>
          <a:lstStyle/>
          <a:p>
            <a:pPr algn="ctr" indent="0" marL="0">
              <a:buNone/>
            </a:pPr>
            <a:r>
              <a:rPr lang="en-US" sz="1400" b="1" dirty="0">
                <a:solidFill>
                  <a:schemeClr val="bg1"/>
                </a:solidFill>
              </a:rPr>
              <a:t>RQ2</a:t>
            </a:r>
            <a:endParaRPr lang="en-US" sz="1400" dirty="0"/>
          </a:p>
        </p:txBody>
      </p:sp>
      <p:sp>
        <p:nvSpPr>
          <p:cNvPr id="10" name="Text 8"/>
          <p:cNvSpPr txBox="1"/>
          <p:nvPr/>
        </p:nvSpPr>
        <p:spPr>
          <a:xfrm>
            <a:off x="1371600" y="2468880"/>
            <a:ext cx="7315200" cy="384048"/>
          </a:xfrm>
          <a:prstGeom prst="rect">
            <a:avLst/>
          </a:prstGeom>
          <a:noFill/>
          <a:ln/>
        </p:spPr>
        <p:txBody>
          <a:bodyPr wrap="square" lIns="0" tIns="0" rIns="0" bIns="0" rtlCol="0" anchor="ctr"/>
          <a:lstStyle/>
          <a:p>
            <a:pPr indent="0" marL="0">
              <a:buNone/>
            </a:pPr>
            <a:r>
              <a:rPr lang="en-US" sz="1400" dirty="0">
                <a:solidFill>
                  <a:schemeClr val="tx1"/>
                </a:solidFill>
              </a:rPr>
              <a:t>Are its risk numbers accurate, and do they hold up on real data?</a:t>
            </a:r>
            <a:endParaRPr lang="en-US" sz="1400" dirty="0"/>
          </a:p>
        </p:txBody>
      </p:sp>
      <p:sp>
        <p:nvSpPr>
          <p:cNvPr id="11" name="rq tag 2"/>
          <p:cNvSpPr/>
          <p:nvPr/>
        </p:nvSpPr>
        <p:spPr>
          <a:xfrm>
            <a:off x="457200" y="2971800"/>
            <a:ext cx="731520" cy="384048"/>
          </a:xfrm>
          <a:prstGeom prst="roundRect">
            <a:avLst>
              <a:gd name="adj" fmla="val 14286"/>
            </a:avLst>
          </a:prstGeom>
          <a:solidFill>
            <a:srgbClr val="2563EB"/>
          </a:solidFill>
          <a:ln w="12700">
            <a:solidFill>
              <a:srgbClr val="2563EB"/>
            </a:solidFill>
            <a:prstDash val="solid"/>
          </a:ln>
        </p:spPr>
      </p:sp>
      <p:sp>
        <p:nvSpPr>
          <p:cNvPr id="12" name="Text 10"/>
          <p:cNvSpPr txBox="1"/>
          <p:nvPr/>
        </p:nvSpPr>
        <p:spPr>
          <a:xfrm>
            <a:off x="457200" y="2971800"/>
            <a:ext cx="731520" cy="384048"/>
          </a:xfrm>
          <a:prstGeom prst="rect">
            <a:avLst/>
          </a:prstGeom>
          <a:noFill/>
          <a:ln/>
        </p:spPr>
        <p:txBody>
          <a:bodyPr wrap="square" lIns="0" tIns="0" rIns="0" bIns="0" rtlCol="0" anchor="ctr"/>
          <a:lstStyle/>
          <a:p>
            <a:pPr algn="ctr" indent="0" marL="0">
              <a:buNone/>
            </a:pPr>
            <a:r>
              <a:rPr lang="en-US" sz="1400" b="1" dirty="0">
                <a:solidFill>
                  <a:schemeClr val="bg1"/>
                </a:solidFill>
              </a:rPr>
              <a:t>RQ3</a:t>
            </a:r>
            <a:endParaRPr lang="en-US" sz="1400" dirty="0"/>
          </a:p>
        </p:txBody>
      </p:sp>
      <p:sp>
        <p:nvSpPr>
          <p:cNvPr id="13" name="Text 11"/>
          <p:cNvSpPr txBox="1"/>
          <p:nvPr/>
        </p:nvSpPr>
        <p:spPr>
          <a:xfrm>
            <a:off x="1371600" y="2971800"/>
            <a:ext cx="7315200" cy="384048"/>
          </a:xfrm>
          <a:prstGeom prst="rect">
            <a:avLst/>
          </a:prstGeom>
          <a:noFill/>
          <a:ln/>
        </p:spPr>
        <p:txBody>
          <a:bodyPr wrap="square" lIns="0" tIns="0" rIns="0" bIns="0" rtlCol="0" anchor="ctr"/>
          <a:lstStyle/>
          <a:p>
            <a:pPr indent="0" marL="0">
              <a:buNone/>
            </a:pPr>
            <a:r>
              <a:rPr lang="en-US" sz="1400" dirty="0">
                <a:solidFill>
                  <a:schemeClr val="tx1"/>
                </a:solidFill>
              </a:rPr>
              <a:t>Does teaching it the equation help, versus the same AI trained on data only?</a:t>
            </a:r>
            <a:endParaRPr lang="en-US" sz="1400" dirty="0"/>
          </a:p>
        </p:txBody>
      </p:sp>
      <p:sp>
        <p:nvSpPr>
          <p:cNvPr id="14" name="rq tag 3"/>
          <p:cNvSpPr/>
          <p:nvPr/>
        </p:nvSpPr>
        <p:spPr>
          <a:xfrm>
            <a:off x="457200" y="3474720"/>
            <a:ext cx="731520" cy="384048"/>
          </a:xfrm>
          <a:prstGeom prst="roundRect">
            <a:avLst>
              <a:gd name="adj" fmla="val 14286"/>
            </a:avLst>
          </a:prstGeom>
          <a:solidFill>
            <a:srgbClr val="2563EB"/>
          </a:solidFill>
          <a:ln w="12700">
            <a:solidFill>
              <a:srgbClr val="2563EB"/>
            </a:solidFill>
            <a:prstDash val="solid"/>
          </a:ln>
        </p:spPr>
      </p:sp>
      <p:sp>
        <p:nvSpPr>
          <p:cNvPr id="15" name="Text 13"/>
          <p:cNvSpPr txBox="1"/>
          <p:nvPr/>
        </p:nvSpPr>
        <p:spPr>
          <a:xfrm>
            <a:off x="457200" y="3474720"/>
            <a:ext cx="731520" cy="384048"/>
          </a:xfrm>
          <a:prstGeom prst="rect">
            <a:avLst/>
          </a:prstGeom>
          <a:noFill/>
          <a:ln/>
        </p:spPr>
        <p:txBody>
          <a:bodyPr wrap="square" lIns="0" tIns="0" rIns="0" bIns="0" rtlCol="0" anchor="ctr"/>
          <a:lstStyle/>
          <a:p>
            <a:pPr algn="ctr" indent="0" marL="0">
              <a:buNone/>
            </a:pPr>
            <a:r>
              <a:rPr lang="en-US" sz="1400" b="1" dirty="0">
                <a:solidFill>
                  <a:schemeClr val="bg1"/>
                </a:solidFill>
              </a:rPr>
              <a:t>RQ4</a:t>
            </a:r>
            <a:endParaRPr lang="en-US" sz="1400" dirty="0"/>
          </a:p>
        </p:txBody>
      </p:sp>
      <p:sp>
        <p:nvSpPr>
          <p:cNvPr id="16" name="Text 14"/>
          <p:cNvSpPr txBox="1"/>
          <p:nvPr/>
        </p:nvSpPr>
        <p:spPr>
          <a:xfrm>
            <a:off x="1371600" y="3474720"/>
            <a:ext cx="7315200" cy="384048"/>
          </a:xfrm>
          <a:prstGeom prst="rect">
            <a:avLst/>
          </a:prstGeom>
          <a:noFill/>
          <a:ln/>
        </p:spPr>
        <p:txBody>
          <a:bodyPr wrap="square" lIns="0" tIns="0" rIns="0" bIns="0" rtlCol="0" anchor="ctr"/>
          <a:lstStyle/>
          <a:p>
            <a:pPr indent="0" marL="0">
              <a:buNone/>
            </a:pPr>
            <a:r>
              <a:rPr lang="en-US" sz="1400" dirty="0">
                <a:solidFill>
                  <a:schemeClr val="tx1"/>
                </a:solidFill>
              </a:rPr>
              <a:t>Does it still work with more assets (1, 2, 5, 10)?</a:t>
            </a:r>
            <a:endParaRPr lang="en-US" sz="1400" dirty="0"/>
          </a:p>
        </p:txBody>
      </p:sp>
      <p:sp>
        <p:nvSpPr>
          <p:cNvPr id="17" name="rq tag 4"/>
          <p:cNvSpPr/>
          <p:nvPr/>
        </p:nvSpPr>
        <p:spPr>
          <a:xfrm>
            <a:off x="457200" y="3977640"/>
            <a:ext cx="731520" cy="384048"/>
          </a:xfrm>
          <a:prstGeom prst="roundRect">
            <a:avLst>
              <a:gd name="adj" fmla="val 14286"/>
            </a:avLst>
          </a:prstGeom>
          <a:solidFill>
            <a:srgbClr val="2563EB"/>
          </a:solidFill>
          <a:ln w="12700">
            <a:solidFill>
              <a:srgbClr val="2563EB"/>
            </a:solidFill>
            <a:prstDash val="solid"/>
          </a:ln>
        </p:spPr>
      </p:sp>
      <p:sp>
        <p:nvSpPr>
          <p:cNvPr id="18" name="Text 16"/>
          <p:cNvSpPr txBox="1"/>
          <p:nvPr/>
        </p:nvSpPr>
        <p:spPr>
          <a:xfrm>
            <a:off x="457200" y="3977640"/>
            <a:ext cx="731520" cy="384048"/>
          </a:xfrm>
          <a:prstGeom prst="rect">
            <a:avLst/>
          </a:prstGeom>
          <a:noFill/>
          <a:ln/>
        </p:spPr>
        <p:txBody>
          <a:bodyPr wrap="square" lIns="0" tIns="0" rIns="0" bIns="0" rtlCol="0" anchor="ctr"/>
          <a:lstStyle/>
          <a:p>
            <a:pPr algn="ctr" indent="0" marL="0">
              <a:buNone/>
            </a:pPr>
            <a:r>
              <a:rPr lang="en-US" sz="1400" b="1" dirty="0">
                <a:solidFill>
                  <a:schemeClr val="bg1"/>
                </a:solidFill>
              </a:rPr>
              <a:t>RQ5</a:t>
            </a:r>
            <a:endParaRPr lang="en-US" sz="1400" dirty="0"/>
          </a:p>
        </p:txBody>
      </p:sp>
      <p:sp>
        <p:nvSpPr>
          <p:cNvPr id="19" name="Text 17"/>
          <p:cNvSpPr txBox="1"/>
          <p:nvPr/>
        </p:nvSpPr>
        <p:spPr>
          <a:xfrm>
            <a:off x="1371600" y="3977640"/>
            <a:ext cx="7315200" cy="384048"/>
          </a:xfrm>
          <a:prstGeom prst="rect">
            <a:avLst/>
          </a:prstGeom>
          <a:noFill/>
          <a:ln/>
        </p:spPr>
        <p:txBody>
          <a:bodyPr wrap="square" lIns="0" tIns="0" rIns="0" bIns="0" rtlCol="0" anchor="ctr"/>
          <a:lstStyle/>
          <a:p>
            <a:pPr indent="0" marL="0">
              <a:buNone/>
            </a:pPr>
            <a:r>
              <a:rPr lang="en-US" sz="1400" dirty="0">
                <a:solidFill>
                  <a:schemeClr val="tx1"/>
                </a:solidFill>
              </a:rPr>
              <a:t>Once trained, is it faster than simulation?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Data: simulated markets and two real baskets</a:t>
            </a:r>
            <a:endParaRPr lang="en-US" sz="2800" dirty="0"/>
          </a:p>
        </p:txBody>
      </p:sp>
      <p:sp>
        <p:nvSpPr>
          <p:cNvPr id="3" name="synthetic card"/>
          <p:cNvSpPr/>
          <p:nvPr/>
        </p:nvSpPr>
        <p:spPr>
          <a:xfrm>
            <a:off x="457200" y="1051560"/>
            <a:ext cx="3931920" cy="2834640"/>
          </a:xfrm>
          <a:prstGeom prst="roundRect">
            <a:avLst>
              <a:gd name="adj" fmla="val 2581"/>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 name="synthetic circle"/>
          <p:cNvSpPr/>
          <p:nvPr/>
        </p:nvSpPr>
        <p:spPr>
          <a:xfrm>
            <a:off x="685800" y="1234440"/>
            <a:ext cx="548640" cy="548640"/>
          </a:xfrm>
          <a:prstGeom prst="ellipse">
            <a:avLst/>
          </a:prstGeom>
          <a:solidFill>
            <a:srgbClr val="7C3AED"/>
          </a:solidFill>
          <a:ln w="12700">
            <a:solidFill>
              <a:srgbClr val="7C3AED"/>
            </a:solidFill>
            <a:prstDash val="solid"/>
          </a:ln>
        </p:spPr>
      </p:sp>
      <p:pic>
        <p:nvPicPr>
          <p:cNvPr id="5" name="synthetic icon" descr="preencoded.png">    </p:cNvPr>
          <p:cNvPicPr>
            <a:picLocks noChangeAspect="1"/>
          </p:cNvPicPr>
          <p:nvPr/>
        </p:nvPicPr>
        <p:blipFill>
          <a:blip r:embed="rId1"/>
          <a:stretch>
            <a:fillRect/>
          </a:stretch>
        </p:blipFill>
        <p:spPr>
          <a:xfrm>
            <a:off x="822960" y="1371600"/>
            <a:ext cx="274320" cy="274320"/>
          </a:xfrm>
          <a:prstGeom prst="rect">
            <a:avLst/>
          </a:prstGeom>
        </p:spPr>
      </p:pic>
      <p:sp>
        <p:nvSpPr>
          <p:cNvPr id="6" name="Text 3"/>
          <p:cNvSpPr txBox="1"/>
          <p:nvPr/>
        </p:nvSpPr>
        <p:spPr>
          <a:xfrm>
            <a:off x="1417320" y="1371600"/>
            <a:ext cx="2834640" cy="320040"/>
          </a:xfrm>
          <a:prstGeom prst="rect">
            <a:avLst/>
          </a:prstGeom>
          <a:noFill/>
          <a:ln/>
        </p:spPr>
        <p:txBody>
          <a:bodyPr wrap="square" lIns="0" tIns="0" rIns="0" bIns="0" rtlCol="0" anchor="t"/>
          <a:lstStyle/>
          <a:p>
            <a:pPr indent="0" marL="0">
              <a:buNone/>
            </a:pPr>
            <a:r>
              <a:rPr lang="en-US" sz="1700" b="1" dirty="0">
                <a:solidFill>
                  <a:schemeClr val="tx2"/>
                </a:solidFill>
              </a:rPr>
              <a:t>Simulated markets</a:t>
            </a:r>
            <a:endParaRPr lang="en-US" sz="1700" dirty="0"/>
          </a:p>
        </p:txBody>
      </p:sp>
      <p:sp>
        <p:nvSpPr>
          <p:cNvPr id="7" name="Text 4"/>
          <p:cNvSpPr txBox="1"/>
          <p:nvPr/>
        </p:nvSpPr>
        <p:spPr>
          <a:xfrm>
            <a:off x="685800" y="1965960"/>
            <a:ext cx="352044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20% yearly volatility, ~5 crashes a year, about −5% each</a:t>
            </a:r>
            <a:endParaRPr lang="en-US" sz="1400" dirty="0"/>
          </a:p>
          <a:p>
            <a:pPr marL="342900" indent="-342900">
              <a:spcAft>
                <a:spcPts val="800"/>
              </a:spcAft>
              <a:buSzPct val="100000"/>
              <a:buChar char="•"/>
            </a:pPr>
            <a:r>
              <a:rPr lang="en-US" sz="1400" dirty="0">
                <a:solidFill>
                  <a:schemeClr val="tx1"/>
                </a:solidFill>
              </a:rPr>
              <a:t>1 to 10 assets</a:t>
            </a:r>
            <a:endParaRPr lang="en-US" sz="1400" dirty="0"/>
          </a:p>
          <a:p>
            <a:pPr marL="342900" indent="-342900">
              <a:spcAft>
                <a:spcPts val="800"/>
              </a:spcAft>
              <a:buSzPct val="100000"/>
              <a:buChar char="•"/>
            </a:pPr>
            <a:r>
              <a:rPr lang="en-US" sz="1400" b="1" dirty="0">
                <a:solidFill>
                  <a:schemeClr val="tx1"/>
                </a:solidFill>
              </a:rPr>
              <a:t>Why: the exact answer is known, so every error is measured, not guessed</a:t>
            </a:r>
            <a:endParaRPr lang="en-US" sz="1400" dirty="0"/>
          </a:p>
        </p:txBody>
      </p:sp>
      <p:sp>
        <p:nvSpPr>
          <p:cNvPr id="8" name="real card"/>
          <p:cNvSpPr/>
          <p:nvPr/>
        </p:nvSpPr>
        <p:spPr>
          <a:xfrm>
            <a:off x="4754880" y="1051560"/>
            <a:ext cx="3931920" cy="2834640"/>
          </a:xfrm>
          <a:prstGeom prst="roundRect">
            <a:avLst>
              <a:gd name="adj" fmla="val 2581"/>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9" name="real circle"/>
          <p:cNvSpPr/>
          <p:nvPr/>
        </p:nvSpPr>
        <p:spPr>
          <a:xfrm>
            <a:off x="4983480" y="1234440"/>
            <a:ext cx="548640" cy="548640"/>
          </a:xfrm>
          <a:prstGeom prst="ellipse">
            <a:avLst/>
          </a:prstGeom>
          <a:solidFill>
            <a:srgbClr val="2A9D8F"/>
          </a:solidFill>
          <a:ln w="12700">
            <a:solidFill>
              <a:srgbClr val="2A9D8F"/>
            </a:solidFill>
            <a:prstDash val="solid"/>
          </a:ln>
        </p:spPr>
      </p:sp>
      <p:pic>
        <p:nvPicPr>
          <p:cNvPr id="10" name="real icon" descr="preencoded.png">    </p:cNvPr>
          <p:cNvPicPr>
            <a:picLocks noChangeAspect="1"/>
          </p:cNvPicPr>
          <p:nvPr/>
        </p:nvPicPr>
        <p:blipFill>
          <a:blip r:embed="rId2"/>
          <a:stretch>
            <a:fillRect/>
          </a:stretch>
        </p:blipFill>
        <p:spPr>
          <a:xfrm>
            <a:off x="5120640" y="1371600"/>
            <a:ext cx="274320" cy="274320"/>
          </a:xfrm>
          <a:prstGeom prst="rect">
            <a:avLst/>
          </a:prstGeom>
        </p:spPr>
      </p:pic>
      <p:sp>
        <p:nvSpPr>
          <p:cNvPr id="11" name="Text 7"/>
          <p:cNvSpPr txBox="1"/>
          <p:nvPr/>
        </p:nvSpPr>
        <p:spPr>
          <a:xfrm>
            <a:off x="5715000" y="1371600"/>
            <a:ext cx="2880360" cy="320040"/>
          </a:xfrm>
          <a:prstGeom prst="rect">
            <a:avLst/>
          </a:prstGeom>
          <a:noFill/>
          <a:ln/>
        </p:spPr>
        <p:txBody>
          <a:bodyPr wrap="square" lIns="0" tIns="0" rIns="0" bIns="0" rtlCol="0" anchor="t"/>
          <a:lstStyle/>
          <a:p>
            <a:pPr indent="0" marL="0">
              <a:buNone/>
            </a:pPr>
            <a:r>
              <a:rPr lang="en-US" sz="1700" b="1" dirty="0">
                <a:solidFill>
                  <a:schemeClr val="tx2"/>
                </a:solidFill>
              </a:rPr>
              <a:t>Real data (Yahoo Finance)</a:t>
            </a:r>
            <a:endParaRPr lang="en-US" sz="1700" dirty="0"/>
          </a:p>
        </p:txBody>
      </p:sp>
      <p:sp>
        <p:nvSpPr>
          <p:cNvPr id="12" name="Text 8"/>
          <p:cNvSpPr txBox="1"/>
          <p:nvPr/>
        </p:nvSpPr>
        <p:spPr>
          <a:xfrm>
            <a:off x="4983480" y="1965960"/>
            <a:ext cx="3520440" cy="182880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NIFTY: </a:t>
            </a:r>
            <a:pPr indent="0" marL="0">
              <a:spcAft>
                <a:spcPts val="800"/>
              </a:spcAft>
              <a:buNone/>
            </a:pPr>
            <a:r>
              <a:rPr lang="en-US" sz="1400" dirty="0">
                <a:solidFill>
                  <a:schemeClr val="tx1"/>
                </a:solidFill>
              </a:rPr>
              <a:t>Reliance, HDFC Bank, Infosys, ICICI Bank, TCS</a:t>
            </a:r>
            <a:endParaRPr lang="en-US" sz="1400" dirty="0"/>
          </a:p>
          <a:p>
            <a:pPr marL="342900" indent="-342900">
              <a:spcAft>
                <a:spcPts val="800"/>
              </a:spcAft>
              <a:buSzPct val="100000"/>
              <a:buChar char="•"/>
            </a:pPr>
            <a:r>
              <a:rPr lang="en-US" sz="1400" b="1" dirty="0">
                <a:solidFill>
                  <a:schemeClr val="tx1"/>
                </a:solidFill>
              </a:rPr>
              <a:t>S&amp;P sectors: </a:t>
            </a:r>
            <a:pPr indent="0" marL="0">
              <a:spcAft>
                <a:spcPts val="800"/>
              </a:spcAft>
              <a:buNone/>
            </a:pPr>
            <a:r>
              <a:rPr lang="en-US" sz="1400" dirty="0">
                <a:solidFill>
                  <a:schemeClr val="tx1"/>
                </a:solidFill>
              </a:rPr>
              <a:t>Tech, Financials, Energy, Health care, Industrials</a:t>
            </a:r>
            <a:endParaRPr lang="en-US" sz="1400" dirty="0"/>
          </a:p>
          <a:p>
            <a:pPr marL="342900" indent="-342900">
              <a:spcAft>
                <a:spcPts val="800"/>
              </a:spcAft>
              <a:buSzPct val="100000"/>
              <a:buChar char="•"/>
            </a:pPr>
            <a:r>
              <a:rPr lang="en-US" sz="1400" dirty="0">
                <a:solidFill>
                  <a:schemeClr val="tx1"/>
                </a:solidFill>
              </a:rPr>
              <a:t>Train 2006–2017, test 2018–2026 (~2,200 unseen days, incl. COVID)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How the PINN learns: obey the equation</a:t>
            </a:r>
            <a:endParaRPr lang="en-US" sz="2800" dirty="0"/>
          </a:p>
        </p:txBody>
      </p:sp>
      <p:sp>
        <p:nvSpPr>
          <p:cNvPr id="3" name="Text 1"/>
          <p:cNvSpPr txBox="1"/>
          <p:nvPr/>
        </p:nvSpPr>
        <p:spPr>
          <a:xfrm>
            <a:off x="457200" y="1005840"/>
            <a:ext cx="8229600" cy="320040"/>
          </a:xfrm>
          <a:prstGeom prst="rect">
            <a:avLst/>
          </a:prstGeom>
          <a:noFill/>
          <a:ln/>
        </p:spPr>
        <p:txBody>
          <a:bodyPr wrap="square" lIns="0" tIns="0" rIns="0" bIns="0" rtlCol="0" anchor="t"/>
          <a:lstStyle/>
          <a:p>
            <a:pPr indent="0" marL="0">
              <a:buNone/>
            </a:pPr>
            <a:r>
              <a:rPr lang="en-US" sz="1500" dirty="0">
                <a:solidFill>
                  <a:schemeClr val="tx1"/>
                </a:solidFill>
              </a:rPr>
              <a:t>Training adjusts the network over 20,000 steps to push one combined error to zero:</a:t>
            </a:r>
            <a:endParaRPr lang="en-US" sz="1500" dirty="0"/>
          </a:p>
        </p:txBody>
      </p:sp>
      <p:sp>
        <p:nvSpPr>
          <p:cNvPr id="4" name="loss part 0"/>
          <p:cNvSpPr/>
          <p:nvPr/>
        </p:nvSpPr>
        <p:spPr>
          <a:xfrm>
            <a:off x="457200" y="1463040"/>
            <a:ext cx="2606040" cy="1234440"/>
          </a:xfrm>
          <a:prstGeom prst="roundRect">
            <a:avLst>
              <a:gd name="adj" fmla="val 5926"/>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loss 0 circle"/>
          <p:cNvSpPr/>
          <p:nvPr/>
        </p:nvSpPr>
        <p:spPr>
          <a:xfrm>
            <a:off x="640080" y="1600200"/>
            <a:ext cx="457200" cy="457200"/>
          </a:xfrm>
          <a:prstGeom prst="ellipse">
            <a:avLst/>
          </a:prstGeom>
          <a:solidFill>
            <a:srgbClr val="2563EB"/>
          </a:solidFill>
          <a:ln w="12700">
            <a:solidFill>
              <a:srgbClr val="2563EB"/>
            </a:solidFill>
            <a:prstDash val="solid"/>
          </a:ln>
        </p:spPr>
      </p:sp>
      <p:pic>
        <p:nvPicPr>
          <p:cNvPr id="6" name="loss 0 icon" descr="preencoded.png">    </p:cNvPr>
          <p:cNvPicPr>
            <a:picLocks noChangeAspect="1"/>
          </p:cNvPicPr>
          <p:nvPr/>
        </p:nvPicPr>
        <p:blipFill>
          <a:blip r:embed="rId1"/>
          <a:stretch>
            <a:fillRect/>
          </a:stretch>
        </p:blipFill>
        <p:spPr>
          <a:xfrm>
            <a:off x="754380" y="1714500"/>
            <a:ext cx="228600" cy="228600"/>
          </a:xfrm>
          <a:prstGeom prst="rect">
            <a:avLst/>
          </a:prstGeom>
        </p:spPr>
      </p:pic>
      <p:sp>
        <p:nvSpPr>
          <p:cNvPr id="7" name="Text 4"/>
          <p:cNvSpPr txBox="1"/>
          <p:nvPr/>
        </p:nvSpPr>
        <p:spPr>
          <a:xfrm>
            <a:off x="1234440" y="1645920"/>
            <a:ext cx="1737360" cy="320040"/>
          </a:xfrm>
          <a:prstGeom prst="rect">
            <a:avLst/>
          </a:prstGeom>
          <a:noFill/>
          <a:ln/>
        </p:spPr>
        <p:txBody>
          <a:bodyPr wrap="square" lIns="0" tIns="0" rIns="0" bIns="0" rtlCol="0" anchor="t"/>
          <a:lstStyle/>
          <a:p>
            <a:pPr indent="0" marL="0">
              <a:buNone/>
            </a:pPr>
            <a:r>
              <a:rPr lang="en-US" sz="1500" b="1" dirty="0">
                <a:solidFill>
                  <a:schemeClr val="tx2"/>
                </a:solidFill>
              </a:rPr>
              <a:t>Equation error</a:t>
            </a:r>
            <a:endParaRPr lang="en-US" sz="1500" dirty="0"/>
          </a:p>
        </p:txBody>
      </p:sp>
      <p:sp>
        <p:nvSpPr>
          <p:cNvPr id="8" name="Text 5"/>
          <p:cNvSpPr txBox="1"/>
          <p:nvPr/>
        </p:nvSpPr>
        <p:spPr>
          <a:xfrm>
            <a:off x="640080" y="2148840"/>
            <a:ext cx="2286000" cy="502920"/>
          </a:xfrm>
          <a:prstGeom prst="rect">
            <a:avLst/>
          </a:prstGeom>
          <a:noFill/>
          <a:ln/>
        </p:spPr>
        <p:txBody>
          <a:bodyPr wrap="square" lIns="0" tIns="0" rIns="0" bIns="0" rtlCol="0" anchor="t"/>
          <a:lstStyle/>
          <a:p>
            <a:pPr indent="0" marL="0">
              <a:buNone/>
            </a:pPr>
            <a:r>
              <a:rPr lang="en-US" sz="1200" dirty="0">
                <a:solidFill>
                  <a:schemeClr val="tx1"/>
                </a:solidFill>
              </a:rPr>
              <a:t>How much its answer breaks the market equation</a:t>
            </a:r>
            <a:endParaRPr lang="en-US" sz="1200" dirty="0"/>
          </a:p>
        </p:txBody>
      </p:sp>
      <p:sp>
        <p:nvSpPr>
          <p:cNvPr id="9" name="loss part 1"/>
          <p:cNvSpPr/>
          <p:nvPr/>
        </p:nvSpPr>
        <p:spPr>
          <a:xfrm>
            <a:off x="3246120" y="1463040"/>
            <a:ext cx="2606040" cy="1234440"/>
          </a:xfrm>
          <a:prstGeom prst="roundRect">
            <a:avLst>
              <a:gd name="adj" fmla="val 5926"/>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0" name="loss 1 circle"/>
          <p:cNvSpPr/>
          <p:nvPr/>
        </p:nvSpPr>
        <p:spPr>
          <a:xfrm>
            <a:off x="3429000" y="1600200"/>
            <a:ext cx="457200" cy="457200"/>
          </a:xfrm>
          <a:prstGeom prst="ellipse">
            <a:avLst/>
          </a:prstGeom>
          <a:solidFill>
            <a:srgbClr val="2563EB"/>
          </a:solidFill>
          <a:ln w="12700">
            <a:solidFill>
              <a:srgbClr val="2563EB"/>
            </a:solidFill>
            <a:prstDash val="solid"/>
          </a:ln>
        </p:spPr>
      </p:sp>
      <p:pic>
        <p:nvPicPr>
          <p:cNvPr id="11" name="loss 1 icon" descr="preencoded.png">    </p:cNvPr>
          <p:cNvPicPr>
            <a:picLocks noChangeAspect="1"/>
          </p:cNvPicPr>
          <p:nvPr/>
        </p:nvPicPr>
        <p:blipFill>
          <a:blip r:embed="rId2"/>
          <a:stretch>
            <a:fillRect/>
          </a:stretch>
        </p:blipFill>
        <p:spPr>
          <a:xfrm>
            <a:off x="3543300" y="1714500"/>
            <a:ext cx="228600" cy="228600"/>
          </a:xfrm>
          <a:prstGeom prst="rect">
            <a:avLst/>
          </a:prstGeom>
        </p:spPr>
      </p:pic>
      <p:sp>
        <p:nvSpPr>
          <p:cNvPr id="12" name="Text 8"/>
          <p:cNvSpPr txBox="1"/>
          <p:nvPr/>
        </p:nvSpPr>
        <p:spPr>
          <a:xfrm>
            <a:off x="4023360" y="1645920"/>
            <a:ext cx="1737360" cy="320040"/>
          </a:xfrm>
          <a:prstGeom prst="rect">
            <a:avLst/>
          </a:prstGeom>
          <a:noFill/>
          <a:ln/>
        </p:spPr>
        <p:txBody>
          <a:bodyPr wrap="square" lIns="0" tIns="0" rIns="0" bIns="0" rtlCol="0" anchor="t"/>
          <a:lstStyle/>
          <a:p>
            <a:pPr indent="0" marL="0">
              <a:buNone/>
            </a:pPr>
            <a:r>
              <a:rPr lang="en-US" sz="1500" b="1" dirty="0">
                <a:solidFill>
                  <a:schemeClr val="tx2"/>
                </a:solidFill>
              </a:rPr>
              <a:t>Starting-point error</a:t>
            </a:r>
            <a:endParaRPr lang="en-US" sz="1500" dirty="0"/>
          </a:p>
        </p:txBody>
      </p:sp>
      <p:sp>
        <p:nvSpPr>
          <p:cNvPr id="13" name="Text 9"/>
          <p:cNvSpPr txBox="1"/>
          <p:nvPr/>
        </p:nvSpPr>
        <p:spPr>
          <a:xfrm>
            <a:off x="3429000" y="2148840"/>
            <a:ext cx="2286000" cy="502920"/>
          </a:xfrm>
          <a:prstGeom prst="rect">
            <a:avLst/>
          </a:prstGeom>
          <a:noFill/>
          <a:ln/>
        </p:spPr>
        <p:txBody>
          <a:bodyPr wrap="square" lIns="0" tIns="0" rIns="0" bIns="0" rtlCol="0" anchor="t"/>
          <a:lstStyle/>
          <a:p>
            <a:pPr indent="0" marL="0">
              <a:buNone/>
            </a:pPr>
            <a:r>
              <a:rPr lang="en-US" sz="1200" dirty="0">
                <a:solidFill>
                  <a:schemeClr val="tx1"/>
                </a:solidFill>
              </a:rPr>
              <a:t>Distance from the known answer at half a day</a:t>
            </a:r>
            <a:endParaRPr lang="en-US" sz="1200" dirty="0"/>
          </a:p>
        </p:txBody>
      </p:sp>
      <p:sp>
        <p:nvSpPr>
          <p:cNvPr id="14" name="loss part 2"/>
          <p:cNvSpPr/>
          <p:nvPr/>
        </p:nvSpPr>
        <p:spPr>
          <a:xfrm>
            <a:off x="6035040" y="1463040"/>
            <a:ext cx="2606040" cy="1234440"/>
          </a:xfrm>
          <a:prstGeom prst="roundRect">
            <a:avLst>
              <a:gd name="adj" fmla="val 5926"/>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5" name="loss 2 circle"/>
          <p:cNvSpPr/>
          <p:nvPr/>
        </p:nvSpPr>
        <p:spPr>
          <a:xfrm>
            <a:off x="6217920" y="1600200"/>
            <a:ext cx="457200" cy="457200"/>
          </a:xfrm>
          <a:prstGeom prst="ellipse">
            <a:avLst/>
          </a:prstGeom>
          <a:solidFill>
            <a:srgbClr val="2563EB"/>
          </a:solidFill>
          <a:ln w="12700">
            <a:solidFill>
              <a:srgbClr val="2563EB"/>
            </a:solidFill>
            <a:prstDash val="solid"/>
          </a:ln>
        </p:spPr>
      </p:sp>
      <p:pic>
        <p:nvPicPr>
          <p:cNvPr id="16" name="loss 2 icon" descr="preencoded.png">    </p:cNvPr>
          <p:cNvPicPr>
            <a:picLocks noChangeAspect="1"/>
          </p:cNvPicPr>
          <p:nvPr/>
        </p:nvPicPr>
        <p:blipFill>
          <a:blip r:embed="rId3"/>
          <a:stretch>
            <a:fillRect/>
          </a:stretch>
        </p:blipFill>
        <p:spPr>
          <a:xfrm>
            <a:off x="6332220" y="1714500"/>
            <a:ext cx="228600" cy="228600"/>
          </a:xfrm>
          <a:prstGeom prst="rect">
            <a:avLst/>
          </a:prstGeom>
        </p:spPr>
      </p:pic>
      <p:sp>
        <p:nvSpPr>
          <p:cNvPr id="17" name="Text 12"/>
          <p:cNvSpPr txBox="1"/>
          <p:nvPr/>
        </p:nvSpPr>
        <p:spPr>
          <a:xfrm>
            <a:off x="6812280" y="1645920"/>
            <a:ext cx="1737360" cy="320040"/>
          </a:xfrm>
          <a:prstGeom prst="rect">
            <a:avLst/>
          </a:prstGeom>
          <a:noFill/>
          <a:ln/>
        </p:spPr>
        <p:txBody>
          <a:bodyPr wrap="square" lIns="0" tIns="0" rIns="0" bIns="0" rtlCol="0" anchor="t"/>
          <a:lstStyle/>
          <a:p>
            <a:pPr indent="0" marL="0">
              <a:buNone/>
            </a:pPr>
            <a:r>
              <a:rPr lang="en-US" sz="1500" b="1" dirty="0">
                <a:solidFill>
                  <a:schemeClr val="tx2"/>
                </a:solidFill>
              </a:rPr>
              <a:t>Total probability</a:t>
            </a:r>
            <a:endParaRPr lang="en-US" sz="1500" dirty="0"/>
          </a:p>
        </p:txBody>
      </p:sp>
      <p:sp>
        <p:nvSpPr>
          <p:cNvPr id="18" name="Text 13"/>
          <p:cNvSpPr txBox="1"/>
          <p:nvPr/>
        </p:nvSpPr>
        <p:spPr>
          <a:xfrm>
            <a:off x="6217920" y="2148840"/>
            <a:ext cx="2286000" cy="502920"/>
          </a:xfrm>
          <a:prstGeom prst="rect">
            <a:avLst/>
          </a:prstGeom>
          <a:noFill/>
          <a:ln/>
        </p:spPr>
        <p:txBody>
          <a:bodyPr wrap="square" lIns="0" tIns="0" rIns="0" bIns="0" rtlCol="0" anchor="t"/>
          <a:lstStyle/>
          <a:p>
            <a:pPr indent="0" marL="0">
              <a:buNone/>
            </a:pPr>
            <a:r>
              <a:rPr lang="en-US" sz="1200" dirty="0">
                <a:solidFill>
                  <a:schemeClr val="tx1"/>
                </a:solidFill>
              </a:rPr>
              <a:t>All probabilities must add up to 100%</a:t>
            </a:r>
            <a:endParaRPr lang="en-US" sz="1200" dirty="0"/>
          </a:p>
        </p:txBody>
      </p:sp>
      <p:sp>
        <p:nvSpPr>
          <p:cNvPr id="19" name="Text 14"/>
          <p:cNvSpPr txBox="1"/>
          <p:nvPr/>
        </p:nvSpPr>
        <p:spPr>
          <a:xfrm>
            <a:off x="457200" y="2926080"/>
            <a:ext cx="8229600" cy="320040"/>
          </a:xfrm>
          <a:prstGeom prst="rect">
            <a:avLst/>
          </a:prstGeom>
          <a:noFill/>
          <a:ln/>
        </p:spPr>
        <p:txBody>
          <a:bodyPr wrap="square" lIns="0" tIns="0" rIns="0" bIns="0" rtlCol="0" anchor="t"/>
          <a:lstStyle/>
          <a:p>
            <a:pPr indent="0" marL="0">
              <a:buNone/>
            </a:pPr>
            <a:r>
              <a:rPr lang="en-US" sz="1700" b="1" dirty="0">
                <a:solidFill>
                  <a:schemeClr val="tx2"/>
                </a:solidFill>
              </a:rPr>
              <a:t>Design choices that made it work</a:t>
            </a:r>
            <a:endParaRPr lang="en-US" sz="1700" dirty="0"/>
          </a:p>
        </p:txBody>
      </p:sp>
      <p:sp>
        <p:nvSpPr>
          <p:cNvPr id="20" name="Text 15"/>
          <p:cNvSpPr txBox="1"/>
          <p:nvPr/>
        </p:nvSpPr>
        <p:spPr>
          <a:xfrm>
            <a:off x="457200" y="329184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300" b="1" dirty="0">
                <a:solidFill>
                  <a:schemeClr val="tx1"/>
                </a:solidFill>
              </a:rPr>
              <a:t>Predict the log of probability: </a:t>
            </a:r>
            <a:pPr indent="0" marL="0">
              <a:spcAft>
                <a:spcPts val="400"/>
              </a:spcAft>
              <a:buNone/>
            </a:pPr>
            <a:r>
              <a:rPr lang="en-US" sz="1300" dirty="0">
                <a:solidFill>
                  <a:schemeClr val="tx1"/>
                </a:solidFill>
              </a:rPr>
              <a:t>tiny tail numbers (0.0001) become normal ones (−9), like the Richter scale</a:t>
            </a:r>
            <a:endParaRPr lang="en-US" sz="1300" dirty="0"/>
          </a:p>
          <a:p>
            <a:pPr marL="342900" indent="-342900">
              <a:spcAft>
                <a:spcPts val="400"/>
              </a:spcAft>
              <a:buSzPct val="100000"/>
              <a:buChar char="•"/>
            </a:pPr>
            <a:r>
              <a:rPr lang="en-US" sz="1300" b="1" dirty="0">
                <a:solidFill>
                  <a:schemeClr val="tx1"/>
                </a:solidFill>
              </a:rPr>
              <a:t>Count errors in relative terms: </a:t>
            </a:r>
            <a:pPr indent="0" marL="0">
              <a:spcAft>
                <a:spcPts val="400"/>
              </a:spcAft>
              <a:buNone/>
            </a:pPr>
            <a:r>
              <a:rPr lang="en-US" sz="1300" dirty="0">
                <a:solidFill>
                  <a:schemeClr val="tx1"/>
                </a:solidFill>
              </a:rPr>
              <a:t>a 10% miss on a crash day counts as much as on a normal day</a:t>
            </a:r>
            <a:endParaRPr lang="en-US" sz="1300" dirty="0"/>
          </a:p>
          <a:p>
            <a:pPr marL="342900" indent="-342900">
              <a:spcAft>
                <a:spcPts val="400"/>
              </a:spcAft>
              <a:buSzPct val="100000"/>
              <a:buChar char="•"/>
            </a:pPr>
            <a:r>
              <a:rPr lang="en-US" sz="1300" b="1" dirty="0">
                <a:solidFill>
                  <a:schemeClr val="tx1"/>
                </a:solidFill>
              </a:rPr>
              <a:t>Average crash sizes precisely (48 points) and pick training points where crashes land: </a:t>
            </a:r>
            <a:pPr indent="0" marL="0">
              <a:spcAft>
                <a:spcPts val="400"/>
              </a:spcAft>
              <a:buNone/>
            </a:pPr>
            <a:r>
              <a:rPr lang="en-US" sz="1300" dirty="0">
                <a:solidFill>
                  <a:schemeClr val="tx1"/>
                </a:solidFill>
              </a:rPr>
              <a:t>no grid needed</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Seven stages, each checked before the next</a:t>
            </a:r>
            <a:endParaRPr lang="en-US" sz="2800" dirty="0"/>
          </a:p>
        </p:txBody>
      </p:sp>
      <p:sp>
        <p:nvSpPr>
          <p:cNvPr id="3" name="stage dot 0"/>
          <p:cNvSpPr/>
          <p:nvPr/>
        </p:nvSpPr>
        <p:spPr>
          <a:xfrm>
            <a:off x="731520" y="1325880"/>
            <a:ext cx="548640" cy="548640"/>
          </a:xfrm>
          <a:prstGeom prst="ellipse">
            <a:avLst/>
          </a:prstGeom>
          <a:solidFill>
            <a:srgbClr val="6B7280"/>
          </a:solidFill>
          <a:ln w="12700">
            <a:solidFill>
              <a:srgbClr val="6B7280"/>
            </a:solidFill>
            <a:prstDash val="solid"/>
          </a:ln>
        </p:spPr>
      </p:sp>
      <p:sp>
        <p:nvSpPr>
          <p:cNvPr id="4" name="Text 2"/>
          <p:cNvSpPr txBox="1"/>
          <p:nvPr/>
        </p:nvSpPr>
        <p:spPr>
          <a:xfrm>
            <a:off x="731520"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age arrow 0"/>
          <p:cNvSpPr/>
          <p:nvPr/>
        </p:nvSpPr>
        <p:spPr>
          <a:xfrm>
            <a:off x="1325880" y="1600200"/>
            <a:ext cx="603504" cy="0"/>
          </a:xfrm>
          <a:prstGeom prst="line">
            <a:avLst/>
          </a:prstGeom>
          <a:noFill/>
          <a:ln w="25400">
            <a:solidFill>
              <a:srgbClr val="CBD5E1"/>
            </a:solidFill>
            <a:prstDash val="solid"/>
            <a:tailEnd type="triangle"/>
          </a:ln>
        </p:spPr>
      </p:sp>
      <p:sp>
        <p:nvSpPr>
          <p:cNvPr id="6" name="Text 4"/>
          <p:cNvSpPr txBox="1"/>
          <p:nvPr/>
        </p:nvSpPr>
        <p:spPr>
          <a:xfrm>
            <a:off x="457200"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Literature</a:t>
            </a:r>
            <a:endParaRPr lang="en-US" sz="1300" dirty="0"/>
          </a:p>
        </p:txBody>
      </p:sp>
      <p:sp>
        <p:nvSpPr>
          <p:cNvPr id="7" name="Text 5"/>
          <p:cNvSpPr txBox="1"/>
          <p:nvPr/>
        </p:nvSpPr>
        <p:spPr>
          <a:xfrm>
            <a:off x="457200"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Found the gap</a:t>
            </a:r>
            <a:endParaRPr lang="en-US" sz="1100" dirty="0"/>
          </a:p>
        </p:txBody>
      </p:sp>
      <p:sp>
        <p:nvSpPr>
          <p:cNvPr id="8" name="stage dot 1"/>
          <p:cNvSpPr/>
          <p:nvPr/>
        </p:nvSpPr>
        <p:spPr>
          <a:xfrm>
            <a:off x="1929384" y="1325880"/>
            <a:ext cx="548640" cy="548640"/>
          </a:xfrm>
          <a:prstGeom prst="ellipse">
            <a:avLst/>
          </a:prstGeom>
          <a:solidFill>
            <a:srgbClr val="7C3AED"/>
          </a:solidFill>
          <a:ln w="12700">
            <a:solidFill>
              <a:srgbClr val="7C3AED"/>
            </a:solidFill>
            <a:prstDash val="solid"/>
          </a:ln>
        </p:spPr>
      </p:sp>
      <p:sp>
        <p:nvSpPr>
          <p:cNvPr id="9" name="Text 7"/>
          <p:cNvSpPr txBox="1"/>
          <p:nvPr/>
        </p:nvSpPr>
        <p:spPr>
          <a:xfrm>
            <a:off x="1929384"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age arrow 1"/>
          <p:cNvSpPr/>
          <p:nvPr/>
        </p:nvSpPr>
        <p:spPr>
          <a:xfrm>
            <a:off x="2523744" y="1600200"/>
            <a:ext cx="603504" cy="0"/>
          </a:xfrm>
          <a:prstGeom prst="line">
            <a:avLst/>
          </a:prstGeom>
          <a:noFill/>
          <a:ln w="25400">
            <a:solidFill>
              <a:srgbClr val="CBD5E1"/>
            </a:solidFill>
            <a:prstDash val="solid"/>
            <a:tailEnd type="triangle"/>
          </a:ln>
        </p:spPr>
      </p:sp>
      <p:sp>
        <p:nvSpPr>
          <p:cNvPr id="11" name="Text 9"/>
          <p:cNvSpPr txBox="1"/>
          <p:nvPr/>
        </p:nvSpPr>
        <p:spPr>
          <a:xfrm>
            <a:off x="1655064"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1 asset</a:t>
            </a:r>
            <a:endParaRPr lang="en-US" sz="1300" dirty="0"/>
          </a:p>
        </p:txBody>
      </p:sp>
      <p:sp>
        <p:nvSpPr>
          <p:cNvPr id="12" name="Text 10"/>
          <p:cNvSpPr txBox="1"/>
          <p:nvPr/>
        </p:nvSpPr>
        <p:spPr>
          <a:xfrm>
            <a:off x="1655064"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Build and test the design</a:t>
            </a:r>
            <a:endParaRPr lang="en-US" sz="1100" dirty="0"/>
          </a:p>
        </p:txBody>
      </p:sp>
      <p:sp>
        <p:nvSpPr>
          <p:cNvPr id="13" name="stage dot 2"/>
          <p:cNvSpPr/>
          <p:nvPr/>
        </p:nvSpPr>
        <p:spPr>
          <a:xfrm>
            <a:off x="3127248" y="1325880"/>
            <a:ext cx="548640" cy="548640"/>
          </a:xfrm>
          <a:prstGeom prst="ellipse">
            <a:avLst/>
          </a:prstGeom>
          <a:solidFill>
            <a:srgbClr val="7C3AED"/>
          </a:solidFill>
          <a:ln w="12700">
            <a:solidFill>
              <a:srgbClr val="7C3AED"/>
            </a:solidFill>
            <a:prstDash val="solid"/>
          </a:ln>
        </p:spPr>
      </p:sp>
      <p:sp>
        <p:nvSpPr>
          <p:cNvPr id="14" name="Text 12"/>
          <p:cNvSpPr txBox="1"/>
          <p:nvPr/>
        </p:nvSpPr>
        <p:spPr>
          <a:xfrm>
            <a:off x="3127248"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age arrow 2"/>
          <p:cNvSpPr/>
          <p:nvPr/>
        </p:nvSpPr>
        <p:spPr>
          <a:xfrm>
            <a:off x="3721608" y="1600200"/>
            <a:ext cx="603504" cy="0"/>
          </a:xfrm>
          <a:prstGeom prst="line">
            <a:avLst/>
          </a:prstGeom>
          <a:noFill/>
          <a:ln w="25400">
            <a:solidFill>
              <a:srgbClr val="CBD5E1"/>
            </a:solidFill>
            <a:prstDash val="solid"/>
            <a:tailEnd type="triangle"/>
          </a:ln>
        </p:spPr>
      </p:sp>
      <p:sp>
        <p:nvSpPr>
          <p:cNvPr id="16" name="Text 14"/>
          <p:cNvSpPr txBox="1"/>
          <p:nvPr/>
        </p:nvSpPr>
        <p:spPr>
          <a:xfrm>
            <a:off x="2852928"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2-asset answer key</a:t>
            </a:r>
            <a:endParaRPr lang="en-US" sz="1300" dirty="0"/>
          </a:p>
        </p:txBody>
      </p:sp>
      <p:sp>
        <p:nvSpPr>
          <p:cNvPr id="17" name="Text 15"/>
          <p:cNvSpPr txBox="1"/>
          <p:nvPr/>
        </p:nvSpPr>
        <p:spPr>
          <a:xfrm>
            <a:off x="2852928"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Grid solver</a:t>
            </a:r>
            <a:endParaRPr lang="en-US" sz="1100" dirty="0"/>
          </a:p>
        </p:txBody>
      </p:sp>
      <p:sp>
        <p:nvSpPr>
          <p:cNvPr id="18" name="stage dot 3"/>
          <p:cNvSpPr/>
          <p:nvPr/>
        </p:nvSpPr>
        <p:spPr>
          <a:xfrm>
            <a:off x="4325112" y="1325880"/>
            <a:ext cx="548640" cy="548640"/>
          </a:xfrm>
          <a:prstGeom prst="ellipse">
            <a:avLst/>
          </a:prstGeom>
          <a:solidFill>
            <a:srgbClr val="2563EB"/>
          </a:solidFill>
          <a:ln w="12700">
            <a:solidFill>
              <a:srgbClr val="2563EB"/>
            </a:solidFill>
            <a:prstDash val="solid"/>
          </a:ln>
        </p:spPr>
      </p:sp>
      <p:sp>
        <p:nvSpPr>
          <p:cNvPr id="19" name="Text 17"/>
          <p:cNvSpPr txBox="1"/>
          <p:nvPr/>
        </p:nvSpPr>
        <p:spPr>
          <a:xfrm>
            <a:off x="4325112"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age arrow 3"/>
          <p:cNvSpPr/>
          <p:nvPr/>
        </p:nvSpPr>
        <p:spPr>
          <a:xfrm>
            <a:off x="4919472" y="1600200"/>
            <a:ext cx="603504" cy="0"/>
          </a:xfrm>
          <a:prstGeom prst="line">
            <a:avLst/>
          </a:prstGeom>
          <a:noFill/>
          <a:ln w="25400">
            <a:solidFill>
              <a:srgbClr val="CBD5E1"/>
            </a:solidFill>
            <a:prstDash val="solid"/>
            <a:tailEnd type="triangle"/>
          </a:ln>
        </p:spPr>
      </p:sp>
      <p:sp>
        <p:nvSpPr>
          <p:cNvPr id="21" name="Text 19"/>
          <p:cNvSpPr txBox="1"/>
          <p:nvPr/>
        </p:nvSpPr>
        <p:spPr>
          <a:xfrm>
            <a:off x="4050792"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1 → 10 assets</a:t>
            </a:r>
            <a:endParaRPr lang="en-US" sz="1300" dirty="0"/>
          </a:p>
        </p:txBody>
      </p:sp>
      <p:sp>
        <p:nvSpPr>
          <p:cNvPr id="22" name="Text 20"/>
          <p:cNvSpPr txBox="1"/>
          <p:nvPr/>
        </p:nvSpPr>
        <p:spPr>
          <a:xfrm>
            <a:off x="4050792"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Scaling (RQ1, RQ4)</a:t>
            </a:r>
            <a:endParaRPr lang="en-US" sz="1100" dirty="0"/>
          </a:p>
        </p:txBody>
      </p:sp>
      <p:sp>
        <p:nvSpPr>
          <p:cNvPr id="23" name="stage dot 4"/>
          <p:cNvSpPr/>
          <p:nvPr/>
        </p:nvSpPr>
        <p:spPr>
          <a:xfrm>
            <a:off x="5522976" y="1325880"/>
            <a:ext cx="548640" cy="548640"/>
          </a:xfrm>
          <a:prstGeom prst="ellipse">
            <a:avLst/>
          </a:prstGeom>
          <a:solidFill>
            <a:srgbClr val="2563EB"/>
          </a:solidFill>
          <a:ln w="12700">
            <a:solidFill>
              <a:srgbClr val="2563EB"/>
            </a:solidFill>
            <a:prstDash val="solid"/>
          </a:ln>
        </p:spPr>
      </p:sp>
      <p:sp>
        <p:nvSpPr>
          <p:cNvPr id="24" name="Text 22"/>
          <p:cNvSpPr txBox="1"/>
          <p:nvPr/>
        </p:nvSpPr>
        <p:spPr>
          <a:xfrm>
            <a:off x="5522976"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5" name="stage arrow 4"/>
          <p:cNvSpPr/>
          <p:nvPr/>
        </p:nvSpPr>
        <p:spPr>
          <a:xfrm>
            <a:off x="6117336" y="1600200"/>
            <a:ext cx="603504" cy="0"/>
          </a:xfrm>
          <a:prstGeom prst="line">
            <a:avLst/>
          </a:prstGeom>
          <a:noFill/>
          <a:ln w="25400">
            <a:solidFill>
              <a:srgbClr val="CBD5E1"/>
            </a:solidFill>
            <a:prstDash val="solid"/>
            <a:tailEnd type="triangle"/>
          </a:ln>
        </p:spPr>
      </p:sp>
      <p:sp>
        <p:nvSpPr>
          <p:cNvPr id="26" name="Text 24"/>
          <p:cNvSpPr txBox="1"/>
          <p:nvPr/>
        </p:nvSpPr>
        <p:spPr>
          <a:xfrm>
            <a:off x="5248656"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One model, many markets</a:t>
            </a:r>
            <a:endParaRPr lang="en-US" sz="1300" dirty="0"/>
          </a:p>
        </p:txBody>
      </p:sp>
      <p:sp>
        <p:nvSpPr>
          <p:cNvPr id="27" name="Text 25"/>
          <p:cNvSpPr txBox="1"/>
          <p:nvPr/>
        </p:nvSpPr>
        <p:spPr>
          <a:xfrm>
            <a:off x="5248656"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Speed (RQ5)</a:t>
            </a:r>
            <a:endParaRPr lang="en-US" sz="1100" dirty="0"/>
          </a:p>
        </p:txBody>
      </p:sp>
      <p:sp>
        <p:nvSpPr>
          <p:cNvPr id="28" name="stage dot 5"/>
          <p:cNvSpPr/>
          <p:nvPr/>
        </p:nvSpPr>
        <p:spPr>
          <a:xfrm>
            <a:off x="6720840" y="1325880"/>
            <a:ext cx="548640" cy="548640"/>
          </a:xfrm>
          <a:prstGeom prst="ellipse">
            <a:avLst/>
          </a:prstGeom>
          <a:solidFill>
            <a:srgbClr val="2A9D8F"/>
          </a:solidFill>
          <a:ln w="12700">
            <a:solidFill>
              <a:srgbClr val="2A9D8F"/>
            </a:solidFill>
            <a:prstDash val="solid"/>
          </a:ln>
        </p:spPr>
      </p:sp>
      <p:sp>
        <p:nvSpPr>
          <p:cNvPr id="29" name="Text 27"/>
          <p:cNvSpPr txBox="1"/>
          <p:nvPr/>
        </p:nvSpPr>
        <p:spPr>
          <a:xfrm>
            <a:off x="6720840"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0" name="stage arrow 5"/>
          <p:cNvSpPr/>
          <p:nvPr/>
        </p:nvSpPr>
        <p:spPr>
          <a:xfrm>
            <a:off x="7315200" y="1600200"/>
            <a:ext cx="603504" cy="0"/>
          </a:xfrm>
          <a:prstGeom prst="line">
            <a:avLst/>
          </a:prstGeom>
          <a:noFill/>
          <a:ln w="25400">
            <a:solidFill>
              <a:srgbClr val="CBD5E1"/>
            </a:solidFill>
            <a:prstDash val="solid"/>
            <a:tailEnd type="triangle"/>
          </a:ln>
        </p:spPr>
      </p:sp>
      <p:sp>
        <p:nvSpPr>
          <p:cNvPr id="31" name="Text 29"/>
          <p:cNvSpPr txBox="1"/>
          <p:nvPr/>
        </p:nvSpPr>
        <p:spPr>
          <a:xfrm>
            <a:off x="6446520"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Real data</a:t>
            </a:r>
            <a:endParaRPr lang="en-US" sz="1300" dirty="0"/>
          </a:p>
        </p:txBody>
      </p:sp>
      <p:sp>
        <p:nvSpPr>
          <p:cNvPr id="32" name="Text 30"/>
          <p:cNvSpPr txBox="1"/>
          <p:nvPr/>
        </p:nvSpPr>
        <p:spPr>
          <a:xfrm>
            <a:off x="6446520"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Backtests (RQ2)</a:t>
            </a:r>
            <a:endParaRPr lang="en-US" sz="1100" dirty="0"/>
          </a:p>
        </p:txBody>
      </p:sp>
      <p:sp>
        <p:nvSpPr>
          <p:cNvPr id="33" name="stage dot 6"/>
          <p:cNvSpPr/>
          <p:nvPr/>
        </p:nvSpPr>
        <p:spPr>
          <a:xfrm>
            <a:off x="7918704" y="1325880"/>
            <a:ext cx="548640" cy="548640"/>
          </a:xfrm>
          <a:prstGeom prst="ellipse">
            <a:avLst/>
          </a:prstGeom>
          <a:solidFill>
            <a:srgbClr val="2A9D8F"/>
          </a:solidFill>
          <a:ln w="12700">
            <a:solidFill>
              <a:srgbClr val="2A9D8F"/>
            </a:solidFill>
            <a:prstDash val="solid"/>
          </a:ln>
        </p:spPr>
      </p:sp>
      <p:sp>
        <p:nvSpPr>
          <p:cNvPr id="34" name="Text 32"/>
          <p:cNvSpPr txBox="1"/>
          <p:nvPr/>
        </p:nvSpPr>
        <p:spPr>
          <a:xfrm>
            <a:off x="7918704" y="1325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5" name="Text 33"/>
          <p:cNvSpPr txBox="1"/>
          <p:nvPr/>
        </p:nvSpPr>
        <p:spPr>
          <a:xfrm>
            <a:off x="7644384" y="2057400"/>
            <a:ext cx="1097280" cy="594360"/>
          </a:xfrm>
          <a:prstGeom prst="rect">
            <a:avLst/>
          </a:prstGeom>
          <a:noFill/>
          <a:ln/>
        </p:spPr>
        <p:txBody>
          <a:bodyPr wrap="square" lIns="0" tIns="0" rIns="0" bIns="0" rtlCol="0" anchor="t"/>
          <a:lstStyle/>
          <a:p>
            <a:pPr algn="ctr" indent="0" marL="0">
              <a:buNone/>
            </a:pPr>
            <a:r>
              <a:rPr lang="en-US" sz="1300" b="1" dirty="0">
                <a:solidFill>
                  <a:schemeClr val="tx2"/>
                </a:solidFill>
              </a:rPr>
              <a:t>Physics vs data</a:t>
            </a:r>
            <a:endParaRPr lang="en-US" sz="1300" dirty="0"/>
          </a:p>
        </p:txBody>
      </p:sp>
      <p:sp>
        <p:nvSpPr>
          <p:cNvPr id="36" name="Text 34"/>
          <p:cNvSpPr txBox="1"/>
          <p:nvPr/>
        </p:nvSpPr>
        <p:spPr>
          <a:xfrm>
            <a:off x="7644384" y="2651760"/>
            <a:ext cx="1097280" cy="548640"/>
          </a:xfrm>
          <a:prstGeom prst="rect">
            <a:avLst/>
          </a:prstGeom>
          <a:noFill/>
          <a:ln/>
        </p:spPr>
        <p:txBody>
          <a:bodyPr wrap="square" lIns="0" tIns="0" rIns="0" bIns="0" rtlCol="0" anchor="t"/>
          <a:lstStyle/>
          <a:p>
            <a:pPr algn="ctr" indent="0" marL="0">
              <a:buNone/>
            </a:pPr>
            <a:r>
              <a:rPr lang="en-US" sz="1100" dirty="0">
                <a:solidFill>
                  <a:schemeClr val="tx1"/>
                </a:solidFill>
              </a:rPr>
              <a:t>Stress tests (RQ3)</a:t>
            </a:r>
            <a:endParaRPr lang="en-US" sz="1100" dirty="0"/>
          </a:p>
        </p:txBody>
      </p:sp>
      <p:sp>
        <p:nvSpPr>
          <p:cNvPr id="37" name="tools card"/>
          <p:cNvSpPr/>
          <p:nvPr/>
        </p:nvSpPr>
        <p:spPr>
          <a:xfrm>
            <a:off x="457200" y="3474720"/>
            <a:ext cx="8229600" cy="822960"/>
          </a:xfrm>
          <a:prstGeom prst="roundRect">
            <a:avLst>
              <a:gd name="adj" fmla="val 888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38" name="Text 36"/>
          <p:cNvSpPr txBox="1"/>
          <p:nvPr/>
        </p:nvSpPr>
        <p:spPr>
          <a:xfrm>
            <a:off x="685800" y="3566160"/>
            <a:ext cx="7772400" cy="640080"/>
          </a:xfrm>
          <a:prstGeom prst="rect">
            <a:avLst/>
          </a:prstGeom>
          <a:noFill/>
          <a:ln/>
        </p:spPr>
        <p:txBody>
          <a:bodyPr wrap="square" lIns="0" tIns="0" rIns="0" bIns="0" rtlCol="0" anchor="ctr"/>
          <a:lstStyle/>
          <a:p>
            <a:pPr indent="0" marL="0">
              <a:buNone/>
            </a:pPr>
            <a:r>
              <a:rPr lang="en-US" sz="1300" b="1" dirty="0">
                <a:solidFill>
                  <a:schemeClr val="tx1"/>
                </a:solidFill>
              </a:rPr>
              <a:t>Built as a tested Python library with one script per stage. </a:t>
            </a:r>
            <a:pPr indent="0" marL="0">
              <a:buNone/>
            </a:pPr>
            <a:r>
              <a:rPr lang="en-US" sz="1300" dirty="0">
                <a:solidFill>
                  <a:schemeClr val="tx1"/>
                </a:solidFill>
              </a:rPr>
              <a:t>Every model trained on a single free cloud GPU (NVIDIA T4) in 10–25 minutes, using under 0.5 GB of memory. All figures and numbers are reproducible from the code.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1 asset: within 1%, and one choice is critical</a:t>
            </a:r>
            <a:endParaRPr lang="en-US" sz="2800" dirty="0"/>
          </a:p>
        </p:txBody>
      </p:sp>
      <p:graphicFrame>
        <p:nvGraphicFramePr>
          <p:cNvPr id="3" name="Chart 0" descr=""/>
          <p:cNvGraphicFramePr/>
          <p:nvPr/>
        </p:nvGraphicFramePr>
        <p:xfrm>
          <a:off x="36576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1097280"/>
            <a:ext cx="2926080" cy="548640"/>
          </a:xfrm>
          <a:prstGeom prst="rect">
            <a:avLst/>
          </a:prstGeom>
          <a:noFill/>
          <a:ln/>
        </p:spPr>
        <p:txBody>
          <a:bodyPr wrap="square" lIns="0" tIns="0" rIns="0" bIns="0" rtlCol="0" anchor="t"/>
          <a:lstStyle/>
          <a:p>
            <a:pPr indent="0" marL="0">
              <a:buNone/>
            </a:pPr>
            <a:r>
              <a:rPr lang="en-US" sz="3000" b="1" dirty="0">
                <a:solidFill>
                  <a:srgbClr val="2563EB"/>
                </a:solidFill>
                <a:latin typeface="Cambria" pitchFamily="34" charset="0"/>
                <a:ea typeface="Cambria" pitchFamily="34" charset="-122"/>
                <a:cs typeface="Cambria" pitchFamily="34" charset="-120"/>
              </a:rPr>
              <a:t>0.3%</a:t>
            </a:r>
            <a:endParaRPr lang="en-US" sz="3000" dirty="0"/>
          </a:p>
        </p:txBody>
      </p:sp>
      <p:sp>
        <p:nvSpPr>
          <p:cNvPr id="5" name="Text 2"/>
          <p:cNvSpPr txBox="1"/>
          <p:nvPr/>
        </p:nvSpPr>
        <p:spPr>
          <a:xfrm>
            <a:off x="5760720" y="1645920"/>
            <a:ext cx="2926080" cy="457200"/>
          </a:xfrm>
          <a:prstGeom prst="rect">
            <a:avLst/>
          </a:prstGeom>
          <a:noFill/>
          <a:ln/>
        </p:spPr>
        <p:txBody>
          <a:bodyPr wrap="square" lIns="0" tIns="0" rIns="0" bIns="0" rtlCol="0" anchor="t"/>
          <a:lstStyle/>
          <a:p>
            <a:pPr indent="0" marL="0">
              <a:buNone/>
            </a:pPr>
            <a:r>
              <a:rPr lang="en-US" sz="1300" dirty="0">
                <a:solidFill>
                  <a:schemeClr val="tx1"/>
                </a:solidFill>
              </a:rPr>
              <a:t>1-day ES error with the full design</a:t>
            </a:r>
            <a:endParaRPr lang="en-US" sz="1300" dirty="0"/>
          </a:p>
        </p:txBody>
      </p:sp>
      <p:sp>
        <p:nvSpPr>
          <p:cNvPr id="6" name="Text 3"/>
          <p:cNvSpPr txBox="1"/>
          <p:nvPr/>
        </p:nvSpPr>
        <p:spPr>
          <a:xfrm>
            <a:off x="5760720" y="2240280"/>
            <a:ext cx="2926080" cy="548640"/>
          </a:xfrm>
          <a:prstGeom prst="rect">
            <a:avLst/>
          </a:prstGeom>
          <a:noFill/>
          <a:ln/>
        </p:spPr>
        <p:txBody>
          <a:bodyPr wrap="square" lIns="0" tIns="0" rIns="0" bIns="0" rtlCol="0" anchor="t"/>
          <a:lstStyle/>
          <a:p>
            <a:pPr indent="0" marL="0">
              <a:buNone/>
            </a:pPr>
            <a:r>
              <a:rPr lang="en-US" sz="3000" b="1" dirty="0">
                <a:solidFill>
                  <a:srgbClr val="D62839"/>
                </a:solidFill>
                <a:latin typeface="Cambria" pitchFamily="34" charset="0"/>
                <a:ea typeface="Cambria" pitchFamily="34" charset="-122"/>
                <a:cs typeface="Cambria" pitchFamily="34" charset="-120"/>
              </a:rPr>
              <a:t>57–152%</a:t>
            </a:r>
            <a:endParaRPr lang="en-US" sz="3000" dirty="0"/>
          </a:p>
        </p:txBody>
      </p:sp>
      <p:sp>
        <p:nvSpPr>
          <p:cNvPr id="7" name="Text 4"/>
          <p:cNvSpPr txBox="1"/>
          <p:nvPr/>
        </p:nvSpPr>
        <p:spPr>
          <a:xfrm>
            <a:off x="5760720" y="2788920"/>
            <a:ext cx="2926080" cy="457200"/>
          </a:xfrm>
          <a:prstGeom prst="rect">
            <a:avLst/>
          </a:prstGeom>
          <a:noFill/>
          <a:ln/>
        </p:spPr>
        <p:txBody>
          <a:bodyPr wrap="square" lIns="0" tIns="0" rIns="0" bIns="0" rtlCol="0" anchor="t"/>
          <a:lstStyle/>
          <a:p>
            <a:pPr indent="0" marL="0">
              <a:buNone/>
            </a:pPr>
            <a:r>
              <a:rPr lang="en-US" sz="1300" dirty="0">
                <a:solidFill>
                  <a:schemeClr val="tx1"/>
                </a:solidFill>
              </a:rPr>
              <a:t>10-day error without relative errors</a:t>
            </a:r>
            <a:endParaRPr lang="en-US" sz="1300" dirty="0"/>
          </a:p>
        </p:txBody>
      </p:sp>
      <p:sp>
        <p:nvSpPr>
          <p:cNvPr id="8" name="Text 5"/>
          <p:cNvSpPr txBox="1"/>
          <p:nvPr/>
        </p:nvSpPr>
        <p:spPr>
          <a:xfrm>
            <a:off x="5760720" y="3383280"/>
            <a:ext cx="2926080" cy="548640"/>
          </a:xfrm>
          <a:prstGeom prst="rect">
            <a:avLst/>
          </a:prstGeom>
          <a:noFill/>
          <a:ln/>
        </p:spPr>
        <p:txBody>
          <a:bodyPr wrap="square" lIns="0" tIns="0" rIns="0" bIns="0" rtlCol="0" anchor="t"/>
          <a:lstStyle/>
          <a:p>
            <a:pPr indent="0" marL="0">
              <a:buNone/>
            </a:pPr>
            <a:r>
              <a:rPr lang="en-US" sz="3000" b="1" dirty="0">
                <a:solidFill>
                  <a:srgbClr val="6B7280"/>
                </a:solidFill>
                <a:latin typeface="Cambria" pitchFamily="34" charset="0"/>
                <a:ea typeface="Cambria" pitchFamily="34" charset="-122"/>
                <a:cs typeface="Cambria" pitchFamily="34" charset="-120"/>
              </a:rPr>
              <a:t>No gain</a:t>
            </a:r>
            <a:endParaRPr lang="en-US" sz="3000" dirty="0"/>
          </a:p>
        </p:txBody>
      </p:sp>
      <p:sp>
        <p:nvSpPr>
          <p:cNvPr id="9" name="Text 6"/>
          <p:cNvSpPr txBox="1"/>
          <p:nvPr/>
        </p:nvSpPr>
        <p:spPr>
          <a:xfrm>
            <a:off x="5760720" y="3931920"/>
            <a:ext cx="2926080" cy="457200"/>
          </a:xfrm>
          <a:prstGeom prst="rect">
            <a:avLst/>
          </a:prstGeom>
          <a:noFill/>
          <a:ln/>
        </p:spPr>
        <p:txBody>
          <a:bodyPr wrap="square" lIns="0" tIns="0" rIns="0" bIns="0" rtlCol="0" anchor="t"/>
          <a:lstStyle/>
          <a:p>
            <a:pPr indent="0" marL="0">
              <a:buNone/>
            </a:pPr>
            <a:r>
              <a:rPr lang="en-US" sz="1300" dirty="0">
                <a:solidFill>
                  <a:schemeClr val="tx1"/>
                </a:solidFill>
              </a:rPr>
              <a:t>from focusing training on the tail</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More assets: works up to 5, breaks at 10</a:t>
            </a:r>
            <a:endParaRPr lang="en-US" sz="2800" dirty="0"/>
          </a:p>
        </p:txBody>
      </p:sp>
      <p:graphicFrame>
        <p:nvGraphicFramePr>
          <p:cNvPr id="3" name="Chart 0" descr=""/>
          <p:cNvGraphicFramePr/>
          <p:nvPr/>
        </p:nvGraphicFramePr>
        <p:xfrm>
          <a:off x="365760" y="10058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4" name="good card"/>
          <p:cNvSpPr/>
          <p:nvPr/>
        </p:nvSpPr>
        <p:spPr>
          <a:xfrm>
            <a:off x="5943600" y="1097280"/>
            <a:ext cx="2743200" cy="1463040"/>
          </a:xfrm>
          <a:prstGeom prst="roundRect">
            <a:avLst>
              <a:gd name="adj" fmla="val 5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126480" y="1234440"/>
            <a:ext cx="2377440" cy="274320"/>
          </a:xfrm>
          <a:prstGeom prst="rect">
            <a:avLst/>
          </a:prstGeom>
          <a:noFill/>
          <a:ln/>
        </p:spPr>
        <p:txBody>
          <a:bodyPr wrap="square" lIns="0" tIns="0" rIns="0" bIns="0" rtlCol="0" anchor="t"/>
          <a:lstStyle/>
          <a:p>
            <a:pPr indent="0" marL="0">
              <a:buNone/>
            </a:pPr>
            <a:r>
              <a:rPr lang="en-US" sz="1500" b="1" dirty="0">
                <a:solidFill>
                  <a:schemeClr val="accent3"/>
                </a:solidFill>
              </a:rPr>
              <a:t>Up to 5 assets</a:t>
            </a:r>
            <a:endParaRPr lang="en-US" sz="1500" dirty="0"/>
          </a:p>
        </p:txBody>
      </p:sp>
      <p:sp>
        <p:nvSpPr>
          <p:cNvPr id="6" name="Text 3"/>
          <p:cNvSpPr txBox="1"/>
          <p:nvPr/>
        </p:nvSpPr>
        <p:spPr>
          <a:xfrm>
            <a:off x="6126480" y="1554480"/>
            <a:ext cx="2377440" cy="960120"/>
          </a:xfrm>
          <a:prstGeom prst="rect">
            <a:avLst/>
          </a:prstGeom>
          <a:noFill/>
          <a:ln/>
        </p:spPr>
        <p:txBody>
          <a:bodyPr wrap="square" lIns="0" tIns="0" rIns="0" bIns="0" rtlCol="0" anchor="t"/>
          <a:lstStyle/>
          <a:p>
            <a:pPr indent="0" marL="0">
              <a:buNone/>
            </a:pPr>
            <a:r>
              <a:rPr lang="en-US" sz="1200" dirty="0">
                <a:solidFill>
                  <a:schemeClr val="tx1"/>
                </a:solidFill>
              </a:rPr>
              <a:t>About 1% error, close to Monte Carlo. Training stays at 9–13 min; grid solvers cannot run here.</a:t>
            </a:r>
            <a:endParaRPr lang="en-US" sz="1200" dirty="0"/>
          </a:p>
        </p:txBody>
      </p:sp>
      <p:sp>
        <p:nvSpPr>
          <p:cNvPr id="7" name="bad card"/>
          <p:cNvSpPr/>
          <p:nvPr/>
        </p:nvSpPr>
        <p:spPr>
          <a:xfrm>
            <a:off x="5943600" y="2743200"/>
            <a:ext cx="2743200" cy="1645920"/>
          </a:xfrm>
          <a:prstGeom prst="roundRect">
            <a:avLst>
              <a:gd name="adj" fmla="val 4444"/>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126480" y="2880360"/>
            <a:ext cx="2377440" cy="274320"/>
          </a:xfrm>
          <a:prstGeom prst="rect">
            <a:avLst/>
          </a:prstGeom>
          <a:noFill/>
          <a:ln/>
        </p:spPr>
        <p:txBody>
          <a:bodyPr wrap="square" lIns="0" tIns="0" rIns="0" bIns="0" rtlCol="0" anchor="t"/>
          <a:lstStyle/>
          <a:p>
            <a:pPr indent="0" marL="0">
              <a:buNone/>
            </a:pPr>
            <a:r>
              <a:rPr lang="en-US" sz="1500" b="1" dirty="0">
                <a:solidFill>
                  <a:schemeClr val="accent2"/>
                </a:solidFill>
              </a:rPr>
              <a:t>At 10 assets</a:t>
            </a:r>
            <a:endParaRPr lang="en-US" sz="1500" dirty="0"/>
          </a:p>
        </p:txBody>
      </p:sp>
      <p:sp>
        <p:nvSpPr>
          <p:cNvPr id="9" name="Text 6"/>
          <p:cNvSpPr txBox="1"/>
          <p:nvPr/>
        </p:nvSpPr>
        <p:spPr>
          <a:xfrm>
            <a:off x="6126480" y="3200400"/>
            <a:ext cx="2377440" cy="1097280"/>
          </a:xfrm>
          <a:prstGeom prst="rect">
            <a:avLst/>
          </a:prstGeom>
          <a:noFill/>
          <a:ln/>
        </p:spPr>
        <p:txBody>
          <a:bodyPr wrap="square" lIns="0" tIns="0" rIns="0" bIns="0" rtlCol="0" anchor="t"/>
          <a:lstStyle/>
          <a:p>
            <a:pPr indent="0" marL="0">
              <a:buNone/>
            </a:pPr>
            <a:r>
              <a:rPr lang="en-US" sz="1200" dirty="0">
                <a:solidFill>
                  <a:schemeClr val="tx1"/>
                </a:solidFill>
              </a:rPr>
              <a:t>62% error at 10 days. The same network and training budget were not enough; reported as the method's limit.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One model, many markets: accurate, not faster</a:t>
            </a:r>
            <a:endParaRPr lang="en-US" sz="2800" dirty="0"/>
          </a:p>
        </p:txBody>
      </p:sp>
      <p:sp>
        <p:nvSpPr>
          <p:cNvPr id="3" name="Text 1"/>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400" dirty="0">
                <a:solidFill>
                  <a:schemeClr val="tx1"/>
                </a:solidFill>
              </a:rPr>
              <a:t>One network takes the market condition (volatility, crash frequency, crash size) as input: trained once in about 20 minutes, then answers any condition without retraining.</a:t>
            </a:r>
            <a:endParaRPr lang="en-US" sz="1400" dirty="0"/>
          </a:p>
        </p:txBody>
      </p:sp>
      <p:sp>
        <p:nvSpPr>
          <p:cNvPr id="4" name="stat 0"/>
          <p:cNvSpPr/>
          <p:nvPr/>
        </p:nvSpPr>
        <p:spPr>
          <a:xfrm>
            <a:off x="457200" y="1783080"/>
            <a:ext cx="2606040" cy="1691640"/>
          </a:xfrm>
          <a:prstGeom prst="roundRect">
            <a:avLst>
              <a:gd name="adj" fmla="val 4324"/>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920240"/>
            <a:ext cx="2194560" cy="594360"/>
          </a:xfrm>
          <a:prstGeom prst="rect">
            <a:avLst/>
          </a:prstGeom>
          <a:noFill/>
          <a:ln/>
        </p:spPr>
        <p:txBody>
          <a:bodyPr wrap="square" lIns="0" tIns="0" rIns="0" bIns="0" rtlCol="0" anchor="t"/>
          <a:lstStyle/>
          <a:p>
            <a:pPr indent="0" marL="0">
              <a:buNone/>
            </a:pPr>
            <a:r>
              <a:rPr lang="en-US" sz="3200" b="1" dirty="0">
                <a:solidFill>
                  <a:srgbClr val="2563EB"/>
                </a:solidFill>
                <a:latin typeface="Cambria" pitchFamily="34" charset="0"/>
                <a:ea typeface="Cambria" pitchFamily="34" charset="-122"/>
                <a:cs typeface="Cambria" pitchFamily="34" charset="-120"/>
              </a:rPr>
              <a:t>1.3%</a:t>
            </a:r>
            <a:endParaRPr lang="en-US" sz="3200" dirty="0"/>
          </a:p>
        </p:txBody>
      </p:sp>
      <p:sp>
        <p:nvSpPr>
          <p:cNvPr id="6" name="Text 4"/>
          <p:cNvSpPr txBox="1"/>
          <p:nvPr/>
        </p:nvSpPr>
        <p:spPr>
          <a:xfrm>
            <a:off x="685800" y="2560320"/>
            <a:ext cx="2194560" cy="411480"/>
          </a:xfrm>
          <a:prstGeom prst="rect">
            <a:avLst/>
          </a:prstGeom>
          <a:noFill/>
          <a:ln/>
        </p:spPr>
        <p:txBody>
          <a:bodyPr wrap="square" lIns="0" tIns="0" rIns="0" bIns="0" rtlCol="0" anchor="t"/>
          <a:lstStyle/>
          <a:p>
            <a:pPr indent="0" marL="0">
              <a:buNone/>
            </a:pPr>
            <a:r>
              <a:rPr lang="en-US" sz="1300" b="1" dirty="0">
                <a:solidFill>
                  <a:schemeClr val="tx2"/>
                </a:solidFill>
              </a:rPr>
              <a:t>PINN 1-day ES error (2 assets)</a:t>
            </a:r>
            <a:endParaRPr lang="en-US" sz="1300" dirty="0"/>
          </a:p>
        </p:txBody>
      </p:sp>
      <p:sp>
        <p:nvSpPr>
          <p:cNvPr id="7" name="Text 5"/>
          <p:cNvSpPr txBox="1"/>
          <p:nvPr/>
        </p:nvSpPr>
        <p:spPr>
          <a:xfrm>
            <a:off x="685800" y="2971800"/>
            <a:ext cx="2194560" cy="365760"/>
          </a:xfrm>
          <a:prstGeom prst="rect">
            <a:avLst/>
          </a:prstGeom>
          <a:noFill/>
          <a:ln/>
        </p:spPr>
        <p:txBody>
          <a:bodyPr wrap="square" lIns="0" tIns="0" rIns="0" bIns="0" rtlCol="0" anchor="t"/>
          <a:lstStyle/>
          <a:p>
            <a:pPr indent="0" marL="0">
              <a:buNone/>
            </a:pPr>
            <a:r>
              <a:rPr lang="en-US" sz="1200" dirty="0">
                <a:solidFill>
                  <a:schemeClr val="tx1"/>
                </a:solidFill>
              </a:rPr>
              <a:t>vs 1.8% for Monte Carlo</a:t>
            </a:r>
            <a:endParaRPr lang="en-US" sz="1200" dirty="0"/>
          </a:p>
        </p:txBody>
      </p:sp>
      <p:sp>
        <p:nvSpPr>
          <p:cNvPr id="8" name="stat 1"/>
          <p:cNvSpPr/>
          <p:nvPr/>
        </p:nvSpPr>
        <p:spPr>
          <a:xfrm>
            <a:off x="3246120" y="1783080"/>
            <a:ext cx="2606040" cy="1691640"/>
          </a:xfrm>
          <a:prstGeom prst="roundRect">
            <a:avLst>
              <a:gd name="adj" fmla="val 4324"/>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474720" y="1920240"/>
            <a:ext cx="2194560" cy="594360"/>
          </a:xfrm>
          <a:prstGeom prst="rect">
            <a:avLst/>
          </a:prstGeom>
          <a:noFill/>
          <a:ln/>
        </p:spPr>
        <p:txBody>
          <a:bodyPr wrap="square" lIns="0" tIns="0" rIns="0" bIns="0" rtlCol="0" anchor="t"/>
          <a:lstStyle/>
          <a:p>
            <a:pPr indent="0" marL="0">
              <a:buNone/>
            </a:pPr>
            <a:r>
              <a:rPr lang="en-US" sz="3200" b="1" dirty="0">
                <a:solidFill>
                  <a:srgbClr val="2A9D8F"/>
                </a:solidFill>
                <a:latin typeface="Cambria" pitchFamily="34" charset="0"/>
                <a:ea typeface="Cambria" pitchFamily="34" charset="-122"/>
                <a:cs typeface="Cambria" pitchFamily="34" charset="-120"/>
              </a:rPr>
              <a:t>±5%</a:t>
            </a:r>
            <a:endParaRPr lang="en-US" sz="3200" dirty="0"/>
          </a:p>
        </p:txBody>
      </p:sp>
      <p:sp>
        <p:nvSpPr>
          <p:cNvPr id="10" name="Text 8"/>
          <p:cNvSpPr txBox="1"/>
          <p:nvPr/>
        </p:nvSpPr>
        <p:spPr>
          <a:xfrm>
            <a:off x="3474720" y="2560320"/>
            <a:ext cx="2194560" cy="411480"/>
          </a:xfrm>
          <a:prstGeom prst="rect">
            <a:avLst/>
          </a:prstGeom>
          <a:noFill/>
          <a:ln/>
        </p:spPr>
        <p:txBody>
          <a:bodyPr wrap="square" lIns="0" tIns="0" rIns="0" bIns="0" rtlCol="0" anchor="t"/>
          <a:lstStyle/>
          <a:p>
            <a:pPr indent="0" marL="0">
              <a:buNone/>
            </a:pPr>
            <a:r>
              <a:rPr lang="en-US" sz="1300" b="1" dirty="0">
                <a:solidFill>
                  <a:schemeClr val="tx2"/>
                </a:solidFill>
              </a:rPr>
              <a:t>error in each asset's share of risk</a:t>
            </a:r>
            <a:endParaRPr lang="en-US" sz="1300" dirty="0"/>
          </a:p>
        </p:txBody>
      </p:sp>
      <p:sp>
        <p:nvSpPr>
          <p:cNvPr id="11" name="Text 9"/>
          <p:cNvSpPr txBox="1"/>
          <p:nvPr/>
        </p:nvSpPr>
        <p:spPr>
          <a:xfrm>
            <a:off x="3474720" y="2971800"/>
            <a:ext cx="2194560" cy="365760"/>
          </a:xfrm>
          <a:prstGeom prst="rect">
            <a:avLst/>
          </a:prstGeom>
          <a:noFill/>
          <a:ln/>
        </p:spPr>
        <p:txBody>
          <a:bodyPr wrap="square" lIns="0" tIns="0" rIns="0" bIns="0" rtlCol="0" anchor="t"/>
          <a:lstStyle/>
          <a:p>
            <a:pPr indent="0" marL="0">
              <a:buNone/>
            </a:pPr>
            <a:r>
              <a:rPr lang="en-US" sz="1200" dirty="0">
                <a:solidFill>
                  <a:schemeClr val="tx1"/>
                </a:solidFill>
              </a:rPr>
              <a:t>almost free from the same model</a:t>
            </a:r>
            <a:endParaRPr lang="en-US" sz="1200" dirty="0"/>
          </a:p>
        </p:txBody>
      </p:sp>
      <p:sp>
        <p:nvSpPr>
          <p:cNvPr id="12" name="stat 2"/>
          <p:cNvSpPr/>
          <p:nvPr/>
        </p:nvSpPr>
        <p:spPr>
          <a:xfrm>
            <a:off x="6035040" y="1783080"/>
            <a:ext cx="2606040" cy="1691640"/>
          </a:xfrm>
          <a:prstGeom prst="roundRect">
            <a:avLst>
              <a:gd name="adj" fmla="val 4324"/>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263640" y="1920240"/>
            <a:ext cx="2194560" cy="594360"/>
          </a:xfrm>
          <a:prstGeom prst="rect">
            <a:avLst/>
          </a:prstGeom>
          <a:noFill/>
          <a:ln/>
        </p:spPr>
        <p:txBody>
          <a:bodyPr wrap="square" lIns="0" tIns="0" rIns="0" bIns="0" rtlCol="0" anchor="t"/>
          <a:lstStyle/>
          <a:p>
            <a:pPr indent="0" marL="0">
              <a:buNone/>
            </a:pPr>
            <a:r>
              <a:rPr lang="en-US" sz="3200" b="1" dirty="0">
                <a:solidFill>
                  <a:srgbClr val="D62839"/>
                </a:solidFill>
                <a:latin typeface="Cambria" pitchFamily="34" charset="0"/>
                <a:ea typeface="Cambria" pitchFamily="34" charset="-122"/>
                <a:cs typeface="Cambria" pitchFamily="34" charset="-120"/>
              </a:rPr>
              <a:t>4–18 ms</a:t>
            </a:r>
            <a:endParaRPr lang="en-US" sz="3200" dirty="0"/>
          </a:p>
        </p:txBody>
      </p:sp>
      <p:sp>
        <p:nvSpPr>
          <p:cNvPr id="14" name="Text 12"/>
          <p:cNvSpPr txBox="1"/>
          <p:nvPr/>
        </p:nvSpPr>
        <p:spPr>
          <a:xfrm>
            <a:off x="6263640" y="2560320"/>
            <a:ext cx="2194560" cy="411480"/>
          </a:xfrm>
          <a:prstGeom prst="rect">
            <a:avLst/>
          </a:prstGeom>
          <a:noFill/>
          <a:ln/>
        </p:spPr>
        <p:txBody>
          <a:bodyPr wrap="square" lIns="0" tIns="0" rIns="0" bIns="0" rtlCol="0" anchor="t"/>
          <a:lstStyle/>
          <a:p>
            <a:pPr indent="0" marL="0">
              <a:buNone/>
            </a:pPr>
            <a:r>
              <a:rPr lang="en-US" sz="1300" b="1" dirty="0">
                <a:solidFill>
                  <a:schemeClr val="tx2"/>
                </a:solidFill>
              </a:rPr>
              <a:t>PINN time per question</a:t>
            </a:r>
            <a:endParaRPr lang="en-US" sz="1300" dirty="0"/>
          </a:p>
        </p:txBody>
      </p:sp>
      <p:sp>
        <p:nvSpPr>
          <p:cNvPr id="15" name="Text 13"/>
          <p:cNvSpPr txBox="1"/>
          <p:nvPr/>
        </p:nvSpPr>
        <p:spPr>
          <a:xfrm>
            <a:off x="6263640" y="2971800"/>
            <a:ext cx="2194560" cy="365760"/>
          </a:xfrm>
          <a:prstGeom prst="rect">
            <a:avLst/>
          </a:prstGeom>
          <a:noFill/>
          <a:ln/>
        </p:spPr>
        <p:txBody>
          <a:bodyPr wrap="square" lIns="0" tIns="0" rIns="0" bIns="0" rtlCol="0" anchor="t"/>
          <a:lstStyle/>
          <a:p>
            <a:pPr indent="0" marL="0">
              <a:buNone/>
            </a:pPr>
            <a:r>
              <a:rPr lang="en-US" sz="1200" dirty="0">
                <a:solidFill>
                  <a:schemeClr val="tx1"/>
                </a:solidFill>
              </a:rPr>
              <a:t>vs 0.9–1.6 ms for Monte Carlo</a:t>
            </a:r>
            <a:endParaRPr lang="en-US" sz="1200" dirty="0"/>
          </a:p>
        </p:txBody>
      </p:sp>
      <p:sp>
        <p:nvSpPr>
          <p:cNvPr id="16" name="why card"/>
          <p:cNvSpPr/>
          <p:nvPr/>
        </p:nvSpPr>
        <p:spPr>
          <a:xfrm>
            <a:off x="457200" y="3703320"/>
            <a:ext cx="8229600" cy="777240"/>
          </a:xfrm>
          <a:prstGeom prst="roundRect">
            <a:avLst>
              <a:gd name="adj" fmla="val 9412"/>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85800" y="3767328"/>
            <a:ext cx="7772400" cy="640080"/>
          </a:xfrm>
          <a:prstGeom prst="rect">
            <a:avLst/>
          </a:prstGeom>
          <a:noFill/>
          <a:ln/>
        </p:spPr>
        <p:txBody>
          <a:bodyPr wrap="square" lIns="0" tIns="0" rIns="0" bIns="0" rtlCol="0" anchor="ctr"/>
          <a:lstStyle/>
          <a:p>
            <a:pPr indent="0" marL="0">
              <a:buNone/>
            </a:pPr>
            <a:r>
              <a:rPr lang="en-US" sz="1400" dirty="0">
                <a:solidFill>
                  <a:schemeClr val="bg1"/>
                </a:solidFill>
              </a:rPr>
              <a:t>Why not faster: our market model is cheap to simulate. A speed win needs models that are slow to simulate.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Real data: as good as its model, not the best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5394960" cy="914400"/>
        </p:xfrm>
        <a:graphic>
          <a:graphicData uri="http://schemas.openxmlformats.org/drawingml/2006/table">
            <a:tbl>
              <a:tblPr/>
              <a:tblGrid>
                <a:gridCol w="1737360"/>
                <a:gridCol w="914400"/>
                <a:gridCol w="914400"/>
                <a:gridCol w="914400"/>
                <a:gridCol w="914400"/>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99% level, 2018–2026</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NIFTY breaches</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NIFTY score</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S&amp;P breaches</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S&amp;P score</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14213D"/>
                    </a:solidFill>
                  </a:tcPr>
                </a:tc>
              </a:tr>
              <a:tr h="310896">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DCC-GARCH</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−3.29</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Filtered HS</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−3.24</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GARCH-EVT</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−3.35</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algn="l" indent="0" marL="0">
                        <a:buNone/>
                      </a:pPr>
                      <a:r>
                        <a:rPr lang="en-US" sz="1200" b="1" dirty="0">
                          <a:solidFill>
                            <a:srgbClr val="2563EB"/>
                          </a:solidFill>
                          <a:latin typeface="Calibri" pitchFamily="34" charset="0"/>
                          <a:ea typeface="Calibri" pitchFamily="34" charset="-122"/>
                          <a:cs typeface="Calibri" pitchFamily="34" charset="-120"/>
                        </a:rPr>
                        <a:t>PINN (ours)</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BE7FD"/>
                    </a:solidFill>
                  </a:tcPr>
                </a:tc>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BE7FD"/>
                    </a:solidFill>
                  </a:tcPr>
                </a:tc>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−3.16</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BE7FD"/>
                    </a:solidFill>
                  </a:tcPr>
                </a:tc>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BE7FD"/>
                    </a:solidFill>
                  </a:tcPr>
                </a:tc>
                <a:tc>
                  <a:txBody>
                    <a:bodyPr/>
                    <a:lstStyle/>
                    <a:p>
                      <a:pPr algn="ctr" indent="0" marL="0">
                        <a:buNone/>
                      </a:pPr>
                      <a:r>
                        <a:rPr lang="en-US" sz="1200" b="1" dirty="0">
                          <a:solidFill>
                            <a:srgbClr val="2563EB"/>
                          </a:solidFill>
                          <a:latin typeface="Calibri" pitchFamily="34" charset="0"/>
                          <a:ea typeface="Calibri" pitchFamily="34" charset="-122"/>
                          <a:cs typeface="Calibri" pitchFamily="34" charset="-120"/>
                        </a:rPr>
                        <a:t>−3.05</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DBE7FD"/>
                    </a:solidFill>
                  </a:tcPr>
                </a:tc>
              </a:tr>
              <a:tr h="310896">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Historical simulation</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−3.02</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−2.73</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1F2937"/>
                          </a:solidFill>
                          <a:latin typeface="Calibri" pitchFamily="34" charset="0"/>
                          <a:ea typeface="Calibri" pitchFamily="34" charset="-122"/>
                          <a:cs typeface="Calibri" pitchFamily="34" charset="-120"/>
                        </a:rPr>
                        <a:t>Gaussian (bell curve)</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marL="91440" marR="91440" marT="45720" marB="45720">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383280"/>
            <a:ext cx="5394960" cy="502920"/>
          </a:xfrm>
          <a:prstGeom prst="rect">
            <a:avLst/>
          </a:prstGeom>
          <a:noFill/>
          <a:ln/>
        </p:spPr>
        <p:txBody>
          <a:bodyPr wrap="square" lIns="0" tIns="0" rIns="0" bIns="0" rtlCol="0" anchor="t"/>
          <a:lstStyle/>
          <a:p>
            <a:pPr indent="0" marL="0">
              <a:buNone/>
            </a:pPr>
            <a:r>
              <a:rPr lang="en-US" sz="1100" i="1" dirty="0">
                <a:solidFill>
                  <a:schemeClr val="accent5"/>
                </a:solidFill>
              </a:rPr>
              <a:t>Breach = actual loss beyond the forecast (expected ≈ 22). Score (FZ0) rates VaR and ES together; lower is better. Best: DCC on NIFTY, GARCH-EVT on S&amp;P.</a:t>
            </a:r>
            <a:endParaRPr lang="en-US" sz="1100" dirty="0"/>
          </a:p>
        </p:txBody>
      </p:sp>
      <p:sp>
        <p:nvSpPr>
          <p:cNvPr id="5" name="Text 2"/>
          <p:cNvSpPr txBox="1"/>
          <p:nvPr/>
        </p:nvSpPr>
        <p:spPr>
          <a:xfrm>
            <a:off x="6126480" y="1051560"/>
            <a:ext cx="2560320" cy="2926080"/>
          </a:xfrm>
          <a:prstGeom prst="rect">
            <a:avLst/>
          </a:prstGeom>
          <a:noFill/>
          <a:ln/>
        </p:spPr>
        <p:txBody>
          <a:bodyPr wrap="square" lIns="0" tIns="0" rIns="0" bIns="0" rtlCol="0" anchor="t"/>
          <a:lstStyle/>
          <a:p>
            <a:pPr indent="0" marL="0">
              <a:spcAft>
                <a:spcPts val="200"/>
              </a:spcAft>
              <a:buNone/>
            </a:pPr>
            <a:r>
              <a:rPr lang="en-US" sz="1300" b="1" dirty="0">
                <a:solidFill>
                  <a:srgbClr val="2A9D8F"/>
                </a:solidFill>
              </a:rPr>
              <a:t>Matches its model to 0.2–2.8%</a:t>
            </a:r>
            <a:endParaRPr lang="en-US" sz="1300" dirty="0"/>
          </a:p>
          <a:p>
            <a:pPr indent="0" marL="0">
              <a:spcAft>
                <a:spcPts val="200"/>
              </a:spcAft>
              <a:buNone/>
            </a:pPr>
            <a:r>
              <a:rPr lang="en-US" sz="1300" dirty="0">
                <a:solidFill>
                  <a:schemeClr val="tx1"/>
                </a:solidFill>
              </a:rPr>
              <a:t>Beats bell curve and history; passes the 99% test</a:t>
            </a:r>
            <a:endParaRPr lang="en-US" sz="1300" dirty="0"/>
          </a:p>
          <a:p>
            <a:pPr indent="0" marL="0">
              <a:spcAft>
                <a:spcPts val="200"/>
              </a:spcAft>
              <a:buNone/>
            </a:pPr>
            <a:r>
              <a:rPr lang="en-US" sz="600" dirty="0">
                <a:solidFill>
                  <a:schemeClr val="tx1"/>
                </a:solidFill>
              </a:rPr>
              <a:t> </a:t>
            </a:r>
            <a:endParaRPr lang="en-US" sz="1300" dirty="0"/>
          </a:p>
          <a:p>
            <a:pPr indent="0" marL="0">
              <a:spcAft>
                <a:spcPts val="200"/>
              </a:spcAft>
              <a:buNone/>
            </a:pPr>
            <a:r>
              <a:rPr lang="en-US" sz="1300" b="1" dirty="0">
                <a:solidFill>
                  <a:srgbClr val="D62839"/>
                </a:solidFill>
              </a:rPr>
              <a:t>Loses to volatility models</a:t>
            </a:r>
            <a:endParaRPr lang="en-US" sz="1300" dirty="0"/>
          </a:p>
          <a:p>
            <a:pPr indent="0" marL="0">
              <a:spcAft>
                <a:spcPts val="200"/>
              </a:spcAft>
              <a:buNone/>
            </a:pPr>
            <a:r>
              <a:rPr lang="en-US" sz="1300" dirty="0">
                <a:solidFill>
                  <a:schemeClr val="tx1"/>
                </a:solidFill>
              </a:rPr>
              <a:t>Its market model is simpler than real markets. The limit is the model, not the AI.</a:t>
            </a:r>
            <a:endParaRPr lang="en-US" sz="1300" dirty="0"/>
          </a:p>
        </p:txBody>
      </p:sp>
      <p:sp>
        <p:nvSpPr>
          <p:cNvPr id="6" name="Text 3"/>
          <p:cNvSpPr txBox="1"/>
          <p:nvPr/>
        </p:nvSpPr>
        <p:spPr>
          <a:xfrm>
            <a:off x="457200" y="3977640"/>
            <a:ext cx="8229600" cy="502920"/>
          </a:xfrm>
          <a:prstGeom prst="rect">
            <a:avLst/>
          </a:prstGeom>
          <a:noFill/>
          <a:ln/>
        </p:spPr>
        <p:txBody>
          <a:bodyPr wrap="square" lIns="0" tIns="0" rIns="0" bIns="0" rtlCol="0" anchor="t"/>
          <a:lstStyle/>
          <a:p>
            <a:pPr indent="0" marL="0">
              <a:buNone/>
            </a:pPr>
            <a:r>
              <a:rPr lang="en-US" sz="1200" dirty="0">
                <a:solidFill>
                  <a:schemeClr val="tx1"/>
                </a:solidFill>
              </a:rPr>
              <a:t>Fixed a real failure: one far-off scenario (S&amp;P, 16 June 2022) broke a day's estimate; a trust region now ignores such points.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The physics is worth ~1 million data points</a:t>
            </a:r>
            <a:endParaRPr lang="en-US" sz="2800" dirty="0"/>
          </a:p>
        </p:txBody>
      </p:sp>
      <p:graphicFrame>
        <p:nvGraphicFramePr>
          <p:cNvPr id="3" name="Chart 0" descr=""/>
          <p:cNvGraphicFramePr/>
          <p:nvPr/>
        </p:nvGraphicFramePr>
        <p:xfrm>
          <a:off x="365760" y="10058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943600" y="1097280"/>
            <a:ext cx="2743200"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1.3%</a:t>
            </a:r>
            <a:endParaRPr lang="en-US" sz="3200" dirty="0"/>
          </a:p>
        </p:txBody>
      </p:sp>
      <p:sp>
        <p:nvSpPr>
          <p:cNvPr id="5" name="Text 2"/>
          <p:cNvSpPr txBox="1"/>
          <p:nvPr/>
        </p:nvSpPr>
        <p:spPr>
          <a:xfrm>
            <a:off x="5943600" y="1691640"/>
            <a:ext cx="2743200" cy="365760"/>
          </a:xfrm>
          <a:prstGeom prst="rect">
            <a:avLst/>
          </a:prstGeom>
          <a:noFill/>
          <a:ln/>
        </p:spPr>
        <p:txBody>
          <a:bodyPr wrap="square" lIns="0" tIns="0" rIns="0" bIns="0" rtlCol="0" anchor="t"/>
          <a:lstStyle/>
          <a:p>
            <a:pPr indent="0" marL="0">
              <a:buNone/>
            </a:pPr>
            <a:r>
              <a:rPr lang="en-US" sz="1300" dirty="0">
                <a:solidFill>
                  <a:schemeClr val="tx1"/>
                </a:solidFill>
              </a:rPr>
              <a:t>PINN error with zero training examples</a:t>
            </a:r>
            <a:endParaRPr lang="en-US" sz="1300" dirty="0"/>
          </a:p>
        </p:txBody>
      </p:sp>
      <p:sp>
        <p:nvSpPr>
          <p:cNvPr id="6" name="Text 3"/>
          <p:cNvSpPr txBox="1"/>
          <p:nvPr/>
        </p:nvSpPr>
        <p:spPr>
          <a:xfrm>
            <a:off x="5943600" y="2286000"/>
            <a:ext cx="2743200"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5–60%</a:t>
            </a:r>
            <a:endParaRPr lang="en-US" sz="3200" dirty="0"/>
          </a:p>
        </p:txBody>
      </p:sp>
      <p:sp>
        <p:nvSpPr>
          <p:cNvPr id="7" name="Text 4"/>
          <p:cNvSpPr txBox="1"/>
          <p:nvPr/>
        </p:nvSpPr>
        <p:spPr>
          <a:xfrm>
            <a:off x="5943600" y="2880360"/>
            <a:ext cx="2743200" cy="548640"/>
          </a:xfrm>
          <a:prstGeom prst="rect">
            <a:avLst/>
          </a:prstGeom>
          <a:noFill/>
          <a:ln/>
        </p:spPr>
        <p:txBody>
          <a:bodyPr wrap="square" lIns="0" tIns="0" rIns="0" bIns="0" rtlCol="0" anchor="t"/>
          <a:lstStyle/>
          <a:p>
            <a:pPr indent="0" marL="0">
              <a:buNone/>
            </a:pPr>
            <a:r>
              <a:rPr lang="en-US" sz="1300" dirty="0">
                <a:solidFill>
                  <a:schemeClr val="tx1"/>
                </a:solidFill>
              </a:rPr>
              <a:t>Data-only error at realistic sizes (a few thousand days)</a:t>
            </a:r>
            <a:endParaRPr lang="en-US" sz="1300" dirty="0"/>
          </a:p>
        </p:txBody>
      </p:sp>
      <p:sp>
        <p:nvSpPr>
          <p:cNvPr id="8" name="Text 5"/>
          <p:cNvSpPr txBox="1"/>
          <p:nvPr/>
        </p:nvSpPr>
        <p:spPr>
          <a:xfrm>
            <a:off x="5943600" y="3657600"/>
            <a:ext cx="2743200" cy="822960"/>
          </a:xfrm>
          <a:prstGeom prst="rect">
            <a:avLst/>
          </a:prstGeom>
          <a:noFill/>
          <a:ln/>
        </p:spPr>
        <p:txBody>
          <a:bodyPr wrap="square" lIns="0" tIns="0" rIns="0" bIns="0" rtlCol="0" anchor="t"/>
          <a:lstStyle/>
          <a:p>
            <a:pPr indent="0" marL="0">
              <a:buNone/>
            </a:pPr>
            <a:r>
              <a:rPr lang="en-US" sz="1200" i="1" dirty="0">
                <a:solidFill>
                  <a:schemeClr val="accent5"/>
                </a:solidFill>
              </a:rPr>
              <a:t>Caveat: with a known model one can simulate; the PINN's edge is a ready-made, smooth risk curve.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indent="0" marL="0">
              <a:buNone/>
            </a:pPr>
            <a:r>
              <a:rPr lang="en-US" sz="2800" b="1" dirty="0">
                <a:solidFill>
                  <a:schemeClr val="tx2"/>
                </a:solidFill>
              </a:rPr>
              <a:t>Where the PINN wins, and where it breaks</a:t>
            </a:r>
            <a:endParaRPr lang="en-US" sz="2800" dirty="0"/>
          </a:p>
        </p:txBody>
      </p:sp>
      <p:sp>
        <p:nvSpPr>
          <p:cNvPr id="3" name="wins card"/>
          <p:cNvSpPr/>
          <p:nvPr/>
        </p:nvSpPr>
        <p:spPr>
          <a:xfrm>
            <a:off x="457200" y="1051560"/>
            <a:ext cx="4023360" cy="2651760"/>
          </a:xfrm>
          <a:prstGeom prst="roundRect">
            <a:avLst>
              <a:gd name="adj" fmla="val 275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 name="wins circle"/>
          <p:cNvSpPr/>
          <p:nvPr/>
        </p:nvSpPr>
        <p:spPr>
          <a:xfrm>
            <a:off x="685800" y="1234440"/>
            <a:ext cx="457200" cy="457200"/>
          </a:xfrm>
          <a:prstGeom prst="ellipse">
            <a:avLst/>
          </a:prstGeom>
          <a:solidFill>
            <a:srgbClr val="2A9D8F"/>
          </a:solidFill>
          <a:ln w="12700">
            <a:solidFill>
              <a:srgbClr val="2A9D8F"/>
            </a:solidFill>
            <a:prstDash val="solid"/>
          </a:ln>
        </p:spPr>
      </p:sp>
      <p:pic>
        <p:nvPicPr>
          <p:cNvPr id="5" name="wins icon" descr="preencoded.png">    </p:cNvPr>
          <p:cNvPicPr>
            <a:picLocks noChangeAspect="1"/>
          </p:cNvPicPr>
          <p:nvPr/>
        </p:nvPicPr>
        <p:blipFill>
          <a:blip r:embed="rId1"/>
          <a:stretch>
            <a:fillRect/>
          </a:stretch>
        </p:blipFill>
        <p:spPr>
          <a:xfrm>
            <a:off x="800100" y="1348740"/>
            <a:ext cx="228600" cy="228600"/>
          </a:xfrm>
          <a:prstGeom prst="rect">
            <a:avLst/>
          </a:prstGeom>
        </p:spPr>
      </p:pic>
      <p:sp>
        <p:nvSpPr>
          <p:cNvPr id="6" name="Text 3"/>
          <p:cNvSpPr txBox="1"/>
          <p:nvPr/>
        </p:nvSpPr>
        <p:spPr>
          <a:xfrm>
            <a:off x="1280160" y="1298448"/>
            <a:ext cx="3017520" cy="320040"/>
          </a:xfrm>
          <a:prstGeom prst="rect">
            <a:avLst/>
          </a:prstGeom>
          <a:noFill/>
          <a:ln/>
        </p:spPr>
        <p:txBody>
          <a:bodyPr wrap="square" lIns="0" tIns="0" rIns="0" bIns="0" rtlCol="0" anchor="t"/>
          <a:lstStyle/>
          <a:p>
            <a:pPr indent="0" marL="0">
              <a:buNone/>
            </a:pPr>
            <a:r>
              <a:rPr lang="en-US" sz="1800" b="1" dirty="0">
                <a:solidFill>
                  <a:schemeClr val="accent3"/>
                </a:solidFill>
              </a:rPr>
              <a:t>Better</a:t>
            </a:r>
            <a:endParaRPr lang="en-US" sz="1800" dirty="0"/>
          </a:p>
        </p:txBody>
      </p:sp>
      <p:sp>
        <p:nvSpPr>
          <p:cNvPr id="7" name="Text 4"/>
          <p:cNvSpPr txBox="1"/>
          <p:nvPr/>
        </p:nvSpPr>
        <p:spPr>
          <a:xfrm>
            <a:off x="685800" y="1828800"/>
            <a:ext cx="36576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Grid solvers at 3+ assets (they cannot run)</a:t>
            </a:r>
            <a:endParaRPr lang="en-US" sz="1400" dirty="0"/>
          </a:p>
          <a:p>
            <a:pPr marL="342900" indent="-342900">
              <a:spcAft>
                <a:spcPts val="600"/>
              </a:spcAft>
              <a:buSzPct val="100000"/>
              <a:buChar char="•"/>
            </a:pPr>
            <a:r>
              <a:rPr lang="en-US" sz="1400" dirty="0">
                <a:solidFill>
                  <a:schemeClr val="tx1"/>
                </a:solidFill>
              </a:rPr>
              <a:t>The same AI without physics (by ~1M samples)</a:t>
            </a:r>
            <a:endParaRPr lang="en-US" sz="1400" dirty="0"/>
          </a:p>
          <a:p>
            <a:pPr marL="342900" indent="-342900">
              <a:spcAft>
                <a:spcPts val="600"/>
              </a:spcAft>
              <a:buSzPct val="100000"/>
              <a:buChar char="•"/>
            </a:pPr>
            <a:r>
              <a:rPr lang="en-US" sz="1400" dirty="0">
                <a:solidFill>
                  <a:schemeClr val="tx1"/>
                </a:solidFill>
              </a:rPr>
              <a:t>Bell-curve and historical models on real data</a:t>
            </a:r>
            <a:endParaRPr lang="en-US" sz="1400" dirty="0"/>
          </a:p>
          <a:p>
            <a:pPr marL="342900" indent="-342900">
              <a:spcAft>
                <a:spcPts val="600"/>
              </a:spcAft>
              <a:buSzPct val="100000"/>
              <a:buChar char="•"/>
            </a:pPr>
            <a:r>
              <a:rPr lang="en-US" sz="1400" dirty="0">
                <a:solidFill>
                  <a:schemeClr val="tx1"/>
                </a:solidFill>
              </a:rPr>
              <a:t>Survived a crisis crash rate (50 a year): 0.8% error</a:t>
            </a:r>
            <a:endParaRPr lang="en-US" sz="1400" dirty="0"/>
          </a:p>
        </p:txBody>
      </p:sp>
      <p:sp>
        <p:nvSpPr>
          <p:cNvPr id="8" name="loses card"/>
          <p:cNvSpPr/>
          <p:nvPr/>
        </p:nvSpPr>
        <p:spPr>
          <a:xfrm>
            <a:off x="4663440" y="1051560"/>
            <a:ext cx="4023360" cy="2651760"/>
          </a:xfrm>
          <a:prstGeom prst="roundRect">
            <a:avLst>
              <a:gd name="adj" fmla="val 275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9" name="loses circle"/>
          <p:cNvSpPr/>
          <p:nvPr/>
        </p:nvSpPr>
        <p:spPr>
          <a:xfrm>
            <a:off x="4892040" y="1234440"/>
            <a:ext cx="457200" cy="457200"/>
          </a:xfrm>
          <a:prstGeom prst="ellipse">
            <a:avLst/>
          </a:prstGeom>
          <a:solidFill>
            <a:srgbClr val="D62839"/>
          </a:solidFill>
          <a:ln w="12700">
            <a:solidFill>
              <a:srgbClr val="D62839"/>
            </a:solidFill>
            <a:prstDash val="solid"/>
          </a:ln>
        </p:spPr>
      </p:sp>
      <p:pic>
        <p:nvPicPr>
          <p:cNvPr id="10" name="loses icon" descr="preencoded.png">    </p:cNvPr>
          <p:cNvPicPr>
            <a:picLocks noChangeAspect="1"/>
          </p:cNvPicPr>
          <p:nvPr/>
        </p:nvPicPr>
        <p:blipFill>
          <a:blip r:embed="rId2"/>
          <a:stretch>
            <a:fillRect/>
          </a:stretch>
        </p:blipFill>
        <p:spPr>
          <a:xfrm>
            <a:off x="5006340" y="1348740"/>
            <a:ext cx="228600" cy="228600"/>
          </a:xfrm>
          <a:prstGeom prst="rect">
            <a:avLst/>
          </a:prstGeom>
        </p:spPr>
      </p:pic>
      <p:sp>
        <p:nvSpPr>
          <p:cNvPr id="11" name="Text 7"/>
          <p:cNvSpPr txBox="1"/>
          <p:nvPr/>
        </p:nvSpPr>
        <p:spPr>
          <a:xfrm>
            <a:off x="5486400" y="1298448"/>
            <a:ext cx="3017520" cy="320040"/>
          </a:xfrm>
          <a:prstGeom prst="rect">
            <a:avLst/>
          </a:prstGeom>
          <a:noFill/>
          <a:ln/>
        </p:spPr>
        <p:txBody>
          <a:bodyPr wrap="square" lIns="0" tIns="0" rIns="0" bIns="0" rtlCol="0" anchor="t"/>
          <a:lstStyle/>
          <a:p>
            <a:pPr indent="0" marL="0">
              <a:buNone/>
            </a:pPr>
            <a:r>
              <a:rPr lang="en-US" sz="1800" b="1" dirty="0">
                <a:solidFill>
                  <a:schemeClr val="accent2"/>
                </a:solidFill>
              </a:rPr>
              <a:t>Worse or breaks</a:t>
            </a:r>
            <a:endParaRPr lang="en-US" sz="1800" dirty="0"/>
          </a:p>
        </p:txBody>
      </p:sp>
      <p:sp>
        <p:nvSpPr>
          <p:cNvPr id="12" name="Text 8"/>
          <p:cNvSpPr txBox="1"/>
          <p:nvPr/>
        </p:nvSpPr>
        <p:spPr>
          <a:xfrm>
            <a:off x="4892040" y="1828800"/>
            <a:ext cx="365760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Grid solvers at 1 asset; Monte Carlo on speed</a:t>
            </a:r>
            <a:endParaRPr lang="en-US" sz="1400" dirty="0"/>
          </a:p>
          <a:p>
            <a:pPr marL="342900" indent="-342900">
              <a:spcAft>
                <a:spcPts val="600"/>
              </a:spcAft>
              <a:buSzPct val="100000"/>
              <a:buChar char="•"/>
            </a:pPr>
            <a:r>
              <a:rPr lang="en-US" sz="1400" dirty="0">
                <a:solidFill>
                  <a:schemeClr val="tx1"/>
                </a:solidFill>
              </a:rPr>
              <a:t>GARCH, EVT, DCC, filtered HS on real data</a:t>
            </a:r>
            <a:endParaRPr lang="en-US" sz="1400" dirty="0"/>
          </a:p>
          <a:p>
            <a:pPr marL="342900" indent="-342900">
              <a:spcAft>
                <a:spcPts val="600"/>
              </a:spcAft>
              <a:buSzPct val="100000"/>
              <a:buChar char="•"/>
            </a:pPr>
            <a:r>
              <a:rPr lang="en-US" sz="1400" dirty="0">
                <a:solidFill>
                  <a:schemeClr val="tx1"/>
                </a:solidFill>
              </a:rPr>
              <a:t>10 assets: 62% error</a:t>
            </a:r>
            <a:endParaRPr lang="en-US" sz="1400" dirty="0"/>
          </a:p>
          <a:p>
            <a:pPr marL="342900" indent="-342900">
              <a:spcAft>
                <a:spcPts val="600"/>
              </a:spcAft>
              <a:buSzPct val="100000"/>
              <a:buChar char="•"/>
            </a:pPr>
            <a:r>
              <a:rPr lang="en-US" sz="1400" dirty="0">
                <a:solidFill>
                  <a:schemeClr val="tx1"/>
                </a:solidFill>
              </a:rPr>
              <a:t>Very short start (0.05 day): 5% error at 1 day</a:t>
            </a:r>
            <a:endParaRPr lang="en-US" sz="1400" dirty="0"/>
          </a:p>
          <a:p>
            <a:pPr marL="342900" indent="-342900">
              <a:spcAft>
                <a:spcPts val="600"/>
              </a:spcAft>
              <a:buSzPct val="100000"/>
              <a:buChar char="•"/>
            </a:pPr>
            <a:r>
              <a:rPr lang="en-US" sz="1400" dirty="0">
                <a:solidFill>
                  <a:schemeClr val="tx1"/>
                </a:solidFill>
              </a:rPr>
              <a:t>Far outside its training region: untrustworthy</a:t>
            </a:r>
            <a:endParaRPr lang="en-US" sz="1400" dirty="0"/>
          </a:p>
        </p:txBody>
      </p:sp>
      <p:sp>
        <p:nvSpPr>
          <p:cNvPr id="13" name="Text 9"/>
          <p:cNvSpPr txBox="1"/>
          <p:nvPr/>
        </p:nvSpPr>
        <p:spPr>
          <a:xfrm>
            <a:off x="457200" y="3886200"/>
            <a:ext cx="8229600" cy="502920"/>
          </a:xfrm>
          <a:prstGeom prst="rect">
            <a:avLst/>
          </a:prstGeom>
          <a:noFill/>
          <a:ln/>
        </p:spPr>
        <p:txBody>
          <a:bodyPr wrap="square" lIns="0" tIns="0" rIns="0" bIns="0" rtlCol="0" anchor="t"/>
          <a:lstStyle/>
          <a:p>
            <a:pPr indent="0" marL="0">
              <a:buNone/>
            </a:pPr>
            <a:r>
              <a:rPr lang="en-US" sz="1400" b="1" dirty="0">
                <a:solidFill>
                  <a:schemeClr val="tx2"/>
                </a:solidFill>
              </a:rPr>
              <a:t>Bottom line: excellent where the equation is the right model; limited by the model, by size (10 assets), and by where it was trained.</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Key takeaways</a:t>
            </a:r>
            <a:endParaRPr lang="en-US" sz="3000" dirty="0"/>
          </a:p>
        </p:txBody>
      </p:sp>
      <p:sp>
        <p:nvSpPr>
          <p:cNvPr id="3" name="takeaway 0"/>
          <p:cNvSpPr/>
          <p:nvPr/>
        </p:nvSpPr>
        <p:spPr>
          <a:xfrm>
            <a:off x="548640" y="1051560"/>
            <a:ext cx="3886200" cy="960120"/>
          </a:xfrm>
          <a:prstGeom prst="roundRect">
            <a:avLst>
              <a:gd name="adj" fmla="val 7619"/>
            </a:avLst>
          </a:prstGeom>
          <a:solidFill>
            <a:srgbClr val="22325A"/>
          </a:solidFill>
          <a:ln w="12700">
            <a:solidFill>
              <a:srgbClr val="22325A"/>
            </a:solidFill>
            <a:prstDash val="solid"/>
          </a:ln>
        </p:spPr>
      </p:sp>
      <p:sp>
        <p:nvSpPr>
          <p:cNvPr id="4" name="Text 2"/>
          <p:cNvSpPr txBox="1"/>
          <p:nvPr/>
        </p:nvSpPr>
        <p:spPr>
          <a:xfrm>
            <a:off x="777240" y="1188720"/>
            <a:ext cx="3474720" cy="320040"/>
          </a:xfrm>
          <a:prstGeom prst="rect">
            <a:avLst/>
          </a:prstGeom>
          <a:noFill/>
          <a:ln/>
        </p:spPr>
        <p:txBody>
          <a:bodyPr wrap="square" lIns="0" tIns="0" rIns="0" bIns="0" rtlCol="0" anchor="t"/>
          <a:lstStyle/>
          <a:p>
            <a:pPr indent="0" marL="0">
              <a:buNone/>
            </a:pPr>
            <a:r>
              <a:rPr lang="en-US" sz="1600" b="1" dirty="0">
                <a:solidFill>
                  <a:srgbClr val="FF8A95"/>
                </a:solidFill>
              </a:rPr>
              <a:t>Design beats size</a:t>
            </a:r>
            <a:endParaRPr lang="en-US" sz="1600" dirty="0"/>
          </a:p>
        </p:txBody>
      </p:sp>
      <p:sp>
        <p:nvSpPr>
          <p:cNvPr id="5" name="Text 3"/>
          <p:cNvSpPr txBox="1"/>
          <p:nvPr/>
        </p:nvSpPr>
        <p:spPr>
          <a:xfrm>
            <a:off x="777240" y="1527048"/>
            <a:ext cx="3474720" cy="411480"/>
          </a:xfrm>
          <a:prstGeom prst="rect">
            <a:avLst/>
          </a:prstGeom>
          <a:noFill/>
          <a:ln/>
        </p:spPr>
        <p:txBody>
          <a:bodyPr wrap="square" lIns="0" tIns="0" rIns="0" bIns="0" rtlCol="0" anchor="t"/>
          <a:lstStyle/>
          <a:p>
            <a:pPr indent="0" marL="0">
              <a:buNone/>
            </a:pPr>
            <a:r>
              <a:rPr lang="en-US" sz="1300" dirty="0">
                <a:solidFill>
                  <a:schemeClr val="bg1"/>
                </a:solidFill>
              </a:rPr>
              <a:t>Log probabilities and relative errors matter more than a bigger AI</a:t>
            </a:r>
            <a:endParaRPr lang="en-US" sz="1300" dirty="0"/>
          </a:p>
        </p:txBody>
      </p:sp>
      <p:sp>
        <p:nvSpPr>
          <p:cNvPr id="6" name="takeaway 1"/>
          <p:cNvSpPr/>
          <p:nvPr/>
        </p:nvSpPr>
        <p:spPr>
          <a:xfrm>
            <a:off x="4617720" y="1051560"/>
            <a:ext cx="3886200" cy="960120"/>
          </a:xfrm>
          <a:prstGeom prst="roundRect">
            <a:avLst>
              <a:gd name="adj" fmla="val 7619"/>
            </a:avLst>
          </a:prstGeom>
          <a:solidFill>
            <a:srgbClr val="22325A"/>
          </a:solidFill>
          <a:ln w="12700">
            <a:solidFill>
              <a:srgbClr val="22325A"/>
            </a:solidFill>
            <a:prstDash val="solid"/>
          </a:ln>
        </p:spPr>
      </p:sp>
      <p:sp>
        <p:nvSpPr>
          <p:cNvPr id="7" name="Text 5"/>
          <p:cNvSpPr txBox="1"/>
          <p:nvPr/>
        </p:nvSpPr>
        <p:spPr>
          <a:xfrm>
            <a:off x="4846320" y="1188720"/>
            <a:ext cx="3474720" cy="320040"/>
          </a:xfrm>
          <a:prstGeom prst="rect">
            <a:avLst/>
          </a:prstGeom>
          <a:noFill/>
          <a:ln/>
        </p:spPr>
        <p:txBody>
          <a:bodyPr wrap="square" lIns="0" tIns="0" rIns="0" bIns="0" rtlCol="0" anchor="t"/>
          <a:lstStyle/>
          <a:p>
            <a:pPr indent="0" marL="0">
              <a:buNone/>
            </a:pPr>
            <a:r>
              <a:rPr lang="en-US" sz="1600" b="1" dirty="0">
                <a:solidFill>
                  <a:srgbClr val="FF8A95"/>
                </a:solidFill>
              </a:rPr>
              <a:t>Physics replaces data</a:t>
            </a:r>
            <a:endParaRPr lang="en-US" sz="1600" dirty="0"/>
          </a:p>
        </p:txBody>
      </p:sp>
      <p:sp>
        <p:nvSpPr>
          <p:cNvPr id="8" name="Text 6"/>
          <p:cNvSpPr txBox="1"/>
          <p:nvPr/>
        </p:nvSpPr>
        <p:spPr>
          <a:xfrm>
            <a:off x="4846320" y="1527048"/>
            <a:ext cx="3474720" cy="411480"/>
          </a:xfrm>
          <a:prstGeom prst="rect">
            <a:avLst/>
          </a:prstGeom>
          <a:noFill/>
          <a:ln/>
        </p:spPr>
        <p:txBody>
          <a:bodyPr wrap="square" lIns="0" tIns="0" rIns="0" bIns="0" rtlCol="0" anchor="t"/>
          <a:lstStyle/>
          <a:p>
            <a:pPr indent="0" marL="0">
              <a:buNone/>
            </a:pPr>
            <a:r>
              <a:rPr lang="en-US" sz="1300" dirty="0">
                <a:solidFill>
                  <a:schemeClr val="bg1"/>
                </a:solidFill>
              </a:rPr>
              <a:t>The equation is worth ~1 million examples</a:t>
            </a:r>
            <a:endParaRPr lang="en-US" sz="1300" dirty="0"/>
          </a:p>
        </p:txBody>
      </p:sp>
      <p:sp>
        <p:nvSpPr>
          <p:cNvPr id="9" name="takeaway 2"/>
          <p:cNvSpPr/>
          <p:nvPr/>
        </p:nvSpPr>
        <p:spPr>
          <a:xfrm>
            <a:off x="548640" y="2194560"/>
            <a:ext cx="3886200" cy="960120"/>
          </a:xfrm>
          <a:prstGeom prst="roundRect">
            <a:avLst>
              <a:gd name="adj" fmla="val 7619"/>
            </a:avLst>
          </a:prstGeom>
          <a:solidFill>
            <a:srgbClr val="22325A"/>
          </a:solidFill>
          <a:ln w="12700">
            <a:solidFill>
              <a:srgbClr val="22325A"/>
            </a:solidFill>
            <a:prstDash val="solid"/>
          </a:ln>
        </p:spPr>
      </p:sp>
      <p:sp>
        <p:nvSpPr>
          <p:cNvPr id="10" name="Text 8"/>
          <p:cNvSpPr txBox="1"/>
          <p:nvPr/>
        </p:nvSpPr>
        <p:spPr>
          <a:xfrm>
            <a:off x="777240" y="2331720"/>
            <a:ext cx="3474720" cy="320040"/>
          </a:xfrm>
          <a:prstGeom prst="rect">
            <a:avLst/>
          </a:prstGeom>
          <a:noFill/>
          <a:ln/>
        </p:spPr>
        <p:txBody>
          <a:bodyPr wrap="square" lIns="0" tIns="0" rIns="0" bIns="0" rtlCol="0" anchor="t"/>
          <a:lstStyle/>
          <a:p>
            <a:pPr indent="0" marL="0">
              <a:buNone/>
            </a:pPr>
            <a:r>
              <a:rPr lang="en-US" sz="1600" b="1" dirty="0">
                <a:solidFill>
                  <a:srgbClr val="FF8A95"/>
                </a:solidFill>
              </a:rPr>
              <a:t>Scales to 5 assets</a:t>
            </a:r>
            <a:endParaRPr lang="en-US" sz="1600" dirty="0"/>
          </a:p>
        </p:txBody>
      </p:sp>
      <p:sp>
        <p:nvSpPr>
          <p:cNvPr id="11" name="Text 9"/>
          <p:cNvSpPr txBox="1"/>
          <p:nvPr/>
        </p:nvSpPr>
        <p:spPr>
          <a:xfrm>
            <a:off x="777240" y="2670048"/>
            <a:ext cx="3474720" cy="411480"/>
          </a:xfrm>
          <a:prstGeom prst="rect">
            <a:avLst/>
          </a:prstGeom>
          <a:noFill/>
          <a:ln/>
        </p:spPr>
        <p:txBody>
          <a:bodyPr wrap="square" lIns="0" tIns="0" rIns="0" bIns="0" rtlCol="0" anchor="t"/>
          <a:lstStyle/>
          <a:p>
            <a:pPr indent="0" marL="0">
              <a:buNone/>
            </a:pPr>
            <a:r>
              <a:rPr lang="en-US" sz="1300" dirty="0">
                <a:solidFill>
                  <a:schemeClr val="bg1"/>
                </a:solidFill>
              </a:rPr>
              <a:t>Where grid solvers cannot run; stops at 10</a:t>
            </a:r>
            <a:endParaRPr lang="en-US" sz="1300" dirty="0"/>
          </a:p>
        </p:txBody>
      </p:sp>
      <p:sp>
        <p:nvSpPr>
          <p:cNvPr id="12" name="takeaway 3"/>
          <p:cNvSpPr/>
          <p:nvPr/>
        </p:nvSpPr>
        <p:spPr>
          <a:xfrm>
            <a:off x="4617720" y="2194560"/>
            <a:ext cx="3886200" cy="960120"/>
          </a:xfrm>
          <a:prstGeom prst="roundRect">
            <a:avLst>
              <a:gd name="adj" fmla="val 7619"/>
            </a:avLst>
          </a:prstGeom>
          <a:solidFill>
            <a:srgbClr val="22325A"/>
          </a:solidFill>
          <a:ln w="12700">
            <a:solidFill>
              <a:srgbClr val="22325A"/>
            </a:solidFill>
            <a:prstDash val="solid"/>
          </a:ln>
        </p:spPr>
      </p:sp>
      <p:sp>
        <p:nvSpPr>
          <p:cNvPr id="13" name="Text 11"/>
          <p:cNvSpPr txBox="1"/>
          <p:nvPr/>
        </p:nvSpPr>
        <p:spPr>
          <a:xfrm>
            <a:off x="4846320" y="2331720"/>
            <a:ext cx="3474720" cy="320040"/>
          </a:xfrm>
          <a:prstGeom prst="rect">
            <a:avLst/>
          </a:prstGeom>
          <a:noFill/>
          <a:ln/>
        </p:spPr>
        <p:txBody>
          <a:bodyPr wrap="square" lIns="0" tIns="0" rIns="0" bIns="0" rtlCol="0" anchor="t"/>
          <a:lstStyle/>
          <a:p>
            <a:pPr indent="0" marL="0">
              <a:buNone/>
            </a:pPr>
            <a:r>
              <a:rPr lang="en-US" sz="1600" b="1" dirty="0">
                <a:solidFill>
                  <a:srgbClr val="FF8A95"/>
                </a:solidFill>
              </a:rPr>
              <a:t>Model over AI</a:t>
            </a:r>
            <a:endParaRPr lang="en-US" sz="1600" dirty="0"/>
          </a:p>
        </p:txBody>
      </p:sp>
      <p:sp>
        <p:nvSpPr>
          <p:cNvPr id="14" name="Text 12"/>
          <p:cNvSpPr txBox="1"/>
          <p:nvPr/>
        </p:nvSpPr>
        <p:spPr>
          <a:xfrm>
            <a:off x="4846320" y="2670048"/>
            <a:ext cx="3474720" cy="411480"/>
          </a:xfrm>
          <a:prstGeom prst="rect">
            <a:avLst/>
          </a:prstGeom>
          <a:noFill/>
          <a:ln/>
        </p:spPr>
        <p:txBody>
          <a:bodyPr wrap="square" lIns="0" tIns="0" rIns="0" bIns="0" rtlCol="0" anchor="t"/>
          <a:lstStyle/>
          <a:p>
            <a:pPr indent="0" marL="0">
              <a:buNone/>
            </a:pPr>
            <a:r>
              <a:rPr lang="en-US" sz="1300" dirty="0">
                <a:solidFill>
                  <a:schemeClr val="bg1"/>
                </a:solidFill>
              </a:rPr>
              <a:t>On real data the market model limits accuracy</a:t>
            </a:r>
            <a:endParaRPr lang="en-US" sz="1300" dirty="0"/>
          </a:p>
        </p:txBody>
      </p:sp>
      <p:sp>
        <p:nvSpPr>
          <p:cNvPr id="15" name="Text 13"/>
          <p:cNvSpPr txBox="1"/>
          <p:nvPr/>
        </p:nvSpPr>
        <p:spPr>
          <a:xfrm>
            <a:off x="548640" y="3520440"/>
            <a:ext cx="8046720" cy="685800"/>
          </a:xfrm>
          <a:prstGeom prst="rect">
            <a:avLst/>
          </a:prstGeom>
          <a:noFill/>
          <a:ln/>
        </p:spPr>
        <p:txBody>
          <a:bodyPr wrap="square" lIns="0" tIns="0" rIns="0" bIns="0" rtlCol="0" anchor="t"/>
          <a:lstStyle/>
          <a:p>
            <a:pPr indent="0" marL="0">
              <a:buNone/>
            </a:pPr>
            <a:r>
              <a:rPr lang="en-US" sz="1300" b="1" dirty="0">
                <a:solidFill>
                  <a:srgbClr val="CADCFC"/>
                </a:solidFill>
              </a:rPr>
              <a:t>Next: </a:t>
            </a:r>
            <a:pPr indent="0" marL="0">
              <a:buNone/>
            </a:pPr>
            <a:r>
              <a:rPr lang="en-US" sz="1300" dirty="0">
                <a:solidFill>
                  <a:schemeClr val="bg1"/>
                </a:solidFill>
              </a:rPr>
              <a:t>richer models with changing volatility and self-triggering crashes (slow to simulate, where a PINN can win on speed), larger networks beyond 10 assets, and confidence bars that flag when the AI is unsure.</a:t>
            </a:r>
            <a:endParaRPr lang="en-US" sz="1300" dirty="0"/>
          </a:p>
        </p:txBody>
      </p:sp>
      <p:sp>
        <p:nvSpPr>
          <p:cNvPr id="16" name="Text 14"/>
          <p:cNvSpPr txBox="1"/>
          <p:nvPr/>
        </p:nvSpPr>
        <p:spPr>
          <a:xfrm>
            <a:off x="548640" y="4434840"/>
            <a:ext cx="8046720" cy="320040"/>
          </a:xfrm>
          <a:prstGeom prst="rect">
            <a:avLst/>
          </a:prstGeom>
          <a:noFill/>
          <a:ln/>
        </p:spPr>
        <p:txBody>
          <a:bodyPr wrap="square" lIns="0" tIns="0" rIns="0" bIns="0" rtlCol="0" anchor="t"/>
          <a:lstStyle/>
          <a:p>
            <a:pPr indent="0" marL="0">
              <a:buNone/>
            </a:pPr>
            <a:r>
              <a:rPr lang="en-US" sz="1200" dirty="0">
                <a:solidFill>
                  <a:srgbClr val="CADCFC"/>
                </a:solidFill>
              </a:rPr>
              <a:t>Code, data and results: github.com/aditya-siraskar/PINN_FTRE</a:t>
            </a:r>
            <a:endParaRPr lang="en-US" sz="1200" dirty="0"/>
          </a:p>
        </p:txBody>
      </p:sp>
      <p:sp>
        <p:nvSpPr>
          <p:cNvPr id="18" name="Text 0"/>
          <p:cNvSpPr/>
          <p:nvPr>
            <p:ph idx="100" type="title" hasCustomPrompt="1"/>
          </p:nvPr>
        </p:nvSpPr>
        <p:spPr>
          <a:xfrm>
            <a:off x="548640" y="1371600"/>
            <a:ext cx="8046720" cy="1371600"/>
          </a:xfrm>
          <a:prstGeom prst="rect">
            <a:avLst/>
          </a:prstGeom>
          <a:noFill/>
          <a:ln/>
        </p:spPr>
        <p:txBody>
          <a:bodyPr wrap="square" rtlCol="0" anchor="b"/>
          <a:lstStyle/>
          <a:p>
            <a:pPr algn="l" indent="0" marL="0">
              <a:buNone/>
            </a:pPr>
            <a:endParaRPr lang="en-US" sz="3600" dirty="0"/>
          </a:p>
        </p:txBody>
      </p:sp>
      <p:sp>
        <p:nvSpPr>
          <p:cNvPr id="19" name="Text 0"/>
          <p:cNvSpPr/>
          <p:nvPr>
            <p:ph idx="101" type="body" hasCustomPrompt="1"/>
          </p:nvPr>
        </p:nvSpPr>
        <p:spPr>
          <a:xfrm>
            <a:off x="548640" y="2834640"/>
            <a:ext cx="8046720" cy="1097280"/>
          </a:xfrm>
          <a:prstGeom prst="rect">
            <a:avLst/>
          </a:prstGeom>
          <a:noFill/>
          <a:ln/>
        </p:spPr>
        <p:txBody>
          <a:bodyPr wrap="square" rtlCol="0" anchor="t"/>
          <a:lstStyle/>
          <a:p>
            <a:pPr indent="0" marL="0">
              <a:buNone/>
            </a:pPr>
            <a:endParaRPr lang="en-US" sz="1600" dirty="0"/>
          </a:p>
        </p:txBody>
      </p:sp>
    </p:spTree>
  </p:cSld>
  <p:clrMapOvr>
    <a:masterClrMapping/>
  </p:clrMapOvr>
</p:sld>
</file>

<file path=ppt/theme/theme1.xml><?xml version="1.0" encoding="utf-8"?>
<a:theme xmlns:a="http://schemas.openxmlformats.org/drawingml/2006/main" name="Tail Risk">
  <a:themeElements>
    <a:clrScheme name="Tail Risk">
      <a:dk1>
        <a:srgbClr val="1F2937"/>
      </a:dk1>
      <a:lt1>
        <a:srgbClr val="FFFFFF"/>
      </a:lt1>
      <a:dk2>
        <a:srgbClr val="14213D"/>
      </a:dk2>
      <a:lt2>
        <a:srgbClr val="EEF2F7"/>
      </a:lt2>
      <a:accent1>
        <a:srgbClr val="2563EB"/>
      </a:accent1>
      <a:accent2>
        <a:srgbClr val="D62839"/>
      </a:accent2>
      <a:accent3>
        <a:srgbClr val="2A9D8F"/>
      </a:accent3>
      <a:accent4>
        <a:srgbClr val="F2A541"/>
      </a:accent4>
      <a:accent5>
        <a:srgbClr val="6B7280"/>
      </a:accent5>
      <a:accent6>
        <a:srgbClr val="7C3AED"/>
      </a:accent6>
      <a:hlink>
        <a:srgbClr val="2563EB"/>
      </a:hlink>
      <a:folHlink>
        <a:srgbClr val="7C3AED"/>
      </a:folHlink>
    </a:clrScheme>
    <a:fontScheme name="Tail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PINNs for Financial Tail-Risk Estimation</dc:title>
  <dc:subject>PptxGenJS Presentation</dc:subject>
  <dc:creator>Aditya Siraskar, Utkarsh Sinha, Aditya Sharma</dc:creator>
  <cp:lastModifiedBy>Aditya Siraskar, Utkarsh Sinha, Aditya Sharma</cp:lastModifiedBy>
  <cp:revision>1</cp:revision>
  <dcterms:created xsi:type="dcterms:W3CDTF">2026-10-29T16:24:31Z</dcterms:created>
  <dcterms:modified xsi:type="dcterms:W3CDTF">2026-10-29T16:24:31Z</dcterms:modified>
</cp:coreProperties>
</file>